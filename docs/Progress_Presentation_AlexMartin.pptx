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7" r:id="rId3"/>
    <p:sldId id="257" r:id="rId4"/>
    <p:sldId id="258" r:id="rId5"/>
    <p:sldId id="274" r:id="rId6"/>
    <p:sldId id="265" r:id="rId7"/>
    <p:sldId id="266" r:id="rId8"/>
    <p:sldId id="260" r:id="rId9"/>
    <p:sldId id="261" r:id="rId10"/>
    <p:sldId id="262" r:id="rId11"/>
    <p:sldId id="263" r:id="rId12"/>
    <p:sldId id="264"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F6A1"/>
    <a:srgbClr val="FFEA3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48"/>
    <p:restoredTop sz="76108"/>
  </p:normalViewPr>
  <p:slideViewPr>
    <p:cSldViewPr snapToGrid="0" snapToObjects="1">
      <p:cViewPr varScale="1">
        <p:scale>
          <a:sx n="125" d="100"/>
          <a:sy n="125" d="100"/>
        </p:scale>
        <p:origin x="103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0136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”Hi my name is Alex, and this research is on workload, schedule congestion and injury risk in the NBA</a:t>
            </a:r>
          </a:p>
          <a:p>
            <a:endParaRPr lang="en-AU" dirty="0"/>
          </a:p>
          <a:p>
            <a:r>
              <a:rPr lang="en-AU" dirty="0"/>
              <a:t>I'm looking at whether we can predict when an NBA player is at an elevated risk to get injured, not just whether they get injured across a season" </a:t>
            </a:r>
          </a:p>
          <a:p>
            <a:endParaRPr lang="en-AU" dirty="0"/>
          </a:p>
          <a:p>
            <a:r>
              <a:rPr lang="en-AU" dirty="0"/>
              <a:t>The problem exists in the data, The NBA is a rich and robust source of data and research, so the solution is in the modelling approach </a:t>
            </a:r>
          </a:p>
          <a:p>
            <a:endParaRPr lang="en-AU" dirty="0"/>
          </a:p>
          <a:p>
            <a:r>
              <a:rPr lang="en-AU" dirty="0"/>
              <a:t>this is a methods-heavy thesis — the innovation is the framework, not just the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E0DA5-7A2F-CDD0-6CCD-5ED0CCB2A7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2D77B4-0CF0-07A6-A057-E707A19ADB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2C1435-D69F-7C7C-78AE-3008E57A6BD4}"/>
              </a:ext>
            </a:extLst>
          </p:cNvPr>
          <p:cNvSpPr>
            <a:spLocks noGrp="1"/>
          </p:cNvSpPr>
          <p:nvPr>
            <p:ph type="body" idx="1"/>
          </p:nvPr>
        </p:nvSpPr>
        <p:spPr/>
        <p:txBody>
          <a:bodyPr/>
          <a:lstStyle/>
          <a:p>
            <a:r>
              <a:rPr lang="en-AU" dirty="0"/>
              <a:t>"I'm going to use LeBron James throughout this presentation as a running example  he's 41, earns $53M a year, and has missed 20% of games across five seasons</a:t>
            </a:r>
          </a:p>
          <a:p>
            <a:endParaRPr lang="en-AU" dirty="0"/>
          </a:p>
          <a:p>
            <a:r>
              <a:rPr lang="en-AU" dirty="0"/>
              <a:t>Lebron is the oldest active player, high minutes, recurring back and foot issues — everything a risk model could or should be  designed to detect </a:t>
            </a:r>
          </a:p>
          <a:p>
            <a:endParaRPr lang="en-AU" dirty="0"/>
          </a:p>
        </p:txBody>
      </p:sp>
      <p:sp>
        <p:nvSpPr>
          <p:cNvPr id="4" name="Slide Number Placeholder 3">
            <a:extLst>
              <a:ext uri="{FF2B5EF4-FFF2-40B4-BE49-F238E27FC236}">
                <a16:creationId xmlns:a16="http://schemas.microsoft.com/office/drawing/2014/main" id="{84D18FB4-798F-79D6-BD94-8CCB5C45B52B}"/>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8213368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Lead with the $300M figure to land the economic stakes immediately </a:t>
            </a:r>
          </a:p>
          <a:p>
            <a:endParaRPr lang="en-AU" dirty="0"/>
          </a:p>
          <a:p>
            <a:r>
              <a:rPr lang="en-AU" dirty="0"/>
              <a:t>Existing study tells you a player who plays more gets injured more, but none tell you that THIS player, on THAT Tuesday in March, after THIS many back-to-backs, is sitting at 3× their normal risk</a:t>
            </a:r>
          </a:p>
          <a:p>
            <a:endParaRPr lang="en-AU" dirty="0"/>
          </a:p>
          <a:p>
            <a:r>
              <a:rPr lang="en-AU" dirty="0"/>
              <a:t>Use the left/right comparison to contrast what the literature does with what this thesis does — point explicitly at the "when" question Land the motivation: "That's the question load managers actually need answered"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After a comprehensive literature review, injury effects were able to be summarised to 3 domains which drive injury risk</a:t>
            </a:r>
          </a:p>
          <a:p>
            <a:endParaRPr lang="en-AU" dirty="0"/>
          </a:p>
          <a:p>
            <a:pPr marL="171450" indent="-171450">
              <a:buFontTx/>
              <a:buChar char="-"/>
            </a:pPr>
            <a:r>
              <a:rPr lang="en-AU" dirty="0"/>
              <a:t>Increased avg minutes in recent games</a:t>
            </a:r>
          </a:p>
          <a:p>
            <a:pPr marL="171450" indent="-171450">
              <a:buFontTx/>
              <a:buChar char="-"/>
            </a:pPr>
            <a:r>
              <a:rPr lang="en-AU" dirty="0"/>
              <a:t>Increased schedule congestion and travel</a:t>
            </a:r>
          </a:p>
          <a:p>
            <a:pPr marL="171450" indent="-171450">
              <a:buFontTx/>
              <a:buChar char="-"/>
            </a:pPr>
            <a:r>
              <a:rPr lang="en-AU" dirty="0"/>
              <a:t>Less rest</a:t>
            </a:r>
          </a:p>
          <a:p>
            <a:pPr marL="171450" indent="-171450">
              <a:buFontTx/>
              <a:buChar char="-"/>
            </a:pPr>
            <a:r>
              <a:rPr lang="en-AU" dirty="0"/>
              <a:t>And cumulative effects of playing 81 games prior to your 82</a:t>
            </a:r>
            <a:r>
              <a:rPr lang="en-AU" baseline="30000" dirty="0"/>
              <a:t>nd</a:t>
            </a:r>
            <a:r>
              <a:rPr lang="en-AU" dirty="0"/>
              <a:t> game</a:t>
            </a:r>
          </a:p>
          <a:p>
            <a:pPr marL="171450" indent="-171450">
              <a:buFontTx/>
              <a:buChar char="-"/>
            </a:pPr>
            <a:endParaRPr lang="en-AU" dirty="0"/>
          </a:p>
          <a:p>
            <a:endParaRPr lang="en-AU" dirty="0"/>
          </a:p>
          <a:p>
            <a:r>
              <a:rPr lang="en-AU" dirty="0"/>
              <a:t>The gap exists where no basketball study has yet modelled injury as an evolving hazard with consideration to these domain effects at a game-to-game level. </a:t>
            </a:r>
            <a:r>
              <a:rPr lang="en-US" sz="1200" b="1" dirty="0">
                <a:solidFill>
                  <a:srgbClr val="1A3A5C"/>
                </a:solidFill>
                <a:latin typeface="Calibri" pitchFamily="34" charset="0"/>
                <a:ea typeface="Calibri" pitchFamily="34" charset="-122"/>
                <a:cs typeface="Calibri" pitchFamily="34" charset="-120"/>
              </a:rPr>
              <a:t>This applies that framework to basketball for the first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AU" dirty="0"/>
              <a:t>There are five data domains that feed the model, three of which we can get from public NBA API endpoints, one from the official NBA injury reports, and training load which we have to estimate from published research</a:t>
            </a:r>
          </a:p>
          <a:p>
            <a:endParaRPr lang="en-AU" dirty="0"/>
          </a:p>
          <a:p>
            <a:r>
              <a:rPr lang="en-AU" dirty="0"/>
              <a:t>training is the key limitation — will talk about that later as a challenge and consideration</a:t>
            </a:r>
            <a:endParaRPr lang="en-US" dirty="0"/>
          </a:p>
        </p:txBody>
      </p:sp>
    </p:spTree>
    <p:extLst>
      <p:ext uri="{BB962C8B-B14F-4D97-AF65-F5344CB8AC3E}">
        <p14:creationId xmlns:p14="http://schemas.microsoft.com/office/powerpoint/2010/main" val="2409663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73E95-4099-FD8C-475A-3C15A31C3A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65E4F9-02B1-3374-B2A2-F0E961C888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9C783A-9248-78CA-FDB8-1828EFC5A4C5}"/>
              </a:ext>
            </a:extLst>
          </p:cNvPr>
          <p:cNvSpPr>
            <a:spLocks noGrp="1"/>
          </p:cNvSpPr>
          <p:nvPr>
            <p:ph type="body" idx="1"/>
          </p:nvPr>
        </p:nvSpPr>
        <p:spPr/>
        <p:txBody>
          <a:bodyPr/>
          <a:lstStyle/>
          <a:p>
            <a:r>
              <a:rPr lang="en-US" dirty="0"/>
              <a:t>After initial data collection and an EDA, we can extract possible covariates that contribute to workload and schedule</a:t>
            </a:r>
          </a:p>
          <a:p>
            <a:endParaRPr lang="en-US" dirty="0"/>
          </a:p>
          <a:p>
            <a:r>
              <a:rPr lang="en-US" dirty="0"/>
              <a:t>Our top two visuals show us player covariate effects for movement patterns</a:t>
            </a:r>
          </a:p>
          <a:p>
            <a:endParaRPr lang="en-US" dirty="0"/>
          </a:p>
          <a:p>
            <a:r>
              <a:rPr lang="en-US" dirty="0"/>
              <a:t>Our bottom two show us team / schedule covariate effects </a:t>
            </a:r>
          </a:p>
          <a:p>
            <a:endParaRPr lang="en-US" dirty="0"/>
          </a:p>
          <a:p>
            <a:r>
              <a:rPr lang="en-US" dirty="0"/>
              <a:t>No two players are the same nor two teams </a:t>
            </a:r>
          </a:p>
        </p:txBody>
      </p:sp>
      <p:sp>
        <p:nvSpPr>
          <p:cNvPr id="4" name="Slide Number Placeholder 3">
            <a:extLst>
              <a:ext uri="{FF2B5EF4-FFF2-40B4-BE49-F238E27FC236}">
                <a16:creationId xmlns:a16="http://schemas.microsoft.com/office/drawing/2014/main" id="{5FB8DEB5-0D96-9B08-FA23-3CB5ED21B1D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2379831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99F36-7A12-AC69-A69E-FB414C4B9F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D8FEEA-E2BB-AE9C-A8B0-AD8686238C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1B3E65-4E06-6462-E056-9B76D142C77B}"/>
              </a:ext>
            </a:extLst>
          </p:cNvPr>
          <p:cNvSpPr>
            <a:spLocks noGrp="1"/>
          </p:cNvSpPr>
          <p:nvPr>
            <p:ph type="body" idx="1"/>
          </p:nvPr>
        </p:nvSpPr>
        <p:spPr/>
        <p:txBody>
          <a:bodyPr/>
          <a:lstStyle/>
          <a:p>
            <a:r>
              <a:rPr lang="en-AU" dirty="0"/>
              <a:t>When viewing the injuries reports we see that Injuries don't accumulate evenly — you can see they spike at particular phases of the season with leg injuries being the most occurring.</a:t>
            </a:r>
          </a:p>
          <a:p>
            <a:endParaRPr lang="en-AU" dirty="0"/>
          </a:p>
          <a:p>
            <a:r>
              <a:rPr lang="en-AU" dirty="0"/>
              <a:t>A season average would flatten this curve — we need a model that tracks it game by game</a:t>
            </a:r>
            <a:endParaRPr lang="en-US" dirty="0"/>
          </a:p>
        </p:txBody>
      </p:sp>
      <p:sp>
        <p:nvSpPr>
          <p:cNvPr id="4" name="Slide Number Placeholder 3">
            <a:extLst>
              <a:ext uri="{FF2B5EF4-FFF2-40B4-BE49-F238E27FC236}">
                <a16:creationId xmlns:a16="http://schemas.microsoft.com/office/drawing/2014/main" id="{7F00D0DB-BF7A-7A08-2645-B41EC3713C2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2154125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Isolating the individual effects of the domain</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i="1" dirty="0">
                <a:solidFill>
                  <a:srgbClr val="6B7280"/>
                </a:solidFill>
                <a:latin typeface="Calibri" pitchFamily="34" charset="0"/>
                <a:ea typeface="Calibri" pitchFamily="34" charset="-122"/>
                <a:cs typeface="Calibri" pitchFamily="34" charset="-120"/>
              </a:rPr>
              <a:t>All models assess PH assumption via Schoenfeld residuals - non-proportional extensions fitted where violated (expected for late-season schedule congestion covariates).</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Synthenic</a:t>
            </a:r>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25/05/2026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9687088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https://github.com/mxufc29/nbainjuries"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a:effectLst/>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chemeClr val="accent2"/>
          </a:solidFill>
          <a:ln w="12700">
            <a:noFill/>
            <a:prstDash val="solid"/>
          </a:ln>
        </p:spPr>
        <p:txBody>
          <a:bodyPr/>
          <a:lstStyle/>
          <a:p>
            <a:endParaRPr lang="en-US"/>
          </a:p>
        </p:txBody>
      </p:sp>
      <p:sp>
        <p:nvSpPr>
          <p:cNvPr id="3" name="Shape 1"/>
          <p:cNvSpPr/>
          <p:nvPr/>
        </p:nvSpPr>
        <p:spPr>
          <a:xfrm>
            <a:off x="4124029" y="99315"/>
            <a:ext cx="3903133" cy="3903133"/>
          </a:xfrm>
          <a:prstGeom prst="ellipse">
            <a:avLst/>
          </a:prstGeom>
          <a:solidFill>
            <a:schemeClr val="accent2">
              <a:alpha val="25000"/>
            </a:schemeClr>
          </a:solidFill>
          <a:ln w="12700">
            <a:noFill/>
            <a:prstDash val="solid"/>
          </a:ln>
        </p:spPr>
        <p:txBody>
          <a:bodyPr/>
          <a:lstStyle/>
          <a:p>
            <a:endParaRPr lang="en-US"/>
          </a:p>
        </p:txBody>
      </p:sp>
      <p:sp>
        <p:nvSpPr>
          <p:cNvPr id="4" name="Shape 2"/>
          <p:cNvSpPr/>
          <p:nvPr/>
        </p:nvSpPr>
        <p:spPr>
          <a:xfrm>
            <a:off x="5813044" y="640080"/>
            <a:ext cx="3239516" cy="3239516"/>
          </a:xfrm>
          <a:prstGeom prst="ellipse">
            <a:avLst/>
          </a:prstGeom>
          <a:solidFill>
            <a:schemeClr val="accent2">
              <a:alpha val="35000"/>
            </a:schemeClr>
          </a:solidFill>
          <a:ln w="12700">
            <a:noFill/>
            <a:prstDash val="solid"/>
          </a:ln>
        </p:spPr>
        <p:txBody>
          <a:bodyPr/>
          <a:lstStyle/>
          <a:p>
            <a:endParaRPr lang="en-US"/>
          </a:p>
        </p:txBody>
      </p:sp>
      <p:sp>
        <p:nvSpPr>
          <p:cNvPr id="5" name="Text 3"/>
          <p:cNvSpPr/>
          <p:nvPr/>
        </p:nvSpPr>
        <p:spPr>
          <a:xfrm>
            <a:off x="274320" y="822960"/>
            <a:ext cx="7498080" cy="1554480"/>
          </a:xfrm>
          <a:prstGeom prst="rect">
            <a:avLst/>
          </a:prstGeom>
          <a:noFill/>
          <a:ln/>
        </p:spPr>
        <p:txBody>
          <a:bodyPr wrap="square"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Workload, Schedule Congestion,</a:t>
            </a:r>
            <a:endParaRPr lang="en-US" sz="3000" dirty="0"/>
          </a:p>
          <a:p>
            <a:pPr marL="0" indent="0" algn="l">
              <a:buNone/>
            </a:pPr>
            <a:r>
              <a:rPr lang="en-US" sz="3000" b="1" dirty="0">
                <a:solidFill>
                  <a:srgbClr val="FFFFFF"/>
                </a:solidFill>
                <a:latin typeface="Calibri" pitchFamily="34" charset="0"/>
                <a:ea typeface="Calibri" pitchFamily="34" charset="-122"/>
                <a:cs typeface="Calibri" pitchFamily="34" charset="-120"/>
              </a:rPr>
              <a:t>and Injury Risk in the NBA</a:t>
            </a:r>
            <a:endParaRPr lang="en-US" sz="3000" dirty="0"/>
          </a:p>
        </p:txBody>
      </p:sp>
      <p:sp>
        <p:nvSpPr>
          <p:cNvPr id="6" name="Text 4"/>
          <p:cNvSpPr/>
          <p:nvPr/>
        </p:nvSpPr>
        <p:spPr>
          <a:xfrm>
            <a:off x="274320" y="2423160"/>
            <a:ext cx="6858000" cy="411480"/>
          </a:xfrm>
          <a:prstGeom prst="rect">
            <a:avLst/>
          </a:prstGeom>
          <a:noFill/>
          <a:ln/>
        </p:spPr>
        <p:txBody>
          <a:bodyPr wrap="square" rtlCol="0" anchor="ctr"/>
          <a:lstStyle/>
          <a:p>
            <a:pPr marL="0" indent="0">
              <a:buNone/>
            </a:pPr>
            <a:r>
              <a:rPr lang="en-US" sz="1800" i="1" dirty="0">
                <a:solidFill>
                  <a:srgbClr val="93C5FD"/>
                </a:solidFill>
                <a:latin typeface="Calibri" pitchFamily="34" charset="0"/>
                <a:ea typeface="Calibri" pitchFamily="34" charset="-122"/>
                <a:cs typeface="Calibri" pitchFamily="34" charset="-120"/>
              </a:rPr>
              <a:t>A Time-to-Event Perspective</a:t>
            </a:r>
            <a:endParaRPr lang="en-US" sz="1800" dirty="0"/>
          </a:p>
        </p:txBody>
      </p:sp>
      <p:sp>
        <p:nvSpPr>
          <p:cNvPr id="7" name="Shape 5"/>
          <p:cNvSpPr/>
          <p:nvPr/>
        </p:nvSpPr>
        <p:spPr>
          <a:xfrm>
            <a:off x="274320" y="2971800"/>
            <a:ext cx="5029200" cy="32004"/>
          </a:xfrm>
          <a:prstGeom prst="rect">
            <a:avLst/>
          </a:prstGeom>
          <a:solidFill>
            <a:schemeClr val="accent2"/>
          </a:solidFill>
          <a:ln w="12700">
            <a:noFill/>
            <a:prstDash val="solid"/>
          </a:ln>
        </p:spPr>
        <p:txBody>
          <a:bodyPr/>
          <a:lstStyle/>
          <a:p>
            <a:endParaRPr lang="en-US"/>
          </a:p>
        </p:txBody>
      </p:sp>
      <p:sp>
        <p:nvSpPr>
          <p:cNvPr id="8" name="Text 6"/>
          <p:cNvSpPr/>
          <p:nvPr/>
        </p:nvSpPr>
        <p:spPr>
          <a:xfrm>
            <a:off x="274320" y="3108960"/>
            <a:ext cx="82296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Alex Martin</a:t>
            </a:r>
            <a:endParaRPr lang="en-US" sz="1300" dirty="0"/>
          </a:p>
        </p:txBody>
      </p:sp>
      <p:sp>
        <p:nvSpPr>
          <p:cNvPr id="9" name="Text 7"/>
          <p:cNvSpPr/>
          <p:nvPr/>
        </p:nvSpPr>
        <p:spPr>
          <a:xfrm>
            <a:off x="274320" y="3657600"/>
            <a:ext cx="4114800" cy="320040"/>
          </a:xfrm>
          <a:prstGeom prst="rect">
            <a:avLst/>
          </a:prstGeom>
          <a:noFill/>
          <a:ln/>
        </p:spPr>
        <p:txBody>
          <a:bodyPr wrap="square" rtlCol="0" anchor="ctr"/>
          <a:lstStyle/>
          <a:p>
            <a:pPr marL="0" indent="0">
              <a:buNone/>
            </a:pPr>
            <a:r>
              <a:rPr lang="en-US" sz="1200" dirty="0">
                <a:solidFill>
                  <a:srgbClr val="93C5FD"/>
                </a:solidFill>
                <a:latin typeface="Calibri" pitchFamily="34" charset="0"/>
                <a:ea typeface="Calibri" pitchFamily="34" charset="-122"/>
                <a:cs typeface="Calibri" pitchFamily="34" charset="-120"/>
              </a:rPr>
              <a:t>1. The Problem &amp; Why It Matters</a:t>
            </a:r>
            <a:endParaRPr lang="en-US" sz="1200" dirty="0"/>
          </a:p>
        </p:txBody>
      </p:sp>
      <p:sp>
        <p:nvSpPr>
          <p:cNvPr id="10" name="Text 8"/>
          <p:cNvSpPr/>
          <p:nvPr/>
        </p:nvSpPr>
        <p:spPr>
          <a:xfrm>
            <a:off x="274320" y="4005072"/>
            <a:ext cx="4114800" cy="320040"/>
          </a:xfrm>
          <a:prstGeom prst="rect">
            <a:avLst/>
          </a:prstGeom>
          <a:noFill/>
          <a:ln/>
        </p:spPr>
        <p:txBody>
          <a:bodyPr wrap="square" rtlCol="0" anchor="ctr"/>
          <a:lstStyle/>
          <a:p>
            <a:pPr marL="0" indent="0">
              <a:buNone/>
            </a:pPr>
            <a:r>
              <a:rPr lang="en-US" sz="1200" dirty="0">
                <a:solidFill>
                  <a:srgbClr val="93C5FD"/>
                </a:solidFill>
                <a:latin typeface="Calibri" pitchFamily="34" charset="0"/>
                <a:ea typeface="Calibri" pitchFamily="34" charset="-122"/>
                <a:cs typeface="Calibri" pitchFamily="34" charset="-120"/>
              </a:rPr>
              <a:t>2. What the Literature Tells Us</a:t>
            </a:r>
            <a:endParaRPr lang="en-US" sz="1200" dirty="0"/>
          </a:p>
        </p:txBody>
      </p:sp>
      <p:sp>
        <p:nvSpPr>
          <p:cNvPr id="11" name="Text 9"/>
          <p:cNvSpPr/>
          <p:nvPr/>
        </p:nvSpPr>
        <p:spPr>
          <a:xfrm>
            <a:off x="274320" y="4352544"/>
            <a:ext cx="4114800" cy="320040"/>
          </a:xfrm>
          <a:prstGeom prst="rect">
            <a:avLst/>
          </a:prstGeom>
          <a:noFill/>
          <a:ln/>
        </p:spPr>
        <p:txBody>
          <a:bodyPr wrap="square" rtlCol="0" anchor="ctr"/>
          <a:lstStyle/>
          <a:p>
            <a:pPr marL="0" indent="0">
              <a:buNone/>
            </a:pPr>
            <a:r>
              <a:rPr lang="en-US" sz="1200" dirty="0">
                <a:solidFill>
                  <a:srgbClr val="93C5FD"/>
                </a:solidFill>
                <a:latin typeface="Calibri" pitchFamily="34" charset="0"/>
                <a:ea typeface="Calibri" pitchFamily="34" charset="-122"/>
                <a:cs typeface="Calibri" pitchFamily="34" charset="-120"/>
              </a:rPr>
              <a:t>3. Data Collection</a:t>
            </a:r>
            <a:endParaRPr lang="en-US" sz="1200" dirty="0"/>
          </a:p>
        </p:txBody>
      </p:sp>
      <p:sp>
        <p:nvSpPr>
          <p:cNvPr id="12" name="Text 10"/>
          <p:cNvSpPr/>
          <p:nvPr/>
        </p:nvSpPr>
        <p:spPr>
          <a:xfrm>
            <a:off x="4663440" y="3657600"/>
            <a:ext cx="4114800" cy="320040"/>
          </a:xfrm>
          <a:prstGeom prst="rect">
            <a:avLst/>
          </a:prstGeom>
          <a:noFill/>
          <a:ln/>
        </p:spPr>
        <p:txBody>
          <a:bodyPr wrap="square" rtlCol="0" anchor="ctr"/>
          <a:lstStyle/>
          <a:p>
            <a:pPr marL="0" indent="0">
              <a:buNone/>
            </a:pPr>
            <a:r>
              <a:rPr lang="en-US" sz="1200" dirty="0">
                <a:solidFill>
                  <a:srgbClr val="93C5FD"/>
                </a:solidFill>
                <a:latin typeface="Calibri" pitchFamily="34" charset="0"/>
                <a:ea typeface="Calibri" pitchFamily="34" charset="-122"/>
                <a:cs typeface="Calibri" pitchFamily="34" charset="-120"/>
              </a:rPr>
              <a:t>4. Processing Pipeline</a:t>
            </a:r>
            <a:endParaRPr lang="en-US" sz="1200" dirty="0"/>
          </a:p>
        </p:txBody>
      </p:sp>
      <p:sp>
        <p:nvSpPr>
          <p:cNvPr id="13" name="Text 11"/>
          <p:cNvSpPr/>
          <p:nvPr/>
        </p:nvSpPr>
        <p:spPr>
          <a:xfrm>
            <a:off x="4663440" y="4005072"/>
            <a:ext cx="4114800" cy="320040"/>
          </a:xfrm>
          <a:prstGeom prst="rect">
            <a:avLst/>
          </a:prstGeom>
          <a:noFill/>
          <a:ln/>
        </p:spPr>
        <p:txBody>
          <a:bodyPr wrap="square" rtlCol="0" anchor="ctr"/>
          <a:lstStyle/>
          <a:p>
            <a:pPr marL="0" indent="0">
              <a:buNone/>
            </a:pPr>
            <a:r>
              <a:rPr lang="en-US" sz="1200" dirty="0">
                <a:solidFill>
                  <a:srgbClr val="93C5FD"/>
                </a:solidFill>
                <a:latin typeface="Calibri" pitchFamily="34" charset="0"/>
                <a:ea typeface="Calibri" pitchFamily="34" charset="-122"/>
                <a:cs typeface="Calibri" pitchFamily="34" charset="-120"/>
              </a:rPr>
              <a:t>5. Cox Modelling Framework</a:t>
            </a:r>
            <a:endParaRPr lang="en-US" sz="1200" dirty="0"/>
          </a:p>
        </p:txBody>
      </p:sp>
      <p:sp>
        <p:nvSpPr>
          <p:cNvPr id="14" name="Text 12"/>
          <p:cNvSpPr/>
          <p:nvPr/>
        </p:nvSpPr>
        <p:spPr>
          <a:xfrm>
            <a:off x="4663440" y="4352544"/>
            <a:ext cx="4114800" cy="320040"/>
          </a:xfrm>
          <a:prstGeom prst="rect">
            <a:avLst/>
          </a:prstGeom>
          <a:noFill/>
          <a:ln/>
        </p:spPr>
        <p:txBody>
          <a:bodyPr wrap="square" rtlCol="0" anchor="ctr"/>
          <a:lstStyle/>
          <a:p>
            <a:pPr marL="0" indent="0">
              <a:buNone/>
            </a:pPr>
            <a:r>
              <a:rPr lang="en-US" sz="1200" dirty="0">
                <a:solidFill>
                  <a:srgbClr val="93C5FD"/>
                </a:solidFill>
                <a:latin typeface="Calibri" pitchFamily="34" charset="0"/>
                <a:ea typeface="Calibri" pitchFamily="34" charset="-122"/>
                <a:cs typeface="Calibri" pitchFamily="34" charset="-120"/>
              </a:rPr>
              <a:t>6. Case Study &amp; Status</a:t>
            </a:r>
            <a:endParaRPr lang="en-US" sz="1200" dirty="0"/>
          </a:p>
        </p:txBody>
      </p:sp>
      <p:sp>
        <p:nvSpPr>
          <p:cNvPr id="15" name="Shape 2">
            <a:extLst>
              <a:ext uri="{FF2B5EF4-FFF2-40B4-BE49-F238E27FC236}">
                <a16:creationId xmlns:a16="http://schemas.microsoft.com/office/drawing/2014/main" id="{F9C216AC-B59B-469F-B3BD-D9689B71C4C5}"/>
              </a:ext>
            </a:extLst>
          </p:cNvPr>
          <p:cNvSpPr/>
          <p:nvPr/>
        </p:nvSpPr>
        <p:spPr>
          <a:xfrm>
            <a:off x="6949271" y="2831254"/>
            <a:ext cx="2194729" cy="2194729"/>
          </a:xfrm>
          <a:prstGeom prst="ellipse">
            <a:avLst/>
          </a:prstGeom>
          <a:solidFill>
            <a:schemeClr val="accent2">
              <a:alpha val="35000"/>
            </a:schemeClr>
          </a:solidFill>
          <a:ln w="12700">
            <a:noFill/>
            <a:prstDash val="solid"/>
          </a:ln>
        </p:spPr>
        <p:txBody>
          <a:bodyPr/>
          <a:lstStyle/>
          <a:p>
            <a:endParaRPr lang="en-US"/>
          </a:p>
        </p:txBody>
      </p:sp>
      <p:grpSp>
        <p:nvGrpSpPr>
          <p:cNvPr id="16" name="Group 15">
            <a:extLst>
              <a:ext uri="{FF2B5EF4-FFF2-40B4-BE49-F238E27FC236}">
                <a16:creationId xmlns:a16="http://schemas.microsoft.com/office/drawing/2014/main" id="{A0C1EA1A-1484-EF17-58B5-A25182595100}"/>
              </a:ext>
            </a:extLst>
          </p:cNvPr>
          <p:cNvGrpSpPr/>
          <p:nvPr/>
        </p:nvGrpSpPr>
        <p:grpSpPr>
          <a:xfrm>
            <a:off x="600964" y="150511"/>
            <a:ext cx="979137" cy="979137"/>
            <a:chOff x="7241964" y="2782711"/>
            <a:chExt cx="828823" cy="828823"/>
          </a:xfrm>
        </p:grpSpPr>
        <p:sp>
          <p:nvSpPr>
            <p:cNvPr id="17" name="Shape 2">
              <a:extLst>
                <a:ext uri="{FF2B5EF4-FFF2-40B4-BE49-F238E27FC236}">
                  <a16:creationId xmlns:a16="http://schemas.microsoft.com/office/drawing/2014/main" id="{5E306557-9D0B-E2DC-0B55-35C011359E32}"/>
                </a:ext>
              </a:extLst>
            </p:cNvPr>
            <p:cNvSpPr/>
            <p:nvPr/>
          </p:nvSpPr>
          <p:spPr>
            <a:xfrm flipV="1">
              <a:off x="7288447" y="2820973"/>
              <a:ext cx="739305" cy="739305"/>
            </a:xfrm>
            <a:prstGeom prst="ellipse">
              <a:avLst/>
            </a:prstGeom>
            <a:solidFill>
              <a:schemeClr val="accent2">
                <a:alpha val="35000"/>
              </a:schemeClr>
            </a:solidFill>
            <a:ln w="12700">
              <a:noFill/>
              <a:prstDash val="solid"/>
            </a:ln>
          </p:spPr>
          <p:txBody>
            <a:bodyPr/>
            <a:lstStyle/>
            <a:p>
              <a:endParaRPr lang="en-US"/>
            </a:p>
          </p:txBody>
        </p:sp>
        <p:pic>
          <p:nvPicPr>
            <p:cNvPr id="18" name="Picture 6" descr="Basketball Generic Detailed Outline icon | Magnific (formerly Magnific)">
              <a:extLst>
                <a:ext uri="{FF2B5EF4-FFF2-40B4-BE49-F238E27FC236}">
                  <a16:creationId xmlns:a16="http://schemas.microsoft.com/office/drawing/2014/main" id="{FAA8E3C6-9A56-129D-4203-B302D9CBD6CC}"/>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a:stretch>
              <a:fillRect/>
            </a:stretch>
          </p:blipFill>
          <p:spPr bwMode="auto">
            <a:xfrm>
              <a:off x="7241964" y="2782711"/>
              <a:ext cx="828823" cy="828823"/>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48B54-CA18-3425-2828-A179333FF57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DD1DD8D-AFD6-06C8-CC88-BD5DA124B59E}"/>
              </a:ext>
            </a:extLst>
          </p:cNvPr>
          <p:cNvSpPr/>
          <p:nvPr/>
        </p:nvSpPr>
        <p:spPr>
          <a:xfrm>
            <a:off x="0" y="0"/>
            <a:ext cx="9144000" cy="640080"/>
          </a:xfrm>
          <a:prstGeom prst="rect">
            <a:avLst/>
          </a:prstGeom>
          <a:solidFill>
            <a:srgbClr val="1A3A5C"/>
          </a:solidFill>
          <a:ln w="12700">
            <a:solidFill>
              <a:srgbClr val="1A3A5C"/>
            </a:solidFill>
            <a:prstDash val="solid"/>
          </a:ln>
        </p:spPr>
        <p:txBody>
          <a:bodyPr/>
          <a:lstStyle/>
          <a:p>
            <a:endParaRPr lang="en-US"/>
          </a:p>
        </p:txBody>
      </p:sp>
      <p:sp>
        <p:nvSpPr>
          <p:cNvPr id="3" name="Text 1">
            <a:extLst>
              <a:ext uri="{FF2B5EF4-FFF2-40B4-BE49-F238E27FC236}">
                <a16:creationId xmlns:a16="http://schemas.microsoft.com/office/drawing/2014/main" id="{FA004058-8C1B-C004-31C8-2EBCADF8C4C9}"/>
              </a:ext>
            </a:extLst>
          </p:cNvPr>
          <p:cNvSpPr/>
          <p:nvPr/>
        </p:nvSpPr>
        <p:spPr>
          <a:xfrm>
            <a:off x="320040" y="0"/>
            <a:ext cx="850392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Case Study: LeBron James 2021–26</a:t>
            </a:r>
            <a:endParaRPr lang="en-US" sz="2200" dirty="0"/>
          </a:p>
        </p:txBody>
      </p:sp>
      <p:sp>
        <p:nvSpPr>
          <p:cNvPr id="4" name="Shape 2">
            <a:extLst>
              <a:ext uri="{FF2B5EF4-FFF2-40B4-BE49-F238E27FC236}">
                <a16:creationId xmlns:a16="http://schemas.microsoft.com/office/drawing/2014/main" id="{2431DBEB-F1DA-3E60-5BD7-BDE700961954}"/>
              </a:ext>
            </a:extLst>
          </p:cNvPr>
          <p:cNvSpPr/>
          <p:nvPr/>
        </p:nvSpPr>
        <p:spPr>
          <a:xfrm>
            <a:off x="6603302" y="2526449"/>
            <a:ext cx="1645920" cy="1097280"/>
          </a:xfrm>
          <a:prstGeom prst="rect">
            <a:avLst/>
          </a:prstGeom>
          <a:solidFill>
            <a:srgbClr val="F4F7FB"/>
          </a:solidFill>
          <a:ln w="12700">
            <a:solidFill>
              <a:srgbClr val="D1D5DB"/>
            </a:solidFill>
            <a:prstDash val="solid"/>
          </a:ln>
          <a:effectLst>
            <a:outerShdw blurRad="63500" dist="25400" dir="8100000" algn="bl" rotWithShape="0">
              <a:srgbClr val="000000">
                <a:alpha val="10000"/>
              </a:srgbClr>
            </a:outerShdw>
          </a:effectLst>
        </p:spPr>
        <p:txBody>
          <a:bodyPr/>
          <a:lstStyle/>
          <a:p>
            <a:endParaRPr lang="en-US"/>
          </a:p>
        </p:txBody>
      </p:sp>
      <p:sp>
        <p:nvSpPr>
          <p:cNvPr id="5" name="Text 3">
            <a:extLst>
              <a:ext uri="{FF2B5EF4-FFF2-40B4-BE49-F238E27FC236}">
                <a16:creationId xmlns:a16="http://schemas.microsoft.com/office/drawing/2014/main" id="{DA69584B-F86E-7023-7A3E-593EBEC9C712}"/>
              </a:ext>
            </a:extLst>
          </p:cNvPr>
          <p:cNvSpPr/>
          <p:nvPr/>
        </p:nvSpPr>
        <p:spPr>
          <a:xfrm>
            <a:off x="6603302" y="2563025"/>
            <a:ext cx="1645920" cy="566928"/>
          </a:xfrm>
          <a:prstGeom prst="rect">
            <a:avLst/>
          </a:prstGeom>
          <a:noFill/>
          <a:ln/>
        </p:spPr>
        <p:txBody>
          <a:bodyPr wrap="square" rtlCol="0" anchor="ctr"/>
          <a:lstStyle/>
          <a:p>
            <a:pPr marL="0" indent="0" algn="ctr">
              <a:buNone/>
            </a:pPr>
            <a:r>
              <a:rPr lang="en-US" sz="2600" b="1" dirty="0">
                <a:solidFill>
                  <a:srgbClr val="1A3A5C"/>
                </a:solidFill>
                <a:latin typeface="Calibri" pitchFamily="34" charset="0"/>
                <a:cs typeface="Calibri" pitchFamily="34" charset="-120"/>
              </a:rPr>
              <a:t>20%</a:t>
            </a:r>
            <a:endParaRPr lang="en-US" sz="2600" dirty="0"/>
          </a:p>
        </p:txBody>
      </p:sp>
      <p:sp>
        <p:nvSpPr>
          <p:cNvPr id="6" name="Text 4">
            <a:extLst>
              <a:ext uri="{FF2B5EF4-FFF2-40B4-BE49-F238E27FC236}">
                <a16:creationId xmlns:a16="http://schemas.microsoft.com/office/drawing/2014/main" id="{A3510269-9F19-3382-0D86-7C54791A8CEB}"/>
              </a:ext>
            </a:extLst>
          </p:cNvPr>
          <p:cNvSpPr/>
          <p:nvPr/>
        </p:nvSpPr>
        <p:spPr>
          <a:xfrm>
            <a:off x="6603302" y="3148241"/>
            <a:ext cx="1645920" cy="438912"/>
          </a:xfrm>
          <a:prstGeom prst="rect">
            <a:avLst/>
          </a:prstGeom>
          <a:noFill/>
          <a:ln/>
        </p:spPr>
        <p:txBody>
          <a:bodyPr wrap="square"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Game missed in the  5 seasons</a:t>
            </a:r>
            <a:endParaRPr lang="en-US" sz="950" dirty="0"/>
          </a:p>
        </p:txBody>
      </p:sp>
      <p:sp>
        <p:nvSpPr>
          <p:cNvPr id="7" name="Shape 5">
            <a:extLst>
              <a:ext uri="{FF2B5EF4-FFF2-40B4-BE49-F238E27FC236}">
                <a16:creationId xmlns:a16="http://schemas.microsoft.com/office/drawing/2014/main" id="{CD62D0E8-CFF5-ABF4-1904-7E80AB83D55E}"/>
              </a:ext>
            </a:extLst>
          </p:cNvPr>
          <p:cNvSpPr/>
          <p:nvPr/>
        </p:nvSpPr>
        <p:spPr>
          <a:xfrm>
            <a:off x="4736452" y="2526449"/>
            <a:ext cx="1645920" cy="1097280"/>
          </a:xfrm>
          <a:prstGeom prst="rect">
            <a:avLst/>
          </a:prstGeom>
          <a:solidFill>
            <a:srgbClr val="F4F7FB"/>
          </a:solidFill>
          <a:ln w="12700">
            <a:solidFill>
              <a:srgbClr val="D1D5DB"/>
            </a:solidFill>
            <a:prstDash val="solid"/>
          </a:ln>
          <a:effectLst>
            <a:outerShdw blurRad="63500" dist="25400" dir="8100000" algn="bl" rotWithShape="0">
              <a:srgbClr val="000000">
                <a:alpha val="10000"/>
              </a:srgbClr>
            </a:outerShdw>
          </a:effectLst>
        </p:spPr>
        <p:txBody>
          <a:bodyPr/>
          <a:lstStyle/>
          <a:p>
            <a:endParaRPr lang="en-US"/>
          </a:p>
        </p:txBody>
      </p:sp>
      <p:sp>
        <p:nvSpPr>
          <p:cNvPr id="8" name="Text 6">
            <a:extLst>
              <a:ext uri="{FF2B5EF4-FFF2-40B4-BE49-F238E27FC236}">
                <a16:creationId xmlns:a16="http://schemas.microsoft.com/office/drawing/2014/main" id="{60A53653-66B7-ED8F-AEA9-3C17CBDEB3B0}"/>
              </a:ext>
            </a:extLst>
          </p:cNvPr>
          <p:cNvSpPr/>
          <p:nvPr/>
        </p:nvSpPr>
        <p:spPr>
          <a:xfrm>
            <a:off x="4736452" y="2563025"/>
            <a:ext cx="1645920" cy="566928"/>
          </a:xfrm>
          <a:prstGeom prst="rect">
            <a:avLst/>
          </a:prstGeom>
          <a:noFill/>
          <a:ln/>
        </p:spPr>
        <p:txBody>
          <a:bodyPr wrap="square" rtlCol="0" anchor="ctr"/>
          <a:lstStyle/>
          <a:p>
            <a:pPr marL="0" indent="0" algn="ctr">
              <a:buNone/>
            </a:pPr>
            <a:r>
              <a:rPr lang="en-US" sz="2600" b="1" dirty="0">
                <a:solidFill>
                  <a:srgbClr val="DC2626"/>
                </a:solidFill>
                <a:latin typeface="Calibri" pitchFamily="34" charset="0"/>
                <a:ea typeface="Calibri" pitchFamily="34" charset="-122"/>
                <a:cs typeface="Calibri" pitchFamily="34" charset="-120"/>
              </a:rPr>
              <a:t>201 Km</a:t>
            </a:r>
            <a:endParaRPr lang="en-US" sz="2600" dirty="0"/>
          </a:p>
        </p:txBody>
      </p:sp>
      <p:sp>
        <p:nvSpPr>
          <p:cNvPr id="9" name="Text 7">
            <a:extLst>
              <a:ext uri="{FF2B5EF4-FFF2-40B4-BE49-F238E27FC236}">
                <a16:creationId xmlns:a16="http://schemas.microsoft.com/office/drawing/2014/main" id="{F37CB558-58E0-8C72-B588-38D02A2CEBB4}"/>
              </a:ext>
            </a:extLst>
          </p:cNvPr>
          <p:cNvSpPr/>
          <p:nvPr/>
        </p:nvSpPr>
        <p:spPr>
          <a:xfrm>
            <a:off x="4736452" y="3148241"/>
            <a:ext cx="1645920" cy="438912"/>
          </a:xfrm>
          <a:prstGeom prst="rect">
            <a:avLst/>
          </a:prstGeom>
          <a:noFill/>
          <a:ln/>
        </p:spPr>
        <p:txBody>
          <a:bodyPr wrap="square"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Covered in 60 Games across the most recent 2025-26 Season</a:t>
            </a:r>
            <a:endParaRPr lang="en-US" sz="950" dirty="0"/>
          </a:p>
        </p:txBody>
      </p:sp>
      <p:sp>
        <p:nvSpPr>
          <p:cNvPr id="10" name="Shape 8">
            <a:extLst>
              <a:ext uri="{FF2B5EF4-FFF2-40B4-BE49-F238E27FC236}">
                <a16:creationId xmlns:a16="http://schemas.microsoft.com/office/drawing/2014/main" id="{0507907F-449A-CC69-1EF9-2CA6FC95402D}"/>
              </a:ext>
            </a:extLst>
          </p:cNvPr>
          <p:cNvSpPr/>
          <p:nvPr/>
        </p:nvSpPr>
        <p:spPr>
          <a:xfrm>
            <a:off x="4736452" y="1223428"/>
            <a:ext cx="1645920" cy="1097280"/>
          </a:xfrm>
          <a:prstGeom prst="rect">
            <a:avLst/>
          </a:prstGeom>
          <a:solidFill>
            <a:srgbClr val="F4F7FB"/>
          </a:solidFill>
          <a:ln w="12700">
            <a:solidFill>
              <a:srgbClr val="D1D5DB"/>
            </a:solidFill>
            <a:prstDash val="solid"/>
          </a:ln>
          <a:effectLst>
            <a:outerShdw blurRad="63500" dist="25400" dir="8100000" algn="bl" rotWithShape="0">
              <a:srgbClr val="000000">
                <a:alpha val="10000"/>
              </a:srgbClr>
            </a:outerShdw>
          </a:effectLst>
        </p:spPr>
        <p:txBody>
          <a:bodyPr/>
          <a:lstStyle/>
          <a:p>
            <a:endParaRPr lang="en-US"/>
          </a:p>
        </p:txBody>
      </p:sp>
      <p:sp>
        <p:nvSpPr>
          <p:cNvPr id="11" name="Text 9">
            <a:extLst>
              <a:ext uri="{FF2B5EF4-FFF2-40B4-BE49-F238E27FC236}">
                <a16:creationId xmlns:a16="http://schemas.microsoft.com/office/drawing/2014/main" id="{DAB78D30-63B9-B510-88F3-2FBD0D0B5D92}"/>
              </a:ext>
            </a:extLst>
          </p:cNvPr>
          <p:cNvSpPr/>
          <p:nvPr/>
        </p:nvSpPr>
        <p:spPr>
          <a:xfrm>
            <a:off x="4736452" y="1260004"/>
            <a:ext cx="1645920" cy="566928"/>
          </a:xfrm>
          <a:prstGeom prst="rect">
            <a:avLst/>
          </a:prstGeom>
          <a:noFill/>
          <a:ln/>
        </p:spPr>
        <p:txBody>
          <a:bodyPr wrap="square" rtlCol="0" anchor="ctr"/>
          <a:lstStyle/>
          <a:p>
            <a:pPr marL="0" indent="0" algn="ctr">
              <a:buNone/>
            </a:pPr>
            <a:r>
              <a:rPr lang="en-US" sz="2600" b="1" dirty="0">
                <a:solidFill>
                  <a:srgbClr val="D97706"/>
                </a:solidFill>
                <a:latin typeface="Calibri" pitchFamily="34" charset="0"/>
                <a:ea typeface="Calibri" pitchFamily="34" charset="-122"/>
                <a:cs typeface="Calibri" pitchFamily="34" charset="-120"/>
              </a:rPr>
              <a:t>41</a:t>
            </a:r>
            <a:endParaRPr lang="en-US" sz="2600" dirty="0"/>
          </a:p>
        </p:txBody>
      </p:sp>
      <p:sp>
        <p:nvSpPr>
          <p:cNvPr id="12" name="Text 10">
            <a:extLst>
              <a:ext uri="{FF2B5EF4-FFF2-40B4-BE49-F238E27FC236}">
                <a16:creationId xmlns:a16="http://schemas.microsoft.com/office/drawing/2014/main" id="{A22992C5-3CAD-4303-9682-F25154AF39CD}"/>
              </a:ext>
            </a:extLst>
          </p:cNvPr>
          <p:cNvSpPr/>
          <p:nvPr/>
        </p:nvSpPr>
        <p:spPr>
          <a:xfrm>
            <a:off x="4736452" y="1845220"/>
            <a:ext cx="1645920" cy="438912"/>
          </a:xfrm>
          <a:prstGeom prst="rect">
            <a:avLst/>
          </a:prstGeom>
          <a:noFill/>
          <a:ln/>
        </p:spPr>
        <p:txBody>
          <a:bodyPr wrap="square"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Oldest current NBA player</a:t>
            </a:r>
            <a:endParaRPr lang="en-US" sz="950" dirty="0"/>
          </a:p>
        </p:txBody>
      </p:sp>
      <p:sp>
        <p:nvSpPr>
          <p:cNvPr id="13" name="Shape 11">
            <a:extLst>
              <a:ext uri="{FF2B5EF4-FFF2-40B4-BE49-F238E27FC236}">
                <a16:creationId xmlns:a16="http://schemas.microsoft.com/office/drawing/2014/main" id="{85B53B34-FB6A-1AEE-F1C1-40CF1C342A11}"/>
              </a:ext>
            </a:extLst>
          </p:cNvPr>
          <p:cNvSpPr/>
          <p:nvPr/>
        </p:nvSpPr>
        <p:spPr>
          <a:xfrm>
            <a:off x="6603302" y="1227999"/>
            <a:ext cx="1645920" cy="1097280"/>
          </a:xfrm>
          <a:prstGeom prst="rect">
            <a:avLst/>
          </a:prstGeom>
          <a:solidFill>
            <a:srgbClr val="F4F7FB"/>
          </a:solidFill>
          <a:ln w="12700">
            <a:solidFill>
              <a:srgbClr val="D1D5DB"/>
            </a:solidFill>
            <a:prstDash val="solid"/>
          </a:ln>
          <a:effectLst>
            <a:outerShdw blurRad="63500" dist="25400" dir="8100000" algn="bl" rotWithShape="0">
              <a:srgbClr val="000000">
                <a:alpha val="10000"/>
              </a:srgbClr>
            </a:outerShdw>
          </a:effectLst>
        </p:spPr>
        <p:txBody>
          <a:bodyPr/>
          <a:lstStyle/>
          <a:p>
            <a:endParaRPr lang="en-US"/>
          </a:p>
        </p:txBody>
      </p:sp>
      <p:sp>
        <p:nvSpPr>
          <p:cNvPr id="14" name="Text 12">
            <a:extLst>
              <a:ext uri="{FF2B5EF4-FFF2-40B4-BE49-F238E27FC236}">
                <a16:creationId xmlns:a16="http://schemas.microsoft.com/office/drawing/2014/main" id="{51EA5C4D-6BD9-F893-29B5-13D0A1F8CA32}"/>
              </a:ext>
            </a:extLst>
          </p:cNvPr>
          <p:cNvSpPr/>
          <p:nvPr/>
        </p:nvSpPr>
        <p:spPr>
          <a:xfrm>
            <a:off x="6603302" y="1264575"/>
            <a:ext cx="1645920" cy="566928"/>
          </a:xfrm>
          <a:prstGeom prst="rect">
            <a:avLst/>
          </a:prstGeom>
          <a:noFill/>
          <a:ln/>
        </p:spPr>
        <p:txBody>
          <a:bodyPr wrap="square" rtlCol="0" anchor="ctr"/>
          <a:lstStyle/>
          <a:p>
            <a:pPr marL="0" indent="0" algn="ctr">
              <a:buNone/>
            </a:pPr>
            <a:r>
              <a:rPr lang="en-US" sz="2600" b="1" dirty="0">
                <a:solidFill>
                  <a:srgbClr val="0D9488"/>
                </a:solidFill>
                <a:latin typeface="Calibri" pitchFamily="34" charset="0"/>
                <a:ea typeface="Calibri" pitchFamily="34" charset="-122"/>
                <a:cs typeface="Calibri" pitchFamily="34" charset="-120"/>
              </a:rPr>
              <a:t>33 mpg</a:t>
            </a:r>
            <a:endParaRPr lang="en-US" sz="2600" dirty="0"/>
          </a:p>
        </p:txBody>
      </p:sp>
      <p:sp>
        <p:nvSpPr>
          <p:cNvPr id="15" name="Text 13">
            <a:extLst>
              <a:ext uri="{FF2B5EF4-FFF2-40B4-BE49-F238E27FC236}">
                <a16:creationId xmlns:a16="http://schemas.microsoft.com/office/drawing/2014/main" id="{E645A48C-7BFA-4886-219D-BB2733899A0E}"/>
              </a:ext>
            </a:extLst>
          </p:cNvPr>
          <p:cNvSpPr/>
          <p:nvPr/>
        </p:nvSpPr>
        <p:spPr>
          <a:xfrm>
            <a:off x="6603302" y="1849791"/>
            <a:ext cx="1645920" cy="438912"/>
          </a:xfrm>
          <a:prstGeom prst="rect">
            <a:avLst/>
          </a:prstGeom>
          <a:noFill/>
          <a:ln/>
        </p:spPr>
        <p:txBody>
          <a:bodyPr wrap="square"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Plays a large sum of minutes</a:t>
            </a:r>
            <a:endParaRPr lang="en-US" sz="950" dirty="0"/>
          </a:p>
        </p:txBody>
      </p:sp>
      <p:sp>
        <p:nvSpPr>
          <p:cNvPr id="19" name="Text 17">
            <a:extLst>
              <a:ext uri="{FF2B5EF4-FFF2-40B4-BE49-F238E27FC236}">
                <a16:creationId xmlns:a16="http://schemas.microsoft.com/office/drawing/2014/main" id="{DA8C5395-9B94-82DD-FB83-1A33E1E78576}"/>
              </a:ext>
            </a:extLst>
          </p:cNvPr>
          <p:cNvSpPr/>
          <p:nvPr/>
        </p:nvSpPr>
        <p:spPr>
          <a:xfrm>
            <a:off x="4655127" y="743365"/>
            <a:ext cx="2381784" cy="566928"/>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Player context considerations</a:t>
            </a:r>
            <a:endParaRPr lang="en-US" sz="1200" dirty="0"/>
          </a:p>
        </p:txBody>
      </p:sp>
      <p:grpSp>
        <p:nvGrpSpPr>
          <p:cNvPr id="56" name="Group 55">
            <a:extLst>
              <a:ext uri="{FF2B5EF4-FFF2-40B4-BE49-F238E27FC236}">
                <a16:creationId xmlns:a16="http://schemas.microsoft.com/office/drawing/2014/main" id="{61E5F8DF-092E-1D09-EC68-E28EC5416669}"/>
              </a:ext>
            </a:extLst>
          </p:cNvPr>
          <p:cNvGrpSpPr/>
          <p:nvPr/>
        </p:nvGrpSpPr>
        <p:grpSpPr>
          <a:xfrm>
            <a:off x="8569076" y="52588"/>
            <a:ext cx="509767" cy="509767"/>
            <a:chOff x="7241964" y="2782711"/>
            <a:chExt cx="828823" cy="828823"/>
          </a:xfrm>
        </p:grpSpPr>
        <p:sp>
          <p:nvSpPr>
            <p:cNvPr id="57" name="Shape 2">
              <a:extLst>
                <a:ext uri="{FF2B5EF4-FFF2-40B4-BE49-F238E27FC236}">
                  <a16:creationId xmlns:a16="http://schemas.microsoft.com/office/drawing/2014/main" id="{42D8561B-E7DD-2AEC-5943-4C404FF7D4AE}"/>
                </a:ext>
              </a:extLst>
            </p:cNvPr>
            <p:cNvSpPr/>
            <p:nvPr/>
          </p:nvSpPr>
          <p:spPr>
            <a:xfrm flipV="1">
              <a:off x="7288447" y="2820973"/>
              <a:ext cx="739305" cy="739305"/>
            </a:xfrm>
            <a:prstGeom prst="ellipse">
              <a:avLst/>
            </a:prstGeom>
            <a:solidFill>
              <a:schemeClr val="accent2">
                <a:alpha val="35000"/>
              </a:schemeClr>
            </a:solidFill>
            <a:ln w="12700">
              <a:noFill/>
              <a:prstDash val="solid"/>
            </a:ln>
          </p:spPr>
          <p:txBody>
            <a:bodyPr/>
            <a:lstStyle/>
            <a:p>
              <a:endParaRPr lang="en-US"/>
            </a:p>
          </p:txBody>
        </p:sp>
        <p:pic>
          <p:nvPicPr>
            <p:cNvPr id="58" name="Picture 6" descr="Basketball Generic Detailed Outline icon | Magnific (formerly Magnific)">
              <a:extLst>
                <a:ext uri="{FF2B5EF4-FFF2-40B4-BE49-F238E27FC236}">
                  <a16:creationId xmlns:a16="http://schemas.microsoft.com/office/drawing/2014/main" id="{ADC7E33F-FA22-4E2B-AFD9-A863FF999669}"/>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a:stretch>
              <a:fillRect/>
            </a:stretch>
          </p:blipFill>
          <p:spPr bwMode="auto">
            <a:xfrm>
              <a:off x="7241964" y="2782711"/>
              <a:ext cx="828823" cy="828823"/>
            </a:xfrm>
            <a:prstGeom prst="rect">
              <a:avLst/>
            </a:prstGeom>
            <a:noFill/>
            <a:extLst>
              <a:ext uri="{909E8E84-426E-40DD-AFC4-6F175D3DCCD1}">
                <a14:hiddenFill xmlns:a14="http://schemas.microsoft.com/office/drawing/2010/main">
                  <a:solidFill>
                    <a:srgbClr val="FFFFFF"/>
                  </a:solidFill>
                </a14:hiddenFill>
              </a:ext>
            </a:extLst>
          </p:spPr>
        </p:pic>
      </p:grpSp>
      <p:sp>
        <p:nvSpPr>
          <p:cNvPr id="59" name="Shape 5">
            <a:extLst>
              <a:ext uri="{FF2B5EF4-FFF2-40B4-BE49-F238E27FC236}">
                <a16:creationId xmlns:a16="http://schemas.microsoft.com/office/drawing/2014/main" id="{6DBD75DE-53D8-8D29-66BC-BAA3BCE82E33}"/>
              </a:ext>
            </a:extLst>
          </p:cNvPr>
          <p:cNvSpPr/>
          <p:nvPr/>
        </p:nvSpPr>
        <p:spPr>
          <a:xfrm>
            <a:off x="0" y="608076"/>
            <a:ext cx="9144000" cy="45719"/>
          </a:xfrm>
          <a:prstGeom prst="rect">
            <a:avLst/>
          </a:prstGeom>
          <a:solidFill>
            <a:schemeClr val="accent2"/>
          </a:solidFill>
          <a:ln w="12700">
            <a:noFill/>
            <a:prstDash val="solid"/>
          </a:ln>
        </p:spPr>
        <p:txBody>
          <a:bodyPr/>
          <a:lstStyle/>
          <a:p>
            <a:endParaRPr lang="en-US"/>
          </a:p>
        </p:txBody>
      </p:sp>
      <p:pic>
        <p:nvPicPr>
          <p:cNvPr id="12290" name="Picture 2" descr="LeBron James | Stats, Son, Bronny, Wife, Biography, Championships, &amp; Facts  | Britannica">
            <a:extLst>
              <a:ext uri="{FF2B5EF4-FFF2-40B4-BE49-F238E27FC236}">
                <a16:creationId xmlns:a16="http://schemas.microsoft.com/office/drawing/2014/main" id="{A1B69B77-73F2-4C28-CA3A-E6C5951D61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5074" y="1026829"/>
            <a:ext cx="2588789" cy="3734495"/>
          </a:xfrm>
          <a:prstGeom prst="rect">
            <a:avLst/>
          </a:prstGeom>
          <a:noFill/>
          <a:ln w="38100">
            <a:solidFill>
              <a:schemeClr val="accent2"/>
            </a:solidFill>
          </a:ln>
          <a:extLst>
            <a:ext uri="{909E8E84-426E-40DD-AFC4-6F175D3DCCD1}">
              <a14:hiddenFill xmlns:a14="http://schemas.microsoft.com/office/drawing/2010/main">
                <a:solidFill>
                  <a:srgbClr val="FFFFFF"/>
                </a:solidFill>
              </a14:hiddenFill>
            </a:ext>
          </a:extLst>
        </p:spPr>
      </p:pic>
      <p:sp>
        <p:nvSpPr>
          <p:cNvPr id="16" name="Shape 2">
            <a:extLst>
              <a:ext uri="{FF2B5EF4-FFF2-40B4-BE49-F238E27FC236}">
                <a16:creationId xmlns:a16="http://schemas.microsoft.com/office/drawing/2014/main" id="{28F51ADC-0B18-2A81-6485-51D04874E383}"/>
              </a:ext>
            </a:extLst>
          </p:cNvPr>
          <p:cNvSpPr/>
          <p:nvPr/>
        </p:nvSpPr>
        <p:spPr>
          <a:xfrm>
            <a:off x="5641797" y="3824899"/>
            <a:ext cx="1645920" cy="1097280"/>
          </a:xfrm>
          <a:prstGeom prst="rect">
            <a:avLst/>
          </a:prstGeom>
          <a:solidFill>
            <a:srgbClr val="F4F7FB"/>
          </a:solidFill>
          <a:ln w="12700">
            <a:solidFill>
              <a:srgbClr val="D1D5DB"/>
            </a:solidFill>
            <a:prstDash val="solid"/>
          </a:ln>
          <a:effectLst>
            <a:outerShdw blurRad="63500" dist="25400" dir="8100000" algn="bl" rotWithShape="0">
              <a:srgbClr val="000000">
                <a:alpha val="10000"/>
              </a:srgbClr>
            </a:outerShdw>
          </a:effectLst>
        </p:spPr>
        <p:txBody>
          <a:bodyPr/>
          <a:lstStyle/>
          <a:p>
            <a:endParaRPr lang="en-US" dirty="0"/>
          </a:p>
        </p:txBody>
      </p:sp>
      <p:sp>
        <p:nvSpPr>
          <p:cNvPr id="17" name="Text 3">
            <a:extLst>
              <a:ext uri="{FF2B5EF4-FFF2-40B4-BE49-F238E27FC236}">
                <a16:creationId xmlns:a16="http://schemas.microsoft.com/office/drawing/2014/main" id="{F4F77063-3AE6-07D1-AFE3-ECCEF7B3D299}"/>
              </a:ext>
            </a:extLst>
          </p:cNvPr>
          <p:cNvSpPr/>
          <p:nvPr/>
        </p:nvSpPr>
        <p:spPr>
          <a:xfrm>
            <a:off x="5641797" y="3861475"/>
            <a:ext cx="1645920" cy="566928"/>
          </a:xfrm>
          <a:prstGeom prst="rect">
            <a:avLst/>
          </a:prstGeom>
          <a:noFill/>
          <a:ln/>
        </p:spPr>
        <p:txBody>
          <a:bodyPr wrap="square" rtlCol="0" anchor="ctr"/>
          <a:lstStyle/>
          <a:p>
            <a:pPr marL="0" indent="0" algn="ctr">
              <a:buNone/>
            </a:pPr>
            <a:r>
              <a:rPr lang="en-US" sz="2600" b="1" dirty="0">
                <a:solidFill>
                  <a:srgbClr val="7030A0"/>
                </a:solidFill>
                <a:latin typeface="Calibri" pitchFamily="34" charset="0"/>
                <a:cs typeface="Calibri" pitchFamily="34" charset="-120"/>
              </a:rPr>
              <a:t>$53 M</a:t>
            </a:r>
            <a:endParaRPr lang="en-US" sz="2600" dirty="0">
              <a:solidFill>
                <a:srgbClr val="7030A0"/>
              </a:solidFill>
            </a:endParaRPr>
          </a:p>
        </p:txBody>
      </p:sp>
      <p:sp>
        <p:nvSpPr>
          <p:cNvPr id="18" name="Text 4">
            <a:extLst>
              <a:ext uri="{FF2B5EF4-FFF2-40B4-BE49-F238E27FC236}">
                <a16:creationId xmlns:a16="http://schemas.microsoft.com/office/drawing/2014/main" id="{8F921F32-C05F-E73E-D6CD-8F32006259E4}"/>
              </a:ext>
            </a:extLst>
          </p:cNvPr>
          <p:cNvSpPr/>
          <p:nvPr/>
        </p:nvSpPr>
        <p:spPr>
          <a:xfrm>
            <a:off x="5641797" y="4446691"/>
            <a:ext cx="1645920" cy="438912"/>
          </a:xfrm>
          <a:prstGeom prst="rect">
            <a:avLst/>
          </a:prstGeom>
          <a:noFill/>
          <a:ln/>
        </p:spPr>
        <p:txBody>
          <a:bodyPr wrap="square" rtlCol="0" anchor="ctr"/>
          <a:lstStyle/>
          <a:p>
            <a:pPr marL="0" indent="0" algn="ctr">
              <a:buNone/>
            </a:pPr>
            <a:r>
              <a:rPr lang="en-US" sz="950" dirty="0">
                <a:solidFill>
                  <a:srgbClr val="6B7280"/>
                </a:solidFill>
                <a:latin typeface="Calibri" pitchFamily="34" charset="0"/>
                <a:cs typeface="Calibri" pitchFamily="34" charset="-120"/>
              </a:rPr>
              <a:t>Yearly Contract Salary</a:t>
            </a:r>
            <a:endParaRPr lang="en-US" sz="950" dirty="0"/>
          </a:p>
        </p:txBody>
      </p:sp>
    </p:spTree>
    <p:extLst>
      <p:ext uri="{BB962C8B-B14F-4D97-AF65-F5344CB8AC3E}">
        <p14:creationId xmlns:p14="http://schemas.microsoft.com/office/powerpoint/2010/main" val="490385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txBody>
          <a:bodyPr/>
          <a:lstStyle/>
          <a:p>
            <a:endParaRPr lang="en-US"/>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Problem &amp; Why it Matters</a:t>
            </a:r>
            <a:endParaRPr lang="en-US" sz="2200" dirty="0"/>
          </a:p>
        </p:txBody>
      </p:sp>
      <p:sp>
        <p:nvSpPr>
          <p:cNvPr id="4" name="Shape 2"/>
          <p:cNvSpPr/>
          <p:nvPr/>
        </p:nvSpPr>
        <p:spPr>
          <a:xfrm>
            <a:off x="1546168" y="795528"/>
            <a:ext cx="1828800" cy="1234440"/>
          </a:xfrm>
          <a:prstGeom prst="rect">
            <a:avLst/>
          </a:prstGeom>
          <a:solidFill>
            <a:srgbClr val="F4F7FB"/>
          </a:solidFill>
          <a:ln w="12700">
            <a:solidFill>
              <a:srgbClr val="D1D5DB"/>
            </a:solidFill>
            <a:prstDash val="solid"/>
          </a:ln>
          <a:effectLst>
            <a:outerShdw blurRad="63500" dist="25400" dir="8100000" algn="bl" rotWithShape="0">
              <a:srgbClr val="000000">
                <a:alpha val="10000"/>
              </a:srgbClr>
            </a:outerShdw>
          </a:effectLst>
        </p:spPr>
        <p:txBody>
          <a:bodyPr/>
          <a:lstStyle/>
          <a:p>
            <a:endParaRPr lang="en-US"/>
          </a:p>
        </p:txBody>
      </p:sp>
      <p:sp>
        <p:nvSpPr>
          <p:cNvPr id="5" name="Text 3"/>
          <p:cNvSpPr/>
          <p:nvPr/>
        </p:nvSpPr>
        <p:spPr>
          <a:xfrm>
            <a:off x="1546168" y="841248"/>
            <a:ext cx="1828800" cy="678942"/>
          </a:xfrm>
          <a:prstGeom prst="rect">
            <a:avLst/>
          </a:prstGeom>
          <a:noFill/>
          <a:ln/>
        </p:spPr>
        <p:txBody>
          <a:bodyPr wrap="square" rtlCol="0" anchor="b"/>
          <a:lstStyle/>
          <a:p>
            <a:pPr marL="0" indent="0" algn="ctr">
              <a:buNone/>
            </a:pPr>
            <a:r>
              <a:rPr lang="en-US" sz="3600" b="1" dirty="0">
                <a:solidFill>
                  <a:srgbClr val="DC2626"/>
                </a:solidFill>
                <a:latin typeface="Calibri" pitchFamily="34" charset="0"/>
                <a:ea typeface="Calibri" pitchFamily="34" charset="-122"/>
                <a:cs typeface="Calibri" pitchFamily="34" charset="-120"/>
              </a:rPr>
              <a:t>$300M+</a:t>
            </a:r>
            <a:endParaRPr lang="en-US" sz="3600" dirty="0"/>
          </a:p>
        </p:txBody>
      </p:sp>
      <p:sp>
        <p:nvSpPr>
          <p:cNvPr id="6" name="Text 4"/>
          <p:cNvSpPr/>
          <p:nvPr/>
        </p:nvSpPr>
        <p:spPr>
          <a:xfrm>
            <a:off x="1546168" y="1474470"/>
            <a:ext cx="1828800" cy="493776"/>
          </a:xfrm>
          <a:prstGeom prst="rect">
            <a:avLst/>
          </a:prstGeom>
          <a:noFill/>
          <a:ln/>
        </p:spPr>
        <p:txBody>
          <a:bodyPr wrap="square" rtlCol="0" anchor="t"/>
          <a:lstStyle/>
          <a:p>
            <a:pPr marL="0" indent="0" algn="ctr">
              <a:buNone/>
            </a:pPr>
            <a:r>
              <a:rPr lang="en-US" sz="1000" dirty="0">
                <a:solidFill>
                  <a:srgbClr val="6B7280"/>
                </a:solidFill>
                <a:latin typeface="Calibri" pitchFamily="34" charset="0"/>
                <a:ea typeface="Calibri" pitchFamily="34" charset="-122"/>
                <a:cs typeface="Calibri" pitchFamily="34" charset="-120"/>
              </a:rPr>
              <a:t>NBA annual cost of</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injury absences [3]</a:t>
            </a:r>
            <a:endParaRPr lang="en-US" sz="1000" dirty="0"/>
          </a:p>
        </p:txBody>
      </p:sp>
      <p:sp>
        <p:nvSpPr>
          <p:cNvPr id="7" name="Shape 5"/>
          <p:cNvSpPr/>
          <p:nvPr/>
        </p:nvSpPr>
        <p:spPr>
          <a:xfrm>
            <a:off x="3603568" y="795528"/>
            <a:ext cx="1828800" cy="1234440"/>
          </a:xfrm>
          <a:prstGeom prst="rect">
            <a:avLst/>
          </a:prstGeom>
          <a:solidFill>
            <a:srgbClr val="F4F7FB"/>
          </a:solidFill>
          <a:ln w="12700">
            <a:solidFill>
              <a:srgbClr val="D1D5DB"/>
            </a:solidFill>
            <a:prstDash val="solid"/>
          </a:ln>
          <a:effectLst>
            <a:outerShdw blurRad="63500" dist="25400" dir="8100000" algn="bl" rotWithShape="0">
              <a:srgbClr val="000000">
                <a:alpha val="10000"/>
              </a:srgbClr>
            </a:outerShdw>
          </a:effectLst>
        </p:spPr>
        <p:txBody>
          <a:bodyPr/>
          <a:lstStyle/>
          <a:p>
            <a:endParaRPr lang="en-US"/>
          </a:p>
        </p:txBody>
      </p:sp>
      <p:sp>
        <p:nvSpPr>
          <p:cNvPr id="8" name="Text 6"/>
          <p:cNvSpPr/>
          <p:nvPr/>
        </p:nvSpPr>
        <p:spPr>
          <a:xfrm>
            <a:off x="3603568" y="841248"/>
            <a:ext cx="1828800" cy="678942"/>
          </a:xfrm>
          <a:prstGeom prst="rect">
            <a:avLst/>
          </a:prstGeom>
          <a:noFill/>
          <a:ln/>
        </p:spPr>
        <p:txBody>
          <a:bodyPr wrap="square" rtlCol="0" anchor="b"/>
          <a:lstStyle/>
          <a:p>
            <a:pPr marL="0" indent="0" algn="ctr">
              <a:buNone/>
            </a:pPr>
            <a:r>
              <a:rPr lang="en-US" sz="3600" b="1" dirty="0">
                <a:solidFill>
                  <a:srgbClr val="2E6DA4"/>
                </a:solidFill>
                <a:latin typeface="Calibri" pitchFamily="34" charset="0"/>
                <a:ea typeface="Calibri" pitchFamily="34" charset="-122"/>
                <a:cs typeface="Calibri" pitchFamily="34" charset="-120"/>
              </a:rPr>
              <a:t>82</a:t>
            </a:r>
            <a:endParaRPr lang="en-US" sz="3600" dirty="0"/>
          </a:p>
        </p:txBody>
      </p:sp>
      <p:sp>
        <p:nvSpPr>
          <p:cNvPr id="9" name="Text 7"/>
          <p:cNvSpPr/>
          <p:nvPr/>
        </p:nvSpPr>
        <p:spPr>
          <a:xfrm>
            <a:off x="3603568" y="1474470"/>
            <a:ext cx="1828800" cy="493776"/>
          </a:xfrm>
          <a:prstGeom prst="rect">
            <a:avLst/>
          </a:prstGeom>
          <a:noFill/>
          <a:ln/>
        </p:spPr>
        <p:txBody>
          <a:bodyPr wrap="square" rtlCol="0" anchor="t"/>
          <a:lstStyle/>
          <a:p>
            <a:pPr marL="0" indent="0" algn="ctr">
              <a:buNone/>
            </a:pPr>
            <a:r>
              <a:rPr lang="en-US" sz="1000" dirty="0">
                <a:solidFill>
                  <a:srgbClr val="6B7280"/>
                </a:solidFill>
                <a:latin typeface="Calibri" pitchFamily="34" charset="0"/>
                <a:ea typeface="Calibri" pitchFamily="34" charset="-122"/>
                <a:cs typeface="Calibri" pitchFamily="34" charset="-120"/>
              </a:rPr>
              <a:t>games in ~180 days</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(≈1 every 2 days)</a:t>
            </a:r>
            <a:endParaRPr lang="en-US" sz="1000" dirty="0"/>
          </a:p>
        </p:txBody>
      </p:sp>
      <p:sp>
        <p:nvSpPr>
          <p:cNvPr id="10" name="Shape 8"/>
          <p:cNvSpPr/>
          <p:nvPr/>
        </p:nvSpPr>
        <p:spPr>
          <a:xfrm>
            <a:off x="5660968" y="795528"/>
            <a:ext cx="1828800" cy="1234440"/>
          </a:xfrm>
          <a:prstGeom prst="rect">
            <a:avLst/>
          </a:prstGeom>
          <a:solidFill>
            <a:srgbClr val="F4F7FB"/>
          </a:solidFill>
          <a:ln w="12700">
            <a:solidFill>
              <a:srgbClr val="D1D5DB"/>
            </a:solidFill>
            <a:prstDash val="solid"/>
          </a:ln>
          <a:effectLst>
            <a:outerShdw blurRad="63500" dist="25400" dir="8100000" algn="bl" rotWithShape="0">
              <a:srgbClr val="000000">
                <a:alpha val="10000"/>
              </a:srgbClr>
            </a:outerShdw>
          </a:effectLst>
        </p:spPr>
        <p:txBody>
          <a:bodyPr/>
          <a:lstStyle/>
          <a:p>
            <a:endParaRPr lang="en-US"/>
          </a:p>
        </p:txBody>
      </p:sp>
      <p:sp>
        <p:nvSpPr>
          <p:cNvPr id="11" name="Text 9"/>
          <p:cNvSpPr/>
          <p:nvPr/>
        </p:nvSpPr>
        <p:spPr>
          <a:xfrm>
            <a:off x="5660968" y="841248"/>
            <a:ext cx="1828800" cy="678942"/>
          </a:xfrm>
          <a:prstGeom prst="rect">
            <a:avLst/>
          </a:prstGeom>
          <a:noFill/>
          <a:ln/>
        </p:spPr>
        <p:txBody>
          <a:bodyPr wrap="square" rtlCol="0" anchor="b"/>
          <a:lstStyle/>
          <a:p>
            <a:pPr marL="0" indent="0" algn="ctr">
              <a:buNone/>
            </a:pPr>
            <a:r>
              <a:rPr lang="en-US" sz="3600" b="1" dirty="0">
                <a:solidFill>
                  <a:srgbClr val="D97706"/>
                </a:solidFill>
                <a:latin typeface="Calibri" pitchFamily="34" charset="0"/>
                <a:ea typeface="Calibri" pitchFamily="34" charset="-122"/>
                <a:cs typeface="Calibri" pitchFamily="34" charset="-120"/>
              </a:rPr>
              <a:t>47%</a:t>
            </a:r>
            <a:endParaRPr lang="en-US" sz="3600" dirty="0"/>
          </a:p>
        </p:txBody>
      </p:sp>
      <p:sp>
        <p:nvSpPr>
          <p:cNvPr id="12" name="Text 10"/>
          <p:cNvSpPr/>
          <p:nvPr/>
        </p:nvSpPr>
        <p:spPr>
          <a:xfrm>
            <a:off x="5660968" y="1474470"/>
            <a:ext cx="1828800" cy="493776"/>
          </a:xfrm>
          <a:prstGeom prst="rect">
            <a:avLst/>
          </a:prstGeom>
          <a:noFill/>
          <a:ln/>
        </p:spPr>
        <p:txBody>
          <a:bodyPr wrap="square" rtlCol="0" anchor="t"/>
          <a:lstStyle/>
          <a:p>
            <a:pPr marL="0" indent="0" algn="ctr">
              <a:buNone/>
            </a:pPr>
            <a:r>
              <a:rPr lang="en-US" sz="1000" dirty="0">
                <a:solidFill>
                  <a:srgbClr val="6B7280"/>
                </a:solidFill>
                <a:latin typeface="Calibri" pitchFamily="34" charset="0"/>
                <a:ea typeface="Calibri" pitchFamily="34" charset="-122"/>
                <a:cs typeface="Calibri" pitchFamily="34" charset="-120"/>
              </a:rPr>
              <a:t>of health costs are</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musculoskeletal [3]</a:t>
            </a:r>
            <a:endParaRPr lang="en-US" sz="1000" dirty="0"/>
          </a:p>
        </p:txBody>
      </p:sp>
      <p:sp>
        <p:nvSpPr>
          <p:cNvPr id="16" name="Shape 14"/>
          <p:cNvSpPr/>
          <p:nvPr/>
        </p:nvSpPr>
        <p:spPr>
          <a:xfrm>
            <a:off x="274320" y="2176272"/>
            <a:ext cx="8595360" cy="566928"/>
          </a:xfrm>
          <a:prstGeom prst="rect">
            <a:avLst/>
          </a:prstGeom>
          <a:solidFill>
            <a:srgbClr val="D6E8F7"/>
          </a:solidFill>
          <a:ln w="19050">
            <a:solidFill>
              <a:schemeClr val="accent2"/>
            </a:solidFill>
            <a:prstDash val="solid"/>
          </a:ln>
        </p:spPr>
        <p:txBody>
          <a:bodyPr/>
          <a:lstStyle/>
          <a:p>
            <a:endParaRPr lang="en-US"/>
          </a:p>
        </p:txBody>
      </p:sp>
      <p:sp>
        <p:nvSpPr>
          <p:cNvPr id="17" name="Text 15"/>
          <p:cNvSpPr/>
          <p:nvPr/>
        </p:nvSpPr>
        <p:spPr>
          <a:xfrm>
            <a:off x="411480" y="2176272"/>
            <a:ext cx="8321040" cy="566928"/>
          </a:xfrm>
          <a:prstGeom prst="rect">
            <a:avLst/>
          </a:prstGeom>
          <a:noFill/>
          <a:ln/>
        </p:spPr>
        <p:txBody>
          <a:bodyPr wrap="square" rtlCol="0" anchor="ctr"/>
          <a:lstStyle/>
          <a:p>
            <a:pPr marL="0" indent="0">
              <a:buNone/>
            </a:pPr>
            <a:r>
              <a:rPr lang="en-US" sz="1250" b="1" dirty="0">
                <a:solidFill>
                  <a:srgbClr val="1A3A5C"/>
                </a:solidFill>
                <a:latin typeface="Calibri" pitchFamily="34" charset="0"/>
                <a:ea typeface="Calibri" pitchFamily="34" charset="-122"/>
                <a:cs typeface="Calibri" pitchFamily="34" charset="-120"/>
              </a:rPr>
              <a:t>The gap: </a:t>
            </a:r>
            <a:r>
              <a:rPr lang="en-US" sz="1250" dirty="0">
                <a:solidFill>
                  <a:srgbClr val="111827"/>
                </a:solidFill>
                <a:latin typeface="Calibri" pitchFamily="34" charset="0"/>
                <a:ea typeface="Calibri" pitchFamily="34" charset="-122"/>
                <a:cs typeface="Calibri" pitchFamily="34" charset="-120"/>
              </a:rPr>
              <a:t>Existing research treats injury as a binary outcome averaged over a season. No study has asked </a:t>
            </a:r>
            <a:r>
              <a:rPr lang="en-US" sz="1250" b="1" i="1" dirty="0">
                <a:solidFill>
                  <a:srgbClr val="1A3A5C"/>
                </a:solidFill>
                <a:latin typeface="Calibri" pitchFamily="34" charset="0"/>
                <a:ea typeface="Calibri" pitchFamily="34" charset="-122"/>
                <a:cs typeface="Calibri" pitchFamily="34" charset="-120"/>
              </a:rPr>
              <a:t>when </a:t>
            </a:r>
            <a:r>
              <a:rPr lang="en-US" sz="1250" dirty="0">
                <a:solidFill>
                  <a:srgbClr val="111827"/>
                </a:solidFill>
                <a:latin typeface="Calibri" pitchFamily="34" charset="0"/>
                <a:ea typeface="Calibri" pitchFamily="34" charset="-122"/>
                <a:cs typeface="Calibri" pitchFamily="34" charset="-120"/>
              </a:rPr>
              <a:t>hazard elevates, how it responds to acute spikes, or how prior injury history modifies risk over time.</a:t>
            </a:r>
            <a:endParaRPr lang="en-US" sz="1250" dirty="0"/>
          </a:p>
        </p:txBody>
      </p:sp>
      <p:sp>
        <p:nvSpPr>
          <p:cNvPr id="18" name="Text 16"/>
          <p:cNvSpPr/>
          <p:nvPr/>
        </p:nvSpPr>
        <p:spPr>
          <a:xfrm>
            <a:off x="274320" y="2907792"/>
            <a:ext cx="4114800" cy="274320"/>
          </a:xfrm>
          <a:prstGeom prst="rect">
            <a:avLst/>
          </a:prstGeom>
          <a:noFill/>
          <a:ln/>
        </p:spPr>
        <p:txBody>
          <a:bodyPr wrap="square" rtlCol="0" anchor="ctr"/>
          <a:lstStyle/>
          <a:p>
            <a:pPr marL="0" indent="0">
              <a:buNone/>
            </a:pPr>
            <a:r>
              <a:rPr lang="en-US" sz="1300" b="1" dirty="0">
                <a:solidFill>
                  <a:srgbClr val="DC2626"/>
                </a:solidFill>
                <a:latin typeface="Calibri" pitchFamily="34" charset="0"/>
                <a:ea typeface="Calibri" pitchFamily="34" charset="-122"/>
                <a:cs typeface="Calibri" pitchFamily="34" charset="-120"/>
              </a:rPr>
              <a:t>Current approach</a:t>
            </a:r>
            <a:endParaRPr lang="en-US" sz="1300" dirty="0"/>
          </a:p>
        </p:txBody>
      </p:sp>
      <p:sp>
        <p:nvSpPr>
          <p:cNvPr id="19" name="Text 17"/>
          <p:cNvSpPr/>
          <p:nvPr/>
        </p:nvSpPr>
        <p:spPr>
          <a:xfrm>
            <a:off x="4754880" y="2907792"/>
            <a:ext cx="4114800" cy="274320"/>
          </a:xfrm>
          <a:prstGeom prst="rect">
            <a:avLst/>
          </a:prstGeom>
          <a:noFill/>
          <a:ln/>
        </p:spPr>
        <p:txBody>
          <a:bodyPr wrap="square"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This thesis</a:t>
            </a:r>
            <a:endParaRPr lang="en-US" sz="1300" dirty="0"/>
          </a:p>
        </p:txBody>
      </p:sp>
      <p:sp>
        <p:nvSpPr>
          <p:cNvPr id="20" name="Text 18"/>
          <p:cNvSpPr/>
          <p:nvPr/>
        </p:nvSpPr>
        <p:spPr>
          <a:xfrm>
            <a:off x="274320" y="3246120"/>
            <a:ext cx="4114800" cy="320040"/>
          </a:xfrm>
          <a:prstGeom prst="rect">
            <a:avLst/>
          </a:prstGeom>
          <a:noFill/>
          <a:ln/>
        </p:spPr>
        <p:txBody>
          <a:bodyPr wrap="square" rtlCol="0" anchor="ctr"/>
          <a:lstStyle/>
          <a:p>
            <a:pPr marL="342900" indent="-342900">
              <a:buSzPct val="100000"/>
              <a:buChar char="•"/>
            </a:pPr>
            <a:r>
              <a:rPr lang="en-US" sz="1150" dirty="0">
                <a:solidFill>
                  <a:srgbClr val="111827"/>
                </a:solidFill>
                <a:latin typeface="Calibri" pitchFamily="34" charset="0"/>
                <a:ea typeface="Calibri" pitchFamily="34" charset="-122"/>
                <a:cs typeface="Calibri" pitchFamily="34" charset="-120"/>
              </a:rPr>
              <a:t>Binary: injured or not</a:t>
            </a:r>
            <a:endParaRPr lang="en-US" sz="1150" dirty="0"/>
          </a:p>
        </p:txBody>
      </p:sp>
      <p:sp>
        <p:nvSpPr>
          <p:cNvPr id="21" name="Text 19"/>
          <p:cNvSpPr/>
          <p:nvPr/>
        </p:nvSpPr>
        <p:spPr>
          <a:xfrm>
            <a:off x="274320" y="3593592"/>
            <a:ext cx="4114800" cy="320040"/>
          </a:xfrm>
          <a:prstGeom prst="rect">
            <a:avLst/>
          </a:prstGeom>
          <a:noFill/>
          <a:ln/>
        </p:spPr>
        <p:txBody>
          <a:bodyPr wrap="square" rtlCol="0" anchor="ctr"/>
          <a:lstStyle/>
          <a:p>
            <a:pPr marL="342900" indent="-342900">
              <a:buSzPct val="100000"/>
              <a:buChar char="•"/>
            </a:pPr>
            <a:r>
              <a:rPr lang="en-US" sz="1150" dirty="0">
                <a:solidFill>
                  <a:srgbClr val="111827"/>
                </a:solidFill>
                <a:latin typeface="Calibri" pitchFamily="34" charset="0"/>
                <a:ea typeface="Calibri" pitchFamily="34" charset="-122"/>
                <a:cs typeface="Calibri" pitchFamily="34" charset="-120"/>
              </a:rPr>
              <a:t>Season averages, fixed windows</a:t>
            </a:r>
            <a:endParaRPr lang="en-US" sz="1150" dirty="0"/>
          </a:p>
        </p:txBody>
      </p:sp>
      <p:sp>
        <p:nvSpPr>
          <p:cNvPr id="22" name="Text 20"/>
          <p:cNvSpPr/>
          <p:nvPr/>
        </p:nvSpPr>
        <p:spPr>
          <a:xfrm>
            <a:off x="274320" y="3941064"/>
            <a:ext cx="4114800" cy="320040"/>
          </a:xfrm>
          <a:prstGeom prst="rect">
            <a:avLst/>
          </a:prstGeom>
          <a:noFill/>
          <a:ln/>
        </p:spPr>
        <p:txBody>
          <a:bodyPr wrap="square" rtlCol="0" anchor="ctr"/>
          <a:lstStyle/>
          <a:p>
            <a:pPr marL="342900" indent="-342900">
              <a:buSzPct val="100000"/>
              <a:buChar char="•"/>
            </a:pPr>
            <a:r>
              <a:rPr lang="en-US" sz="1150" dirty="0">
                <a:solidFill>
                  <a:srgbClr val="111827"/>
                </a:solidFill>
                <a:latin typeface="Calibri" pitchFamily="34" charset="0"/>
                <a:ea typeface="Calibri" pitchFamily="34" charset="-122"/>
                <a:cs typeface="Calibri" pitchFamily="34" charset="-120"/>
              </a:rPr>
              <a:t>Cannot track when risk spikes</a:t>
            </a:r>
            <a:endParaRPr lang="en-US" sz="1150" dirty="0"/>
          </a:p>
        </p:txBody>
      </p:sp>
      <p:sp>
        <p:nvSpPr>
          <p:cNvPr id="23" name="Text 21"/>
          <p:cNvSpPr/>
          <p:nvPr/>
        </p:nvSpPr>
        <p:spPr>
          <a:xfrm>
            <a:off x="274320" y="4288536"/>
            <a:ext cx="4114800" cy="320040"/>
          </a:xfrm>
          <a:prstGeom prst="rect">
            <a:avLst/>
          </a:prstGeom>
          <a:noFill/>
          <a:ln/>
        </p:spPr>
        <p:txBody>
          <a:bodyPr wrap="square" rtlCol="0" anchor="ctr"/>
          <a:lstStyle/>
          <a:p>
            <a:pPr marL="342900" indent="-342900">
              <a:buSzPct val="100000"/>
              <a:buChar char="•"/>
            </a:pPr>
            <a:r>
              <a:rPr lang="en-US" sz="1150" dirty="0">
                <a:solidFill>
                  <a:srgbClr val="111827"/>
                </a:solidFill>
                <a:latin typeface="Calibri" pitchFamily="34" charset="0"/>
                <a:ea typeface="Calibri" pitchFamily="34" charset="-122"/>
                <a:cs typeface="Calibri" pitchFamily="34" charset="-120"/>
              </a:rPr>
              <a:t>Cannot model prior injury effect dynamically</a:t>
            </a:r>
            <a:endParaRPr lang="en-US" sz="1150" dirty="0"/>
          </a:p>
        </p:txBody>
      </p:sp>
      <p:sp>
        <p:nvSpPr>
          <p:cNvPr id="24" name="Text 22"/>
          <p:cNvSpPr/>
          <p:nvPr/>
        </p:nvSpPr>
        <p:spPr>
          <a:xfrm>
            <a:off x="4754880" y="3246120"/>
            <a:ext cx="4114800" cy="320040"/>
          </a:xfrm>
          <a:prstGeom prst="rect">
            <a:avLst/>
          </a:prstGeom>
          <a:noFill/>
          <a:ln/>
        </p:spPr>
        <p:txBody>
          <a:bodyPr wrap="square" rtlCol="0" anchor="ctr"/>
          <a:lstStyle/>
          <a:p>
            <a:pPr marL="342900" indent="-342900">
              <a:buSzPct val="100000"/>
              <a:buChar char="•"/>
            </a:pPr>
            <a:r>
              <a:rPr lang="en-US" sz="1150" dirty="0">
                <a:solidFill>
                  <a:srgbClr val="111827"/>
                </a:solidFill>
                <a:latin typeface="Calibri" pitchFamily="34" charset="0"/>
                <a:ea typeface="Calibri" pitchFamily="34" charset="-122"/>
                <a:cs typeface="Calibri" pitchFamily="34" charset="-120"/>
              </a:rPr>
              <a:t>Injury hazard evolving game by game</a:t>
            </a:r>
            <a:endParaRPr lang="en-US" sz="1150" dirty="0"/>
          </a:p>
        </p:txBody>
      </p:sp>
      <p:sp>
        <p:nvSpPr>
          <p:cNvPr id="25" name="Text 23"/>
          <p:cNvSpPr/>
          <p:nvPr/>
        </p:nvSpPr>
        <p:spPr>
          <a:xfrm>
            <a:off x="4754880" y="3593592"/>
            <a:ext cx="4114800" cy="320040"/>
          </a:xfrm>
          <a:prstGeom prst="rect">
            <a:avLst/>
          </a:prstGeom>
          <a:noFill/>
          <a:ln/>
        </p:spPr>
        <p:txBody>
          <a:bodyPr wrap="square" rtlCol="0" anchor="ctr"/>
          <a:lstStyle/>
          <a:p>
            <a:pPr marL="342900" indent="-342900">
              <a:buSzPct val="100000"/>
              <a:buChar char="•"/>
            </a:pPr>
            <a:r>
              <a:rPr lang="en-US" sz="1150" dirty="0">
                <a:solidFill>
                  <a:srgbClr val="111827"/>
                </a:solidFill>
                <a:latin typeface="Calibri" pitchFamily="34" charset="0"/>
                <a:ea typeface="Calibri" pitchFamily="34" charset="-122"/>
                <a:cs typeface="Calibri" pitchFamily="34" charset="-120"/>
              </a:rPr>
              <a:t>Rolling 7/14/28/42-day workload windows</a:t>
            </a:r>
            <a:endParaRPr lang="en-US" sz="1150" dirty="0"/>
          </a:p>
        </p:txBody>
      </p:sp>
      <p:sp>
        <p:nvSpPr>
          <p:cNvPr id="26" name="Text 24"/>
          <p:cNvSpPr/>
          <p:nvPr/>
        </p:nvSpPr>
        <p:spPr>
          <a:xfrm>
            <a:off x="4754880" y="3941064"/>
            <a:ext cx="4114800" cy="320040"/>
          </a:xfrm>
          <a:prstGeom prst="rect">
            <a:avLst/>
          </a:prstGeom>
          <a:noFill/>
          <a:ln/>
        </p:spPr>
        <p:txBody>
          <a:bodyPr wrap="square" rtlCol="0" anchor="ctr"/>
          <a:lstStyle/>
          <a:p>
            <a:pPr marL="342900" indent="-342900">
              <a:buSzPct val="100000"/>
              <a:buChar char="•"/>
            </a:pPr>
            <a:r>
              <a:rPr lang="en-US" sz="1150" dirty="0">
                <a:solidFill>
                  <a:srgbClr val="111827"/>
                </a:solidFill>
                <a:latin typeface="Calibri" pitchFamily="34" charset="0"/>
                <a:ea typeface="Calibri" pitchFamily="34" charset="-122"/>
                <a:cs typeface="Calibri" pitchFamily="34" charset="-120"/>
              </a:rPr>
              <a:t>ACWR captures acute spikes vs chronic baseline</a:t>
            </a:r>
            <a:endParaRPr lang="en-US" sz="1150" dirty="0"/>
          </a:p>
        </p:txBody>
      </p:sp>
      <p:sp>
        <p:nvSpPr>
          <p:cNvPr id="27" name="Text 25"/>
          <p:cNvSpPr/>
          <p:nvPr/>
        </p:nvSpPr>
        <p:spPr>
          <a:xfrm>
            <a:off x="4754880" y="4288536"/>
            <a:ext cx="4114800" cy="320040"/>
          </a:xfrm>
          <a:prstGeom prst="rect">
            <a:avLst/>
          </a:prstGeom>
          <a:noFill/>
          <a:ln/>
        </p:spPr>
        <p:txBody>
          <a:bodyPr wrap="square" rtlCol="0" anchor="ctr"/>
          <a:lstStyle/>
          <a:p>
            <a:pPr marL="342900" indent="-342900">
              <a:buSzPct val="100000"/>
              <a:buChar char="•"/>
            </a:pPr>
            <a:r>
              <a:rPr lang="en-US" sz="1150" dirty="0">
                <a:solidFill>
                  <a:srgbClr val="111827"/>
                </a:solidFill>
                <a:latin typeface="Calibri" pitchFamily="34" charset="0"/>
                <a:ea typeface="Calibri" pitchFamily="34" charset="-122"/>
                <a:cs typeface="Calibri" pitchFamily="34" charset="-120"/>
              </a:rPr>
              <a:t>Prior injury history as time-varying covariate</a:t>
            </a:r>
            <a:endParaRPr lang="en-US" sz="1150" dirty="0"/>
          </a:p>
        </p:txBody>
      </p:sp>
      <p:sp>
        <p:nvSpPr>
          <p:cNvPr id="28" name="Shape 26"/>
          <p:cNvSpPr/>
          <p:nvPr/>
        </p:nvSpPr>
        <p:spPr>
          <a:xfrm>
            <a:off x="4526280" y="2834640"/>
            <a:ext cx="0" cy="2011680"/>
          </a:xfrm>
          <a:prstGeom prst="line">
            <a:avLst/>
          </a:prstGeom>
          <a:noFill/>
          <a:ln w="12700">
            <a:solidFill>
              <a:srgbClr val="CBD5E1"/>
            </a:solidFill>
            <a:prstDash val="solid"/>
          </a:ln>
        </p:spPr>
        <p:txBody>
          <a:bodyPr/>
          <a:lstStyle/>
          <a:p>
            <a:endParaRPr lang="en-US"/>
          </a:p>
        </p:txBody>
      </p:sp>
      <p:sp>
        <p:nvSpPr>
          <p:cNvPr id="29" name="Shape 5">
            <a:extLst>
              <a:ext uri="{FF2B5EF4-FFF2-40B4-BE49-F238E27FC236}">
                <a16:creationId xmlns:a16="http://schemas.microsoft.com/office/drawing/2014/main" id="{B525AF9D-598C-272F-C33A-ABCD13C4D310}"/>
              </a:ext>
            </a:extLst>
          </p:cNvPr>
          <p:cNvSpPr/>
          <p:nvPr/>
        </p:nvSpPr>
        <p:spPr>
          <a:xfrm>
            <a:off x="0" y="608076"/>
            <a:ext cx="9144000" cy="45719"/>
          </a:xfrm>
          <a:prstGeom prst="rect">
            <a:avLst/>
          </a:prstGeom>
          <a:solidFill>
            <a:schemeClr val="accent2"/>
          </a:solidFill>
          <a:ln w="12700">
            <a:noFill/>
            <a:prstDash val="solid"/>
          </a:ln>
        </p:spPr>
        <p:txBody>
          <a:bodyPr/>
          <a:lstStyle/>
          <a:p>
            <a:endParaRPr lang="en-US"/>
          </a:p>
        </p:txBody>
      </p:sp>
      <p:grpSp>
        <p:nvGrpSpPr>
          <p:cNvPr id="32" name="Group 31">
            <a:extLst>
              <a:ext uri="{FF2B5EF4-FFF2-40B4-BE49-F238E27FC236}">
                <a16:creationId xmlns:a16="http://schemas.microsoft.com/office/drawing/2014/main" id="{53C9F2E7-B9EB-26C8-9CA6-098D6D6CC226}"/>
              </a:ext>
            </a:extLst>
          </p:cNvPr>
          <p:cNvGrpSpPr/>
          <p:nvPr/>
        </p:nvGrpSpPr>
        <p:grpSpPr>
          <a:xfrm>
            <a:off x="8569076" y="52588"/>
            <a:ext cx="509767" cy="509767"/>
            <a:chOff x="7241964" y="2782711"/>
            <a:chExt cx="828823" cy="828823"/>
          </a:xfrm>
        </p:grpSpPr>
        <p:sp>
          <p:nvSpPr>
            <p:cNvPr id="30" name="Shape 2">
              <a:extLst>
                <a:ext uri="{FF2B5EF4-FFF2-40B4-BE49-F238E27FC236}">
                  <a16:creationId xmlns:a16="http://schemas.microsoft.com/office/drawing/2014/main" id="{ED3CF24E-EA77-5F8A-0E6A-EA1D51BCBC9A}"/>
                </a:ext>
              </a:extLst>
            </p:cNvPr>
            <p:cNvSpPr/>
            <p:nvPr/>
          </p:nvSpPr>
          <p:spPr>
            <a:xfrm flipV="1">
              <a:off x="7288447" y="2820973"/>
              <a:ext cx="739305" cy="739305"/>
            </a:xfrm>
            <a:prstGeom prst="ellipse">
              <a:avLst/>
            </a:prstGeom>
            <a:solidFill>
              <a:schemeClr val="accent2">
                <a:alpha val="35000"/>
              </a:schemeClr>
            </a:solidFill>
            <a:ln w="12700">
              <a:noFill/>
              <a:prstDash val="solid"/>
            </a:ln>
          </p:spPr>
          <p:txBody>
            <a:bodyPr/>
            <a:lstStyle/>
            <a:p>
              <a:endParaRPr lang="en-US"/>
            </a:p>
          </p:txBody>
        </p:sp>
        <p:pic>
          <p:nvPicPr>
            <p:cNvPr id="1030" name="Picture 6" descr="Basketball Generic Detailed Outline icon | Magnific (formerly Magnific)">
              <a:extLst>
                <a:ext uri="{FF2B5EF4-FFF2-40B4-BE49-F238E27FC236}">
                  <a16:creationId xmlns:a16="http://schemas.microsoft.com/office/drawing/2014/main" id="{D4E13923-2090-A68E-0384-24AB8C2B57EA}"/>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a:stretch>
              <a:fillRect/>
            </a:stretch>
          </p:blipFill>
          <p:spPr bwMode="auto">
            <a:xfrm>
              <a:off x="7241964" y="2782711"/>
              <a:ext cx="828823" cy="828823"/>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2" name="Shape 4">
            <a:extLst>
              <a:ext uri="{FF2B5EF4-FFF2-40B4-BE49-F238E27FC236}">
                <a16:creationId xmlns:a16="http://schemas.microsoft.com/office/drawing/2014/main" id="{27DF856D-EA8E-16AF-BCB6-8D53421A6E37}"/>
              </a:ext>
            </a:extLst>
          </p:cNvPr>
          <p:cNvSpPr/>
          <p:nvPr/>
        </p:nvSpPr>
        <p:spPr>
          <a:xfrm>
            <a:off x="3189224" y="1331399"/>
            <a:ext cx="2798064" cy="621792"/>
          </a:xfrm>
          <a:prstGeom prst="rect">
            <a:avLst/>
          </a:prstGeom>
          <a:solidFill>
            <a:srgbClr val="F4F7FB"/>
          </a:solidFill>
          <a:ln w="12700">
            <a:solidFill>
              <a:srgbClr val="D1D5DB"/>
            </a:solidFill>
            <a:prstDash val="solid"/>
          </a:ln>
        </p:spPr>
        <p:txBody>
          <a:bodyPr/>
          <a:lstStyle/>
          <a:p>
            <a:endParaRPr lang="en-US"/>
          </a:p>
        </p:txBody>
      </p:sp>
      <p:sp>
        <p:nvSpPr>
          <p:cNvPr id="33" name="Shape 4">
            <a:extLst>
              <a:ext uri="{FF2B5EF4-FFF2-40B4-BE49-F238E27FC236}">
                <a16:creationId xmlns:a16="http://schemas.microsoft.com/office/drawing/2014/main" id="{61771EB2-171C-3A23-3A1C-2D59C1ABEB4A}"/>
              </a:ext>
            </a:extLst>
          </p:cNvPr>
          <p:cNvSpPr/>
          <p:nvPr/>
        </p:nvSpPr>
        <p:spPr>
          <a:xfrm>
            <a:off x="3189224" y="2106707"/>
            <a:ext cx="2798064" cy="621792"/>
          </a:xfrm>
          <a:prstGeom prst="rect">
            <a:avLst/>
          </a:prstGeom>
          <a:solidFill>
            <a:srgbClr val="F4F7FB"/>
          </a:solidFill>
          <a:ln w="12700">
            <a:solidFill>
              <a:srgbClr val="D1D5DB"/>
            </a:solidFill>
            <a:prstDash val="solid"/>
          </a:ln>
        </p:spPr>
        <p:txBody>
          <a:bodyPr/>
          <a:lstStyle/>
          <a:p>
            <a:endParaRPr lang="en-US"/>
          </a:p>
        </p:txBody>
      </p:sp>
      <p:sp>
        <p:nvSpPr>
          <p:cNvPr id="34" name="Shape 4">
            <a:extLst>
              <a:ext uri="{FF2B5EF4-FFF2-40B4-BE49-F238E27FC236}">
                <a16:creationId xmlns:a16="http://schemas.microsoft.com/office/drawing/2014/main" id="{092E73C1-2B1B-3839-B27A-4241A786E6B6}"/>
              </a:ext>
            </a:extLst>
          </p:cNvPr>
          <p:cNvSpPr/>
          <p:nvPr/>
        </p:nvSpPr>
        <p:spPr>
          <a:xfrm>
            <a:off x="6179312" y="1321268"/>
            <a:ext cx="2798064" cy="621792"/>
          </a:xfrm>
          <a:prstGeom prst="rect">
            <a:avLst/>
          </a:prstGeom>
          <a:solidFill>
            <a:srgbClr val="F4F7FB"/>
          </a:solidFill>
          <a:ln w="12700">
            <a:solidFill>
              <a:srgbClr val="D1D5DB"/>
            </a:solidFill>
            <a:prstDash val="solid"/>
          </a:ln>
        </p:spPr>
        <p:txBody>
          <a:bodyPr/>
          <a:lstStyle/>
          <a:p>
            <a:endParaRPr lang="en-US"/>
          </a:p>
        </p:txBody>
      </p:sp>
      <p:sp>
        <p:nvSpPr>
          <p:cNvPr id="35" name="Shape 4">
            <a:extLst>
              <a:ext uri="{FF2B5EF4-FFF2-40B4-BE49-F238E27FC236}">
                <a16:creationId xmlns:a16="http://schemas.microsoft.com/office/drawing/2014/main" id="{B1974698-BF12-B1B9-7DAD-1CAD59D2EE54}"/>
              </a:ext>
            </a:extLst>
          </p:cNvPr>
          <p:cNvSpPr/>
          <p:nvPr/>
        </p:nvSpPr>
        <p:spPr>
          <a:xfrm>
            <a:off x="6179312" y="2106707"/>
            <a:ext cx="2798064" cy="621792"/>
          </a:xfrm>
          <a:prstGeom prst="rect">
            <a:avLst/>
          </a:prstGeom>
          <a:solidFill>
            <a:srgbClr val="F4F7FB"/>
          </a:solidFill>
          <a:ln w="12700">
            <a:solidFill>
              <a:srgbClr val="D1D5DB"/>
            </a:solidFill>
            <a:prstDash val="solid"/>
          </a:ln>
        </p:spPr>
        <p:txBody>
          <a:bodyPr/>
          <a:lstStyle/>
          <a:p>
            <a:endParaRPr lang="en-US"/>
          </a:p>
        </p:txBody>
      </p:sp>
      <p:sp>
        <p:nvSpPr>
          <p:cNvPr id="31" name="Shape 4">
            <a:extLst>
              <a:ext uri="{FF2B5EF4-FFF2-40B4-BE49-F238E27FC236}">
                <a16:creationId xmlns:a16="http://schemas.microsoft.com/office/drawing/2014/main" id="{2506CB5C-5165-AD2B-9B7E-BCADCEECD286}"/>
              </a:ext>
            </a:extLst>
          </p:cNvPr>
          <p:cNvSpPr/>
          <p:nvPr/>
        </p:nvSpPr>
        <p:spPr>
          <a:xfrm>
            <a:off x="199136" y="1331399"/>
            <a:ext cx="2798064" cy="621792"/>
          </a:xfrm>
          <a:prstGeom prst="rect">
            <a:avLst/>
          </a:prstGeom>
          <a:solidFill>
            <a:srgbClr val="F4F7FB"/>
          </a:solidFill>
          <a:ln w="12700">
            <a:solidFill>
              <a:srgbClr val="D1D5DB"/>
            </a:solidFill>
            <a:prstDash val="solid"/>
          </a:ln>
        </p:spPr>
        <p:txBody>
          <a:bodyPr/>
          <a:lstStyle/>
          <a:p>
            <a:endParaRPr lang="en-US"/>
          </a:p>
        </p:txBody>
      </p:sp>
      <p:sp>
        <p:nvSpPr>
          <p:cNvPr id="2" name="Shape 0"/>
          <p:cNvSpPr/>
          <p:nvPr/>
        </p:nvSpPr>
        <p:spPr>
          <a:xfrm>
            <a:off x="0" y="0"/>
            <a:ext cx="9144000" cy="640080"/>
          </a:xfrm>
          <a:prstGeom prst="rect">
            <a:avLst/>
          </a:prstGeom>
          <a:solidFill>
            <a:srgbClr val="1A3A5C"/>
          </a:solidFill>
          <a:ln w="12700">
            <a:solidFill>
              <a:srgbClr val="1A3A5C"/>
            </a:solidFill>
            <a:prstDash val="solid"/>
          </a:ln>
        </p:spPr>
        <p:txBody>
          <a:bodyPr/>
          <a:lstStyle/>
          <a:p>
            <a:endParaRPr lang="en-US"/>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Literature Review - 13 Studies, One Gap</a:t>
            </a:r>
            <a:endParaRPr lang="en-US" sz="2200" dirty="0"/>
          </a:p>
        </p:txBody>
      </p:sp>
      <p:sp>
        <p:nvSpPr>
          <p:cNvPr id="4" name="Shape 2"/>
          <p:cNvSpPr/>
          <p:nvPr/>
        </p:nvSpPr>
        <p:spPr>
          <a:xfrm>
            <a:off x="199136" y="910775"/>
            <a:ext cx="2798064" cy="320040"/>
          </a:xfrm>
          <a:prstGeom prst="rect">
            <a:avLst/>
          </a:prstGeom>
          <a:solidFill>
            <a:srgbClr val="2E6DA4"/>
          </a:solidFill>
          <a:ln w="12700">
            <a:solidFill>
              <a:srgbClr val="2E6DA4"/>
            </a:solidFill>
            <a:prstDash val="solid"/>
          </a:ln>
        </p:spPr>
        <p:txBody>
          <a:bodyPr/>
          <a:lstStyle/>
          <a:p>
            <a:endParaRPr lang="en-US"/>
          </a:p>
        </p:txBody>
      </p:sp>
      <p:sp>
        <p:nvSpPr>
          <p:cNvPr id="5" name="Text 3"/>
          <p:cNvSpPr/>
          <p:nvPr/>
        </p:nvSpPr>
        <p:spPr>
          <a:xfrm>
            <a:off x="199136" y="910775"/>
            <a:ext cx="2798064" cy="32004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In-Game Workload</a:t>
            </a:r>
            <a:endParaRPr lang="en-US" sz="1250" dirty="0"/>
          </a:p>
        </p:txBody>
      </p:sp>
      <p:sp>
        <p:nvSpPr>
          <p:cNvPr id="6" name="Shape 4"/>
          <p:cNvSpPr/>
          <p:nvPr/>
        </p:nvSpPr>
        <p:spPr>
          <a:xfrm>
            <a:off x="3189224" y="2852253"/>
            <a:ext cx="2798064" cy="621792"/>
          </a:xfrm>
          <a:prstGeom prst="rect">
            <a:avLst/>
          </a:prstGeom>
          <a:solidFill>
            <a:srgbClr val="F4F7FB"/>
          </a:solidFill>
          <a:ln w="12700">
            <a:solidFill>
              <a:srgbClr val="D1D5DB"/>
            </a:solidFill>
            <a:prstDash val="solid"/>
          </a:ln>
        </p:spPr>
        <p:txBody>
          <a:bodyPr/>
          <a:lstStyle/>
          <a:p>
            <a:endParaRPr lang="en-US"/>
          </a:p>
        </p:txBody>
      </p:sp>
      <p:sp>
        <p:nvSpPr>
          <p:cNvPr id="7" name="Text 5"/>
          <p:cNvSpPr/>
          <p:nvPr/>
        </p:nvSpPr>
        <p:spPr>
          <a:xfrm>
            <a:off x="3262376" y="2852253"/>
            <a:ext cx="2651760" cy="630936"/>
          </a:xfrm>
          <a:prstGeom prst="rect">
            <a:avLst/>
          </a:prstGeom>
          <a:noFill/>
          <a:ln/>
        </p:spPr>
        <p:txBody>
          <a:bodyPr wrap="square" rtlCol="0" anchor="ctr"/>
          <a:lstStyle/>
          <a:p>
            <a:pPr>
              <a:buSzPct val="100000"/>
            </a:pPr>
            <a:r>
              <a:rPr lang="en-US" sz="1050" dirty="0">
                <a:solidFill>
                  <a:srgbClr val="111827"/>
                </a:solidFill>
                <a:latin typeface="Calibri" pitchFamily="34" charset="0"/>
                <a:ea typeface="Calibri" pitchFamily="34" charset="-122"/>
                <a:cs typeface="Calibri" pitchFamily="34" charset="-120"/>
              </a:rPr>
              <a:t>Lewis (2018): </a:t>
            </a:r>
            <a:r>
              <a:rPr lang="en-US" sz="1050" b="1" dirty="0">
                <a:solidFill>
                  <a:srgbClr val="111827"/>
                </a:solidFill>
                <a:latin typeface="Calibri" pitchFamily="34" charset="0"/>
                <a:ea typeface="Calibri" pitchFamily="34" charset="-122"/>
                <a:cs typeface="Calibri" pitchFamily="34" charset="-120"/>
              </a:rPr>
              <a:t>−15.96%</a:t>
            </a:r>
            <a:r>
              <a:rPr lang="en-US" sz="1050" dirty="0">
                <a:solidFill>
                  <a:srgbClr val="111827"/>
                </a:solidFill>
                <a:latin typeface="Calibri" pitchFamily="34" charset="0"/>
                <a:ea typeface="Calibri" pitchFamily="34" charset="-122"/>
                <a:cs typeface="Calibri" pitchFamily="34" charset="-120"/>
              </a:rPr>
              <a:t> injury odds per rest day; minutes accumulated ↑ risk</a:t>
            </a:r>
            <a:endParaRPr lang="en-US" sz="1050" dirty="0"/>
          </a:p>
        </p:txBody>
      </p:sp>
      <p:sp>
        <p:nvSpPr>
          <p:cNvPr id="9" name="Text 7"/>
          <p:cNvSpPr/>
          <p:nvPr/>
        </p:nvSpPr>
        <p:spPr>
          <a:xfrm>
            <a:off x="272288" y="1331399"/>
            <a:ext cx="2651760" cy="621792"/>
          </a:xfrm>
          <a:prstGeom prst="rect">
            <a:avLst/>
          </a:prstGeom>
          <a:noFill/>
          <a:ln/>
        </p:spPr>
        <p:txBody>
          <a:bodyPr wrap="square" rtlCol="0" anchor="ctr"/>
          <a:lstStyle/>
          <a:p>
            <a:pPr>
              <a:buSzPct val="100000"/>
            </a:pPr>
            <a:r>
              <a:rPr lang="en-US" sz="1050" dirty="0">
                <a:solidFill>
                  <a:srgbClr val="111827"/>
                </a:solidFill>
                <a:latin typeface="Calibri" pitchFamily="34" charset="0"/>
                <a:ea typeface="Calibri" pitchFamily="34" charset="-122"/>
                <a:cs typeface="Calibri" pitchFamily="34" charset="-120"/>
              </a:rPr>
              <a:t>Orringer &amp; Pandya (2022): </a:t>
            </a:r>
            <a:r>
              <a:rPr lang="en-US" sz="1050" b="1" dirty="0">
                <a:solidFill>
                  <a:srgbClr val="111827"/>
                </a:solidFill>
                <a:latin typeface="Calibri" pitchFamily="34" charset="0"/>
                <a:ea typeface="Calibri" pitchFamily="34" charset="-122"/>
                <a:cs typeface="Calibri" pitchFamily="34" charset="-120"/>
              </a:rPr>
              <a:t>MPG 4-6% </a:t>
            </a:r>
            <a:r>
              <a:rPr lang="en-US" sz="1050" dirty="0">
                <a:solidFill>
                  <a:srgbClr val="111827"/>
                </a:solidFill>
                <a:latin typeface="Calibri" pitchFamily="34" charset="0"/>
                <a:ea typeface="Calibri" pitchFamily="34" charset="-122"/>
                <a:cs typeface="Calibri" pitchFamily="34" charset="-120"/>
              </a:rPr>
              <a:t>above average in 3-10 games pre-injury</a:t>
            </a:r>
            <a:endParaRPr lang="en-US" sz="1050" dirty="0"/>
          </a:p>
        </p:txBody>
      </p:sp>
      <p:sp>
        <p:nvSpPr>
          <p:cNvPr id="11" name="Shape 9"/>
          <p:cNvSpPr/>
          <p:nvPr/>
        </p:nvSpPr>
        <p:spPr>
          <a:xfrm>
            <a:off x="3189224" y="909788"/>
            <a:ext cx="2798064" cy="320040"/>
          </a:xfrm>
          <a:prstGeom prst="rect">
            <a:avLst/>
          </a:prstGeom>
          <a:solidFill>
            <a:srgbClr val="0D9488"/>
          </a:solidFill>
          <a:ln w="12700">
            <a:solidFill>
              <a:srgbClr val="0D9488"/>
            </a:solidFill>
            <a:prstDash val="solid"/>
          </a:ln>
        </p:spPr>
        <p:txBody>
          <a:bodyPr/>
          <a:lstStyle/>
          <a:p>
            <a:endParaRPr lang="en-US"/>
          </a:p>
        </p:txBody>
      </p:sp>
      <p:sp>
        <p:nvSpPr>
          <p:cNvPr id="12" name="Text 10"/>
          <p:cNvSpPr/>
          <p:nvPr/>
        </p:nvSpPr>
        <p:spPr>
          <a:xfrm>
            <a:off x="3189224" y="909788"/>
            <a:ext cx="2798064" cy="32004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Schedule &amp; Recovery/Training</a:t>
            </a:r>
            <a:endParaRPr lang="en-US" sz="1250" dirty="0"/>
          </a:p>
        </p:txBody>
      </p:sp>
      <p:sp>
        <p:nvSpPr>
          <p:cNvPr id="15" name="Text 13"/>
          <p:cNvSpPr/>
          <p:nvPr/>
        </p:nvSpPr>
        <p:spPr>
          <a:xfrm>
            <a:off x="3262376" y="1383704"/>
            <a:ext cx="2651760" cy="530352"/>
          </a:xfrm>
          <a:prstGeom prst="rect">
            <a:avLst/>
          </a:prstGeom>
          <a:noFill/>
          <a:ln/>
        </p:spPr>
        <p:txBody>
          <a:bodyPr wrap="square" rtlCol="0" anchor="ctr"/>
          <a:lstStyle/>
          <a:p>
            <a:pPr>
              <a:buSzPct val="100000"/>
            </a:pPr>
            <a:r>
              <a:rPr lang="en-US" sz="1050" dirty="0">
                <a:solidFill>
                  <a:srgbClr val="111827"/>
                </a:solidFill>
                <a:latin typeface="Calibri" pitchFamily="34" charset="0"/>
                <a:ea typeface="Calibri" pitchFamily="34" charset="-122"/>
                <a:cs typeface="Calibri" pitchFamily="34" charset="-120"/>
              </a:rPr>
              <a:t>Cook (2022): B2B β=</a:t>
            </a:r>
            <a:r>
              <a:rPr lang="en-US" sz="1050" b="1" dirty="0">
                <a:solidFill>
                  <a:srgbClr val="111827"/>
                </a:solidFill>
                <a:latin typeface="Calibri" pitchFamily="34" charset="0"/>
                <a:ea typeface="Calibri" pitchFamily="34" charset="-122"/>
                <a:cs typeface="Calibri" pitchFamily="34" charset="-120"/>
              </a:rPr>
              <a:t>−2.51</a:t>
            </a:r>
            <a:r>
              <a:rPr lang="en-US" sz="1050" dirty="0">
                <a:solidFill>
                  <a:srgbClr val="111827"/>
                </a:solidFill>
                <a:latin typeface="Calibri" pitchFamily="34" charset="0"/>
                <a:ea typeface="Calibri" pitchFamily="34" charset="-122"/>
                <a:cs typeface="Calibri" pitchFamily="34" charset="-120"/>
              </a:rPr>
              <a:t>; travel β=</a:t>
            </a:r>
            <a:r>
              <a:rPr lang="en-US" sz="1050" b="1" dirty="0">
                <a:solidFill>
                  <a:srgbClr val="111827"/>
                </a:solidFill>
                <a:latin typeface="Calibri" pitchFamily="34" charset="0"/>
                <a:ea typeface="Calibri" pitchFamily="34" charset="-122"/>
                <a:cs typeface="Calibri" pitchFamily="34" charset="-120"/>
              </a:rPr>
              <a:t>−0.68</a:t>
            </a:r>
            <a:r>
              <a:rPr lang="en-US" sz="1050" dirty="0">
                <a:solidFill>
                  <a:srgbClr val="111827"/>
                </a:solidFill>
                <a:latin typeface="Calibri" pitchFamily="34" charset="0"/>
                <a:ea typeface="Calibri" pitchFamily="34" charset="-122"/>
                <a:cs typeface="Calibri" pitchFamily="34" charset="-120"/>
              </a:rPr>
              <a:t>; effects compound</a:t>
            </a:r>
            <a:endParaRPr lang="en-US" sz="1050" dirty="0"/>
          </a:p>
        </p:txBody>
      </p:sp>
      <p:sp>
        <p:nvSpPr>
          <p:cNvPr id="17" name="Text 15"/>
          <p:cNvSpPr/>
          <p:nvPr/>
        </p:nvSpPr>
        <p:spPr>
          <a:xfrm>
            <a:off x="3244088" y="2151702"/>
            <a:ext cx="2651760" cy="530352"/>
          </a:xfrm>
          <a:prstGeom prst="rect">
            <a:avLst/>
          </a:prstGeom>
          <a:noFill/>
          <a:ln/>
        </p:spPr>
        <p:txBody>
          <a:bodyPr wrap="square" rtlCol="0" anchor="ctr"/>
          <a:lstStyle/>
          <a:p>
            <a:pPr>
              <a:buSzPct val="100000"/>
            </a:pPr>
            <a:r>
              <a:rPr lang="en-US" sz="1050" dirty="0">
                <a:solidFill>
                  <a:srgbClr val="111827"/>
                </a:solidFill>
                <a:latin typeface="Calibri" pitchFamily="34" charset="0"/>
                <a:ea typeface="Calibri" pitchFamily="34" charset="-122"/>
                <a:cs typeface="Calibri" pitchFamily="34" charset="-120"/>
              </a:rPr>
              <a:t>Mesocycle </a:t>
            </a:r>
            <a:r>
              <a:rPr lang="en-US" sz="1050" b="1" dirty="0">
                <a:solidFill>
                  <a:srgbClr val="111827"/>
                </a:solidFill>
                <a:latin typeface="Calibri" pitchFamily="34" charset="0"/>
                <a:ea typeface="Calibri" pitchFamily="34" charset="-122"/>
                <a:cs typeface="Calibri" pitchFamily="34" charset="-120"/>
              </a:rPr>
              <a:t>timing drives risk</a:t>
            </a:r>
            <a:r>
              <a:rPr lang="en-US" sz="1050" dirty="0">
                <a:solidFill>
                  <a:srgbClr val="111827"/>
                </a:solidFill>
                <a:latin typeface="Calibri" pitchFamily="34" charset="0"/>
                <a:ea typeface="Calibri" pitchFamily="34" charset="-122"/>
                <a:cs typeface="Calibri" pitchFamily="34" charset="-120"/>
              </a:rPr>
              <a:t>, not program design (Caparros 2022)</a:t>
            </a:r>
            <a:endParaRPr lang="en-US" sz="1050" dirty="0"/>
          </a:p>
        </p:txBody>
      </p:sp>
      <p:sp>
        <p:nvSpPr>
          <p:cNvPr id="18" name="Shape 16"/>
          <p:cNvSpPr/>
          <p:nvPr/>
        </p:nvSpPr>
        <p:spPr>
          <a:xfrm>
            <a:off x="6179312" y="909788"/>
            <a:ext cx="2798064" cy="320040"/>
          </a:xfrm>
          <a:prstGeom prst="rect">
            <a:avLst/>
          </a:prstGeom>
          <a:solidFill>
            <a:srgbClr val="D97706"/>
          </a:solidFill>
          <a:ln w="12700">
            <a:solidFill>
              <a:srgbClr val="D97706"/>
            </a:solidFill>
            <a:prstDash val="solid"/>
          </a:ln>
        </p:spPr>
        <p:txBody>
          <a:bodyPr/>
          <a:lstStyle/>
          <a:p>
            <a:endParaRPr lang="en-US"/>
          </a:p>
        </p:txBody>
      </p:sp>
      <p:sp>
        <p:nvSpPr>
          <p:cNvPr id="19" name="Text 17"/>
          <p:cNvSpPr/>
          <p:nvPr/>
        </p:nvSpPr>
        <p:spPr>
          <a:xfrm>
            <a:off x="6179312" y="909788"/>
            <a:ext cx="2798064" cy="32004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Player Vulnerability</a:t>
            </a:r>
            <a:endParaRPr lang="en-US" sz="1250" dirty="0"/>
          </a:p>
        </p:txBody>
      </p:sp>
      <p:sp>
        <p:nvSpPr>
          <p:cNvPr id="22" name="Text 20"/>
          <p:cNvSpPr/>
          <p:nvPr/>
        </p:nvSpPr>
        <p:spPr>
          <a:xfrm>
            <a:off x="6252464" y="1384176"/>
            <a:ext cx="2651760" cy="530352"/>
          </a:xfrm>
          <a:prstGeom prst="rect">
            <a:avLst/>
          </a:prstGeom>
          <a:noFill/>
          <a:ln/>
        </p:spPr>
        <p:txBody>
          <a:bodyPr wrap="square" rtlCol="0" anchor="ctr"/>
          <a:lstStyle/>
          <a:p>
            <a:pPr>
              <a:buSzPct val="100000"/>
            </a:pPr>
            <a:r>
              <a:rPr lang="en-US" sz="1050" dirty="0">
                <a:solidFill>
                  <a:srgbClr val="111827"/>
                </a:solidFill>
                <a:latin typeface="Calibri" pitchFamily="34" charset="0"/>
                <a:ea typeface="Calibri" pitchFamily="34" charset="-122"/>
                <a:cs typeface="Calibri" pitchFamily="34" charset="-120"/>
              </a:rPr>
              <a:t>Martin (2021): </a:t>
            </a:r>
            <a:r>
              <a:rPr lang="en-US" sz="1050" b="1" dirty="0">
                <a:solidFill>
                  <a:srgbClr val="111827"/>
                </a:solidFill>
                <a:latin typeface="Calibri" pitchFamily="34" charset="0"/>
                <a:ea typeface="Calibri" pitchFamily="34" charset="-122"/>
                <a:cs typeface="Calibri" pitchFamily="34" charset="-120"/>
              </a:rPr>
              <a:t>cumulative</a:t>
            </a:r>
            <a:r>
              <a:rPr lang="en-US" sz="1050" dirty="0">
                <a:solidFill>
                  <a:srgbClr val="111827"/>
                </a:solidFill>
                <a:latin typeface="Calibri" pitchFamily="34" charset="0"/>
                <a:ea typeface="Calibri" pitchFamily="34" charset="-122"/>
                <a:cs typeface="Calibri" pitchFamily="34" charset="-120"/>
              </a:rPr>
              <a:t> </a:t>
            </a:r>
            <a:r>
              <a:rPr lang="en-US" sz="1050" b="1" dirty="0">
                <a:solidFill>
                  <a:srgbClr val="111827"/>
                </a:solidFill>
                <a:latin typeface="Calibri" pitchFamily="34" charset="0"/>
                <a:ea typeface="Calibri" pitchFamily="34" charset="-122"/>
                <a:cs typeface="Calibri" pitchFamily="34" charset="-120"/>
              </a:rPr>
              <a:t>burden</a:t>
            </a:r>
            <a:r>
              <a:rPr lang="en-US" sz="1050" dirty="0">
                <a:solidFill>
                  <a:srgbClr val="111827"/>
                </a:solidFill>
                <a:latin typeface="Calibri" pitchFamily="34" charset="0"/>
                <a:ea typeface="Calibri" pitchFamily="34" charset="-122"/>
                <a:cs typeface="Calibri" pitchFamily="34" charset="-120"/>
              </a:rPr>
              <a:t> drives career shortening more than single events</a:t>
            </a:r>
            <a:endParaRPr lang="en-US" sz="1050" dirty="0"/>
          </a:p>
        </p:txBody>
      </p:sp>
      <p:sp>
        <p:nvSpPr>
          <p:cNvPr id="24" name="Text 22"/>
          <p:cNvSpPr/>
          <p:nvPr/>
        </p:nvSpPr>
        <p:spPr>
          <a:xfrm>
            <a:off x="6252464" y="2151702"/>
            <a:ext cx="2651760" cy="530352"/>
          </a:xfrm>
          <a:prstGeom prst="rect">
            <a:avLst/>
          </a:prstGeom>
          <a:noFill/>
          <a:ln/>
        </p:spPr>
        <p:txBody>
          <a:bodyPr wrap="square" rtlCol="0" anchor="ctr"/>
          <a:lstStyle/>
          <a:p>
            <a:pPr>
              <a:buSzPct val="100000"/>
            </a:pPr>
            <a:r>
              <a:rPr lang="en-US" sz="1050" dirty="0">
                <a:solidFill>
                  <a:srgbClr val="111827"/>
                </a:solidFill>
                <a:latin typeface="Calibri" pitchFamily="34" charset="0"/>
                <a:ea typeface="Calibri" pitchFamily="34" charset="-122"/>
                <a:cs typeface="Calibri" pitchFamily="34" charset="-120"/>
              </a:rPr>
              <a:t>Chan (2024) systematic review: </a:t>
            </a:r>
            <a:r>
              <a:rPr lang="en-US" sz="1050" b="1" dirty="0">
                <a:solidFill>
                  <a:srgbClr val="111827"/>
                </a:solidFill>
                <a:latin typeface="Calibri" pitchFamily="34" charset="0"/>
                <a:ea typeface="Calibri" pitchFamily="34" charset="-122"/>
                <a:cs typeface="Calibri" pitchFamily="34" charset="-120"/>
              </a:rPr>
              <a:t>11/14 </a:t>
            </a:r>
            <a:r>
              <a:rPr lang="en-US" sz="1050" dirty="0">
                <a:solidFill>
                  <a:srgbClr val="111827"/>
                </a:solidFill>
                <a:latin typeface="Calibri" pitchFamily="34" charset="0"/>
                <a:ea typeface="Calibri" pitchFamily="34" charset="-122"/>
                <a:cs typeface="Calibri" pitchFamily="34" charset="-120"/>
              </a:rPr>
              <a:t>studies found </a:t>
            </a:r>
            <a:r>
              <a:rPr lang="en-US" sz="1050" b="1" dirty="0">
                <a:solidFill>
                  <a:srgbClr val="111827"/>
                </a:solidFill>
                <a:latin typeface="Calibri" pitchFamily="34" charset="0"/>
                <a:ea typeface="Calibri" pitchFamily="34" charset="-122"/>
                <a:cs typeface="Calibri" pitchFamily="34" charset="-120"/>
              </a:rPr>
              <a:t>load-injury</a:t>
            </a:r>
            <a:r>
              <a:rPr lang="en-US" sz="1050" dirty="0">
                <a:solidFill>
                  <a:srgbClr val="111827"/>
                </a:solidFill>
                <a:latin typeface="Calibri" pitchFamily="34" charset="0"/>
                <a:ea typeface="Calibri" pitchFamily="34" charset="-122"/>
                <a:cs typeface="Calibri" pitchFamily="34" charset="-120"/>
              </a:rPr>
              <a:t> link</a:t>
            </a:r>
            <a:endParaRPr lang="en-US" sz="1050" dirty="0"/>
          </a:p>
        </p:txBody>
      </p:sp>
      <p:sp>
        <p:nvSpPr>
          <p:cNvPr id="25" name="Shape 23"/>
          <p:cNvSpPr/>
          <p:nvPr/>
        </p:nvSpPr>
        <p:spPr>
          <a:xfrm>
            <a:off x="199136" y="3744000"/>
            <a:ext cx="8741664" cy="621792"/>
          </a:xfrm>
          <a:prstGeom prst="rect">
            <a:avLst/>
          </a:prstGeom>
          <a:solidFill>
            <a:srgbClr val="FFFBEB"/>
          </a:solidFill>
          <a:ln w="25400">
            <a:solidFill>
              <a:srgbClr val="D97706"/>
            </a:solidFill>
            <a:prstDash val="solid"/>
          </a:ln>
        </p:spPr>
        <p:txBody>
          <a:bodyPr/>
          <a:lstStyle/>
          <a:p>
            <a:endParaRPr lang="en-US"/>
          </a:p>
        </p:txBody>
      </p:sp>
      <p:sp>
        <p:nvSpPr>
          <p:cNvPr id="26" name="Text 24"/>
          <p:cNvSpPr/>
          <p:nvPr/>
        </p:nvSpPr>
        <p:spPr>
          <a:xfrm>
            <a:off x="345440" y="3744000"/>
            <a:ext cx="8449056" cy="621792"/>
          </a:xfrm>
          <a:prstGeom prst="rect">
            <a:avLst/>
          </a:prstGeom>
          <a:noFill/>
          <a:ln/>
        </p:spPr>
        <p:txBody>
          <a:bodyPr wrap="square" rtlCol="0" anchor="ctr"/>
          <a:lstStyle/>
          <a:p>
            <a:pPr marL="0" indent="0">
              <a:buNone/>
            </a:pPr>
            <a:r>
              <a:rPr lang="en-US" sz="1150" b="1" dirty="0">
                <a:solidFill>
                  <a:srgbClr val="D97706"/>
                </a:solidFill>
                <a:latin typeface="Calibri" pitchFamily="34" charset="0"/>
                <a:ea typeface="Calibri" pitchFamily="34" charset="-122"/>
                <a:cs typeface="Calibri" pitchFamily="34" charset="-120"/>
              </a:rPr>
              <a:t>Critical gap - </a:t>
            </a:r>
            <a:r>
              <a:rPr lang="en-US" sz="1150" dirty="0">
                <a:solidFill>
                  <a:srgbClr val="111827"/>
                </a:solidFill>
                <a:latin typeface="Calibri" pitchFamily="34" charset="0"/>
                <a:ea typeface="Calibri" pitchFamily="34" charset="-122"/>
                <a:cs typeface="Calibri" pitchFamily="34" charset="-120"/>
              </a:rPr>
              <a:t>Chan et al. (2024) systematic review: no basketball study has modelled injury as an evolving hazard. Survival analysis integrating calendar congestion and travel load is explicitly called for. Hagglund et al. (2006) demonstrated this in football (HR 2.7 for prior injury). </a:t>
            </a:r>
            <a:r>
              <a:rPr lang="en-US" sz="1150" b="1" dirty="0">
                <a:solidFill>
                  <a:srgbClr val="1A3A5C"/>
                </a:solidFill>
                <a:latin typeface="Calibri" pitchFamily="34" charset="0"/>
                <a:ea typeface="Calibri" pitchFamily="34" charset="-122"/>
                <a:cs typeface="Calibri" pitchFamily="34" charset="-120"/>
              </a:rPr>
              <a:t>This thesis applies that framework to basketball for the first time.</a:t>
            </a:r>
            <a:endParaRPr lang="en-US" sz="1150" dirty="0"/>
          </a:p>
        </p:txBody>
      </p:sp>
      <p:grpSp>
        <p:nvGrpSpPr>
          <p:cNvPr id="27" name="Group 26">
            <a:extLst>
              <a:ext uri="{FF2B5EF4-FFF2-40B4-BE49-F238E27FC236}">
                <a16:creationId xmlns:a16="http://schemas.microsoft.com/office/drawing/2014/main" id="{FF007306-A038-206F-12A6-D22C4A7CE265}"/>
              </a:ext>
            </a:extLst>
          </p:cNvPr>
          <p:cNvGrpSpPr/>
          <p:nvPr/>
        </p:nvGrpSpPr>
        <p:grpSpPr>
          <a:xfrm>
            <a:off x="8569076" y="52588"/>
            <a:ext cx="509767" cy="509767"/>
            <a:chOff x="7241964" y="2782711"/>
            <a:chExt cx="828823" cy="828823"/>
          </a:xfrm>
        </p:grpSpPr>
        <p:sp>
          <p:nvSpPr>
            <p:cNvPr id="28" name="Shape 2">
              <a:extLst>
                <a:ext uri="{FF2B5EF4-FFF2-40B4-BE49-F238E27FC236}">
                  <a16:creationId xmlns:a16="http://schemas.microsoft.com/office/drawing/2014/main" id="{EAEDDD20-22CC-483C-4E64-F078A6C05EC4}"/>
                </a:ext>
              </a:extLst>
            </p:cNvPr>
            <p:cNvSpPr/>
            <p:nvPr/>
          </p:nvSpPr>
          <p:spPr>
            <a:xfrm flipV="1">
              <a:off x="7288447" y="2820973"/>
              <a:ext cx="739305" cy="739305"/>
            </a:xfrm>
            <a:prstGeom prst="ellipse">
              <a:avLst/>
            </a:prstGeom>
            <a:solidFill>
              <a:schemeClr val="accent2">
                <a:alpha val="35000"/>
              </a:schemeClr>
            </a:solidFill>
            <a:ln w="12700">
              <a:noFill/>
              <a:prstDash val="solid"/>
            </a:ln>
          </p:spPr>
          <p:txBody>
            <a:bodyPr/>
            <a:lstStyle/>
            <a:p>
              <a:endParaRPr lang="en-US"/>
            </a:p>
          </p:txBody>
        </p:sp>
        <p:pic>
          <p:nvPicPr>
            <p:cNvPr id="29" name="Picture 6" descr="Basketball Generic Detailed Outline icon | Magnific (formerly Magnific)">
              <a:extLst>
                <a:ext uri="{FF2B5EF4-FFF2-40B4-BE49-F238E27FC236}">
                  <a16:creationId xmlns:a16="http://schemas.microsoft.com/office/drawing/2014/main" id="{CAB7D01B-390F-B8DF-F662-932957B52D8F}"/>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a:stretch>
              <a:fillRect/>
            </a:stretch>
          </p:blipFill>
          <p:spPr bwMode="auto">
            <a:xfrm>
              <a:off x="7241964" y="2782711"/>
              <a:ext cx="828823" cy="828823"/>
            </a:xfrm>
            <a:prstGeom prst="rect">
              <a:avLst/>
            </a:prstGeom>
            <a:noFill/>
            <a:extLst>
              <a:ext uri="{909E8E84-426E-40DD-AFC4-6F175D3DCCD1}">
                <a14:hiddenFill xmlns:a14="http://schemas.microsoft.com/office/drawing/2010/main">
                  <a:solidFill>
                    <a:srgbClr val="FFFFFF"/>
                  </a:solidFill>
                </a14:hiddenFill>
              </a:ext>
            </a:extLst>
          </p:spPr>
        </p:pic>
      </p:grpSp>
      <p:sp>
        <p:nvSpPr>
          <p:cNvPr id="30" name="Shape 5">
            <a:extLst>
              <a:ext uri="{FF2B5EF4-FFF2-40B4-BE49-F238E27FC236}">
                <a16:creationId xmlns:a16="http://schemas.microsoft.com/office/drawing/2014/main" id="{71579EAD-28C7-9B11-7A7F-FCF129A97E85}"/>
              </a:ext>
            </a:extLst>
          </p:cNvPr>
          <p:cNvSpPr/>
          <p:nvPr/>
        </p:nvSpPr>
        <p:spPr>
          <a:xfrm>
            <a:off x="0" y="608076"/>
            <a:ext cx="9144000" cy="45719"/>
          </a:xfrm>
          <a:prstGeom prst="rect">
            <a:avLst/>
          </a:prstGeom>
          <a:solidFill>
            <a:schemeClr val="accent2"/>
          </a:solidFill>
          <a:ln w="12700">
            <a:noFill/>
            <a:prstDash val="solid"/>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AED69-3D1B-4F75-8CB7-1FBD09F3C762}"/>
            </a:ext>
          </a:extLst>
        </p:cNvPr>
        <p:cNvGrpSpPr/>
        <p:nvPr/>
      </p:nvGrpSpPr>
      <p:grpSpPr>
        <a:xfrm>
          <a:off x="0" y="0"/>
          <a:ext cx="0" cy="0"/>
          <a:chOff x="0" y="0"/>
          <a:chExt cx="0" cy="0"/>
        </a:xfrm>
      </p:grpSpPr>
      <p:sp>
        <p:nvSpPr>
          <p:cNvPr id="105" name="Shape 0">
            <a:extLst>
              <a:ext uri="{FF2B5EF4-FFF2-40B4-BE49-F238E27FC236}">
                <a16:creationId xmlns:a16="http://schemas.microsoft.com/office/drawing/2014/main" id="{71B57BAC-75DB-2478-F663-BBCAAB59DCF6}"/>
              </a:ext>
            </a:extLst>
          </p:cNvPr>
          <p:cNvSpPr/>
          <p:nvPr/>
        </p:nvSpPr>
        <p:spPr>
          <a:xfrm>
            <a:off x="0" y="0"/>
            <a:ext cx="9144000" cy="640080"/>
          </a:xfrm>
          <a:prstGeom prst="rect">
            <a:avLst/>
          </a:prstGeom>
          <a:solidFill>
            <a:srgbClr val="1A3A5C"/>
          </a:solidFill>
          <a:ln w="12700">
            <a:solidFill>
              <a:srgbClr val="1A3A5C"/>
            </a:solidFill>
            <a:prstDash val="solid"/>
          </a:ln>
        </p:spPr>
        <p:txBody>
          <a:bodyPr/>
          <a:lstStyle/>
          <a:p>
            <a:endParaRPr lang="en-US"/>
          </a:p>
        </p:txBody>
      </p:sp>
      <p:sp>
        <p:nvSpPr>
          <p:cNvPr id="106" name="Shape 5">
            <a:extLst>
              <a:ext uri="{FF2B5EF4-FFF2-40B4-BE49-F238E27FC236}">
                <a16:creationId xmlns:a16="http://schemas.microsoft.com/office/drawing/2014/main" id="{1A6B384C-CE6D-0A8D-27BC-219795269DAA}"/>
              </a:ext>
            </a:extLst>
          </p:cNvPr>
          <p:cNvSpPr/>
          <p:nvPr/>
        </p:nvSpPr>
        <p:spPr>
          <a:xfrm>
            <a:off x="0" y="608429"/>
            <a:ext cx="9144000" cy="45719"/>
          </a:xfrm>
          <a:prstGeom prst="rect">
            <a:avLst/>
          </a:prstGeom>
          <a:solidFill>
            <a:schemeClr val="accent2"/>
          </a:solidFill>
          <a:ln w="12700">
            <a:noFill/>
            <a:prstDash val="solid"/>
          </a:ln>
        </p:spPr>
        <p:txBody>
          <a:bodyPr/>
          <a:lstStyle/>
          <a:p>
            <a:endParaRPr lang="en-US"/>
          </a:p>
        </p:txBody>
      </p:sp>
      <p:grpSp>
        <p:nvGrpSpPr>
          <p:cNvPr id="109" name="Group 108">
            <a:extLst>
              <a:ext uri="{FF2B5EF4-FFF2-40B4-BE49-F238E27FC236}">
                <a16:creationId xmlns:a16="http://schemas.microsoft.com/office/drawing/2014/main" id="{D3E317C7-1A0D-1AC3-674E-3BC17D5040B4}"/>
              </a:ext>
            </a:extLst>
          </p:cNvPr>
          <p:cNvGrpSpPr/>
          <p:nvPr/>
        </p:nvGrpSpPr>
        <p:grpSpPr>
          <a:xfrm>
            <a:off x="8569076" y="52588"/>
            <a:ext cx="509767" cy="509767"/>
            <a:chOff x="7241964" y="2782711"/>
            <a:chExt cx="828823" cy="828823"/>
          </a:xfrm>
        </p:grpSpPr>
        <p:sp>
          <p:nvSpPr>
            <p:cNvPr id="111" name="Shape 2">
              <a:extLst>
                <a:ext uri="{FF2B5EF4-FFF2-40B4-BE49-F238E27FC236}">
                  <a16:creationId xmlns:a16="http://schemas.microsoft.com/office/drawing/2014/main" id="{65E6FCEF-C857-A3AA-03CB-182A6BDFAC3E}"/>
                </a:ext>
              </a:extLst>
            </p:cNvPr>
            <p:cNvSpPr/>
            <p:nvPr/>
          </p:nvSpPr>
          <p:spPr>
            <a:xfrm flipV="1">
              <a:off x="7288447" y="2820973"/>
              <a:ext cx="739305" cy="739305"/>
            </a:xfrm>
            <a:prstGeom prst="ellipse">
              <a:avLst/>
            </a:prstGeom>
            <a:solidFill>
              <a:schemeClr val="accent2">
                <a:alpha val="35000"/>
              </a:schemeClr>
            </a:solidFill>
            <a:ln w="12700">
              <a:noFill/>
              <a:prstDash val="solid"/>
            </a:ln>
          </p:spPr>
          <p:txBody>
            <a:bodyPr/>
            <a:lstStyle/>
            <a:p>
              <a:endParaRPr lang="en-US"/>
            </a:p>
          </p:txBody>
        </p:sp>
        <p:pic>
          <p:nvPicPr>
            <p:cNvPr id="112" name="Picture 6" descr="Basketball Generic Detailed Outline icon | Magnific (formerly Magnific)">
              <a:extLst>
                <a:ext uri="{FF2B5EF4-FFF2-40B4-BE49-F238E27FC236}">
                  <a16:creationId xmlns:a16="http://schemas.microsoft.com/office/drawing/2014/main" id="{C450CAFF-9F67-6371-D5D9-5B4789FD3BA9}"/>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a:stretch>
              <a:fillRect/>
            </a:stretch>
          </p:blipFill>
          <p:spPr bwMode="auto">
            <a:xfrm>
              <a:off x="7241964" y="2782711"/>
              <a:ext cx="828823" cy="828823"/>
            </a:xfrm>
            <a:prstGeom prst="rect">
              <a:avLst/>
            </a:prstGeom>
            <a:noFill/>
            <a:extLst>
              <a:ext uri="{909E8E84-426E-40DD-AFC4-6F175D3DCCD1}">
                <a14:hiddenFill xmlns:a14="http://schemas.microsoft.com/office/drawing/2010/main">
                  <a:solidFill>
                    <a:srgbClr val="FFFFFF"/>
                  </a:solidFill>
                </a14:hiddenFill>
              </a:ext>
            </a:extLst>
          </p:spPr>
        </p:pic>
      </p:grpSp>
      <p:sp>
        <p:nvSpPr>
          <p:cNvPr id="103" name="Content Placeholder 102">
            <a:extLst>
              <a:ext uri="{FF2B5EF4-FFF2-40B4-BE49-F238E27FC236}">
                <a16:creationId xmlns:a16="http://schemas.microsoft.com/office/drawing/2014/main" id="{574331AC-7902-F380-D4A7-7B99B2D29A23}"/>
              </a:ext>
            </a:extLst>
          </p:cNvPr>
          <p:cNvSpPr>
            <a:spLocks noGrp="1"/>
          </p:cNvSpPr>
          <p:nvPr>
            <p:ph idx="4294967295"/>
          </p:nvPr>
        </p:nvSpPr>
        <p:spPr>
          <a:xfrm>
            <a:off x="0" y="0"/>
            <a:ext cx="0" cy="0"/>
          </a:xfrm>
        </p:spPr>
        <p:txBody>
          <a:bodyPr/>
          <a:lstStyle/>
          <a:p>
            <a:pPr algn="ctr"/>
            <a:endParaRPr lang="en-US" dirty="0"/>
          </a:p>
          <a:p>
            <a:pPr algn="ctr"/>
            <a:endParaRPr lang="en-US" dirty="0"/>
          </a:p>
        </p:txBody>
      </p:sp>
      <p:sp>
        <p:nvSpPr>
          <p:cNvPr id="18" name="Rectangle: Rounded Corners 7">
            <a:extLst>
              <a:ext uri="{FF2B5EF4-FFF2-40B4-BE49-F238E27FC236}">
                <a16:creationId xmlns:a16="http://schemas.microsoft.com/office/drawing/2014/main" id="{B24F2B26-4C39-064D-C14D-A50EE13C1139}"/>
              </a:ext>
            </a:extLst>
          </p:cNvPr>
          <p:cNvSpPr/>
          <p:nvPr/>
        </p:nvSpPr>
        <p:spPr>
          <a:xfrm>
            <a:off x="1623256" y="3222159"/>
            <a:ext cx="903204" cy="438941"/>
          </a:xfrm>
          <a:prstGeom prst="roundRect">
            <a:avLst/>
          </a:prstGeom>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a:t>Injuries</a:t>
            </a:r>
          </a:p>
        </p:txBody>
      </p:sp>
      <p:sp>
        <p:nvSpPr>
          <p:cNvPr id="20" name="Rectangle: Rounded Corners 8">
            <a:extLst>
              <a:ext uri="{FF2B5EF4-FFF2-40B4-BE49-F238E27FC236}">
                <a16:creationId xmlns:a16="http://schemas.microsoft.com/office/drawing/2014/main" id="{181A6073-2A69-7600-10BE-9749333E5EAD}"/>
              </a:ext>
            </a:extLst>
          </p:cNvPr>
          <p:cNvSpPr/>
          <p:nvPr/>
        </p:nvSpPr>
        <p:spPr>
          <a:xfrm>
            <a:off x="1623257" y="2476427"/>
            <a:ext cx="903204" cy="438941"/>
          </a:xfrm>
          <a:prstGeom prst="roundRect">
            <a:avLst/>
          </a:prstGeom>
          <a:ln w="285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sz="1050" dirty="0"/>
              <a:t>Game Schedule</a:t>
            </a:r>
          </a:p>
        </p:txBody>
      </p:sp>
      <p:sp>
        <p:nvSpPr>
          <p:cNvPr id="21" name="Rectangle: Rounded Corners 9">
            <a:extLst>
              <a:ext uri="{FF2B5EF4-FFF2-40B4-BE49-F238E27FC236}">
                <a16:creationId xmlns:a16="http://schemas.microsoft.com/office/drawing/2014/main" id="{53E2E801-020E-B4A0-1EAD-832B96F90837}"/>
              </a:ext>
            </a:extLst>
          </p:cNvPr>
          <p:cNvSpPr/>
          <p:nvPr/>
        </p:nvSpPr>
        <p:spPr>
          <a:xfrm>
            <a:off x="1623256" y="3872826"/>
            <a:ext cx="903204" cy="438941"/>
          </a:xfrm>
          <a:prstGeom prst="roundRect">
            <a:avLst/>
          </a:prstGeom>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sz="1050"/>
              <a:t>Training</a:t>
            </a:r>
          </a:p>
        </p:txBody>
      </p:sp>
      <p:sp>
        <p:nvSpPr>
          <p:cNvPr id="22" name="Rectangle: Rounded Corners 10">
            <a:extLst>
              <a:ext uri="{FF2B5EF4-FFF2-40B4-BE49-F238E27FC236}">
                <a16:creationId xmlns:a16="http://schemas.microsoft.com/office/drawing/2014/main" id="{B95E8117-EE01-891E-F660-4925F944FF02}"/>
              </a:ext>
            </a:extLst>
          </p:cNvPr>
          <p:cNvSpPr/>
          <p:nvPr/>
        </p:nvSpPr>
        <p:spPr>
          <a:xfrm>
            <a:off x="5437168" y="3537773"/>
            <a:ext cx="820184" cy="414381"/>
          </a:xfrm>
          <a:prstGeom prst="roundRect">
            <a:avLst/>
          </a:prstGeom>
          <a:solidFill>
            <a:srgbClr val="ED7D3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sz="600" dirty="0" err="1"/>
              <a:t>nbainjuries</a:t>
            </a:r>
            <a:endParaRPr lang="en-US" sz="600" dirty="0"/>
          </a:p>
        </p:txBody>
      </p:sp>
      <p:sp>
        <p:nvSpPr>
          <p:cNvPr id="23" name="Rectangle: Rounded Corners 11">
            <a:extLst>
              <a:ext uri="{FF2B5EF4-FFF2-40B4-BE49-F238E27FC236}">
                <a16:creationId xmlns:a16="http://schemas.microsoft.com/office/drawing/2014/main" id="{852D83CF-DEB2-ED5B-31B5-AD92896E0693}"/>
              </a:ext>
            </a:extLst>
          </p:cNvPr>
          <p:cNvSpPr/>
          <p:nvPr/>
        </p:nvSpPr>
        <p:spPr>
          <a:xfrm>
            <a:off x="1623256" y="1056982"/>
            <a:ext cx="903204" cy="438941"/>
          </a:xfrm>
          <a:prstGeom prst="roundRect">
            <a:avLst/>
          </a:prstGeom>
          <a:ln w="285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sz="1050"/>
              <a:t>Game Data</a:t>
            </a:r>
          </a:p>
        </p:txBody>
      </p:sp>
      <p:sp>
        <p:nvSpPr>
          <p:cNvPr id="24" name="Rectangle: Rounded Corners 12">
            <a:extLst>
              <a:ext uri="{FF2B5EF4-FFF2-40B4-BE49-F238E27FC236}">
                <a16:creationId xmlns:a16="http://schemas.microsoft.com/office/drawing/2014/main" id="{45B4C7B7-721A-17D1-09D1-9CF5213649DA}"/>
              </a:ext>
            </a:extLst>
          </p:cNvPr>
          <p:cNvSpPr/>
          <p:nvPr/>
        </p:nvSpPr>
        <p:spPr>
          <a:xfrm>
            <a:off x="5437168" y="1608343"/>
            <a:ext cx="820184" cy="414381"/>
          </a:xfrm>
          <a:prstGeom prst="roundRect">
            <a:avLst/>
          </a:prstGeom>
          <a:solidFill>
            <a:srgbClr val="ED7D31"/>
          </a:solidFill>
          <a:ln w="285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sz="600" dirty="0"/>
              <a:t>NBA API</a:t>
            </a:r>
          </a:p>
        </p:txBody>
      </p:sp>
      <p:sp>
        <p:nvSpPr>
          <p:cNvPr id="27" name="Rectangle: Rounded Corners 13">
            <a:extLst>
              <a:ext uri="{FF2B5EF4-FFF2-40B4-BE49-F238E27FC236}">
                <a16:creationId xmlns:a16="http://schemas.microsoft.com/office/drawing/2014/main" id="{AE3EB2A0-E976-025E-14D5-711C4A8711A3}"/>
              </a:ext>
            </a:extLst>
          </p:cNvPr>
          <p:cNvSpPr/>
          <p:nvPr/>
        </p:nvSpPr>
        <p:spPr>
          <a:xfrm>
            <a:off x="3573496" y="962598"/>
            <a:ext cx="737505" cy="350794"/>
          </a:xfrm>
          <a:prstGeom prst="roundRect">
            <a:avLst/>
          </a:prstGeom>
          <a:solidFill>
            <a:schemeClr val="accent6"/>
          </a:solidFill>
          <a:ln w="285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sz="600" dirty="0"/>
              <a:t>Game movement &amp; minutes</a:t>
            </a:r>
            <a:endParaRPr lang="en-US" sz="1050" dirty="0"/>
          </a:p>
        </p:txBody>
      </p:sp>
      <p:sp>
        <p:nvSpPr>
          <p:cNvPr id="28" name="Rectangle: Rounded Corners 14">
            <a:extLst>
              <a:ext uri="{FF2B5EF4-FFF2-40B4-BE49-F238E27FC236}">
                <a16:creationId xmlns:a16="http://schemas.microsoft.com/office/drawing/2014/main" id="{F8CF8BC4-C40F-43B7-DCF9-C6A9E8A22CB6}"/>
              </a:ext>
            </a:extLst>
          </p:cNvPr>
          <p:cNvSpPr/>
          <p:nvPr/>
        </p:nvSpPr>
        <p:spPr>
          <a:xfrm>
            <a:off x="3554601" y="3842761"/>
            <a:ext cx="756400" cy="325487"/>
          </a:xfrm>
          <a:prstGeom prst="roundRect">
            <a:avLst/>
          </a:prstGeom>
          <a:solidFill>
            <a:schemeClr val="accent6"/>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sz="600" dirty="0"/>
              <a:t>Injury Reports</a:t>
            </a:r>
            <a:endParaRPr lang="en-US" sz="1050" dirty="0"/>
          </a:p>
        </p:txBody>
      </p:sp>
      <p:sp>
        <p:nvSpPr>
          <p:cNvPr id="31" name="Rectangle: Rounded Corners 15">
            <a:extLst>
              <a:ext uri="{FF2B5EF4-FFF2-40B4-BE49-F238E27FC236}">
                <a16:creationId xmlns:a16="http://schemas.microsoft.com/office/drawing/2014/main" id="{C0F4323F-A4B8-D106-CF0E-9D0716623244}"/>
              </a:ext>
            </a:extLst>
          </p:cNvPr>
          <p:cNvSpPr/>
          <p:nvPr/>
        </p:nvSpPr>
        <p:spPr>
          <a:xfrm>
            <a:off x="70240" y="2483759"/>
            <a:ext cx="903204" cy="438941"/>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sz="1050" b="1"/>
              <a:t>RISK MODEL</a:t>
            </a:r>
          </a:p>
        </p:txBody>
      </p:sp>
      <p:sp>
        <p:nvSpPr>
          <p:cNvPr id="32" name="Rectangle: Rounded Corners 24">
            <a:extLst>
              <a:ext uri="{FF2B5EF4-FFF2-40B4-BE49-F238E27FC236}">
                <a16:creationId xmlns:a16="http://schemas.microsoft.com/office/drawing/2014/main" id="{3016720E-4DD2-E98C-EEAE-E7DAF74C75AD}"/>
              </a:ext>
            </a:extLst>
          </p:cNvPr>
          <p:cNvSpPr/>
          <p:nvPr/>
        </p:nvSpPr>
        <p:spPr>
          <a:xfrm>
            <a:off x="3573496" y="2878474"/>
            <a:ext cx="771407" cy="320644"/>
          </a:xfrm>
          <a:prstGeom prst="roundRect">
            <a:avLst/>
          </a:prstGeom>
          <a:solidFill>
            <a:schemeClr val="accent6"/>
          </a:solidFill>
          <a:ln w="285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sz="600" dirty="0"/>
              <a:t>Rest days</a:t>
            </a:r>
          </a:p>
        </p:txBody>
      </p:sp>
      <p:sp>
        <p:nvSpPr>
          <p:cNvPr id="35" name="Rectangle: Rounded Corners 25">
            <a:extLst>
              <a:ext uri="{FF2B5EF4-FFF2-40B4-BE49-F238E27FC236}">
                <a16:creationId xmlns:a16="http://schemas.microsoft.com/office/drawing/2014/main" id="{FE7F2242-6493-CD76-FE19-23D5C491E19F}"/>
              </a:ext>
            </a:extLst>
          </p:cNvPr>
          <p:cNvSpPr/>
          <p:nvPr/>
        </p:nvSpPr>
        <p:spPr>
          <a:xfrm>
            <a:off x="3358143" y="4327169"/>
            <a:ext cx="1191358" cy="409195"/>
          </a:xfrm>
          <a:prstGeom prst="roundRect">
            <a:avLst/>
          </a:prstGeom>
          <a:solidFill>
            <a:schemeClr val="accent6"/>
          </a:solid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sz="600" dirty="0"/>
              <a:t>Online Published </a:t>
            </a:r>
            <a:r>
              <a:rPr lang="en-US" sz="600"/>
              <a:t>Estimates of training types</a:t>
            </a:r>
            <a:endParaRPr lang="en-US" sz="1050" dirty="0" err="1"/>
          </a:p>
        </p:txBody>
      </p:sp>
      <p:sp>
        <p:nvSpPr>
          <p:cNvPr id="36" name="Rectangle: Rounded Corners 28">
            <a:extLst>
              <a:ext uri="{FF2B5EF4-FFF2-40B4-BE49-F238E27FC236}">
                <a16:creationId xmlns:a16="http://schemas.microsoft.com/office/drawing/2014/main" id="{BE9F450B-B2E9-01F5-B090-61D50BBCE34E}"/>
              </a:ext>
            </a:extLst>
          </p:cNvPr>
          <p:cNvSpPr/>
          <p:nvPr/>
        </p:nvSpPr>
        <p:spPr>
          <a:xfrm>
            <a:off x="3580570" y="2442867"/>
            <a:ext cx="747191" cy="320644"/>
          </a:xfrm>
          <a:prstGeom prst="roundRect">
            <a:avLst/>
          </a:prstGeom>
          <a:solidFill>
            <a:schemeClr val="accent6"/>
          </a:solidFill>
          <a:ln w="285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sz="600" dirty="0"/>
              <a:t>Schedule density</a:t>
            </a:r>
          </a:p>
        </p:txBody>
      </p:sp>
      <p:sp>
        <p:nvSpPr>
          <p:cNvPr id="41" name="Rectangle: Rounded Corners 29">
            <a:extLst>
              <a:ext uri="{FF2B5EF4-FFF2-40B4-BE49-F238E27FC236}">
                <a16:creationId xmlns:a16="http://schemas.microsoft.com/office/drawing/2014/main" id="{53D82000-6824-8579-1C24-318802607FDD}"/>
              </a:ext>
            </a:extLst>
          </p:cNvPr>
          <p:cNvSpPr/>
          <p:nvPr/>
        </p:nvSpPr>
        <p:spPr>
          <a:xfrm>
            <a:off x="3588503" y="1938413"/>
            <a:ext cx="737505" cy="325487"/>
          </a:xfrm>
          <a:prstGeom prst="roundRect">
            <a:avLst/>
          </a:prstGeom>
          <a:solidFill>
            <a:schemeClr val="accent6"/>
          </a:solidFill>
          <a:ln w="285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sz="600"/>
              <a:t>Game timing</a:t>
            </a:r>
          </a:p>
        </p:txBody>
      </p:sp>
      <p:sp>
        <p:nvSpPr>
          <p:cNvPr id="42" name="Rectangle: Rounded Corners 32">
            <a:extLst>
              <a:ext uri="{FF2B5EF4-FFF2-40B4-BE49-F238E27FC236}">
                <a16:creationId xmlns:a16="http://schemas.microsoft.com/office/drawing/2014/main" id="{18132A80-E4A1-69F4-4D71-4095A0F60F8C}"/>
              </a:ext>
            </a:extLst>
          </p:cNvPr>
          <p:cNvSpPr/>
          <p:nvPr/>
        </p:nvSpPr>
        <p:spPr>
          <a:xfrm>
            <a:off x="3585070" y="3331152"/>
            <a:ext cx="737505" cy="325487"/>
          </a:xfrm>
          <a:prstGeom prst="roundRect">
            <a:avLst/>
          </a:prstGeom>
          <a:solidFill>
            <a:schemeClr val="accent6"/>
          </a:solidFill>
          <a:ln w="285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sz="600"/>
              <a:t>Travel</a:t>
            </a:r>
          </a:p>
        </p:txBody>
      </p:sp>
      <p:sp>
        <p:nvSpPr>
          <p:cNvPr id="44" name="Rectangle: Rounded Corners 33">
            <a:extLst>
              <a:ext uri="{FF2B5EF4-FFF2-40B4-BE49-F238E27FC236}">
                <a16:creationId xmlns:a16="http://schemas.microsoft.com/office/drawing/2014/main" id="{068EEB63-4793-50D4-3846-6BE5F2CA3B10}"/>
              </a:ext>
            </a:extLst>
          </p:cNvPr>
          <p:cNvSpPr/>
          <p:nvPr/>
        </p:nvSpPr>
        <p:spPr>
          <a:xfrm>
            <a:off x="1623257" y="1788144"/>
            <a:ext cx="1050838" cy="434441"/>
          </a:xfrm>
          <a:prstGeom prst="roundRect">
            <a:avLst/>
          </a:prstGeom>
          <a:ln w="285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sz="1050" dirty="0"/>
              <a:t>Player Characteristics </a:t>
            </a:r>
          </a:p>
        </p:txBody>
      </p:sp>
      <p:sp>
        <p:nvSpPr>
          <p:cNvPr id="48" name="Rectangle: Rounded Corners 37">
            <a:extLst>
              <a:ext uri="{FF2B5EF4-FFF2-40B4-BE49-F238E27FC236}">
                <a16:creationId xmlns:a16="http://schemas.microsoft.com/office/drawing/2014/main" id="{83EFE06B-5F47-31F3-DB9A-B591219566A9}"/>
              </a:ext>
            </a:extLst>
          </p:cNvPr>
          <p:cNvSpPr/>
          <p:nvPr/>
        </p:nvSpPr>
        <p:spPr>
          <a:xfrm>
            <a:off x="3585070" y="1456115"/>
            <a:ext cx="737505" cy="306381"/>
          </a:xfrm>
          <a:prstGeom prst="roundRect">
            <a:avLst/>
          </a:prstGeom>
          <a:solidFill>
            <a:schemeClr val="accent6"/>
          </a:solidFill>
          <a:ln w="285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sz="600" dirty="0"/>
              <a:t>Anthropic Data</a:t>
            </a:r>
            <a:endParaRPr lang="en-US" sz="1050" dirty="0"/>
          </a:p>
        </p:txBody>
      </p:sp>
      <p:sp>
        <p:nvSpPr>
          <p:cNvPr id="49" name="Rectangle: Rounded Corners 38">
            <a:extLst>
              <a:ext uri="{FF2B5EF4-FFF2-40B4-BE49-F238E27FC236}">
                <a16:creationId xmlns:a16="http://schemas.microsoft.com/office/drawing/2014/main" id="{FAACFBE1-C57F-9E4F-0283-A24E84AF898E}"/>
              </a:ext>
            </a:extLst>
          </p:cNvPr>
          <p:cNvSpPr/>
          <p:nvPr/>
        </p:nvSpPr>
        <p:spPr>
          <a:xfrm>
            <a:off x="7200065" y="779870"/>
            <a:ext cx="1363912" cy="222929"/>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AU" sz="1000" dirty="0">
                <a:solidFill>
                  <a:schemeClr val="tx1"/>
                </a:solidFill>
              </a:rPr>
              <a:t>boxscoretraditionalv3</a:t>
            </a:r>
          </a:p>
        </p:txBody>
      </p:sp>
      <p:sp>
        <p:nvSpPr>
          <p:cNvPr id="51" name="Rectangle: Rounded Corners 39">
            <a:extLst>
              <a:ext uri="{FF2B5EF4-FFF2-40B4-BE49-F238E27FC236}">
                <a16:creationId xmlns:a16="http://schemas.microsoft.com/office/drawing/2014/main" id="{DFDC38CD-9133-1F70-D987-8921D8882F87}"/>
              </a:ext>
            </a:extLst>
          </p:cNvPr>
          <p:cNvSpPr/>
          <p:nvPr/>
        </p:nvSpPr>
        <p:spPr>
          <a:xfrm>
            <a:off x="7205164" y="1094431"/>
            <a:ext cx="1363912" cy="21892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AU" sz="1000" dirty="0">
                <a:solidFill>
                  <a:schemeClr val="tx1"/>
                </a:solidFill>
              </a:rPr>
              <a:t>boxscoreplayertrackv3</a:t>
            </a:r>
          </a:p>
        </p:txBody>
      </p:sp>
      <p:cxnSp>
        <p:nvCxnSpPr>
          <p:cNvPr id="53" name="Elbow Connector 52">
            <a:extLst>
              <a:ext uri="{FF2B5EF4-FFF2-40B4-BE49-F238E27FC236}">
                <a16:creationId xmlns:a16="http://schemas.microsoft.com/office/drawing/2014/main" id="{EDCF084E-F0F3-45AB-4462-CC705C4F4DD5}"/>
              </a:ext>
            </a:extLst>
          </p:cNvPr>
          <p:cNvCxnSpPr>
            <a:cxnSpLocks/>
            <a:stCxn id="48" idx="3"/>
            <a:endCxn id="24" idx="1"/>
          </p:cNvCxnSpPr>
          <p:nvPr/>
        </p:nvCxnSpPr>
        <p:spPr>
          <a:xfrm>
            <a:off x="4322575" y="1609306"/>
            <a:ext cx="1114593" cy="206228"/>
          </a:xfrm>
          <a:prstGeom prst="bentConnector3">
            <a:avLst>
              <a:gd name="adj1" fmla="val 50000"/>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5" name="Elbow Connector 54">
            <a:extLst>
              <a:ext uri="{FF2B5EF4-FFF2-40B4-BE49-F238E27FC236}">
                <a16:creationId xmlns:a16="http://schemas.microsoft.com/office/drawing/2014/main" id="{D00EAD7A-606D-B83D-78FF-8792F1F63929}"/>
              </a:ext>
            </a:extLst>
          </p:cNvPr>
          <p:cNvCxnSpPr>
            <a:cxnSpLocks/>
            <a:stCxn id="27" idx="3"/>
            <a:endCxn id="24" idx="1"/>
          </p:cNvCxnSpPr>
          <p:nvPr/>
        </p:nvCxnSpPr>
        <p:spPr>
          <a:xfrm>
            <a:off x="4311001" y="1137995"/>
            <a:ext cx="1126167" cy="677539"/>
          </a:xfrm>
          <a:prstGeom prst="bentConnector3">
            <a:avLst>
              <a:gd name="adj1" fmla="val 50000"/>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9" name="Elbow Connector 58">
            <a:extLst>
              <a:ext uri="{FF2B5EF4-FFF2-40B4-BE49-F238E27FC236}">
                <a16:creationId xmlns:a16="http://schemas.microsoft.com/office/drawing/2014/main" id="{2AC99DF5-8D6D-C6AB-AC91-C2B6EB385330}"/>
              </a:ext>
            </a:extLst>
          </p:cNvPr>
          <p:cNvCxnSpPr>
            <a:cxnSpLocks/>
            <a:stCxn id="23" idx="3"/>
            <a:endCxn id="27" idx="1"/>
          </p:cNvCxnSpPr>
          <p:nvPr/>
        </p:nvCxnSpPr>
        <p:spPr>
          <a:xfrm flipV="1">
            <a:off x="2526460" y="1137995"/>
            <a:ext cx="1047036" cy="138458"/>
          </a:xfrm>
          <a:prstGeom prst="bentConnector3">
            <a:avLst>
              <a:gd name="adj1" fmla="val 56681"/>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1" name="Elbow Connector 60">
            <a:extLst>
              <a:ext uri="{FF2B5EF4-FFF2-40B4-BE49-F238E27FC236}">
                <a16:creationId xmlns:a16="http://schemas.microsoft.com/office/drawing/2014/main" id="{14F59A05-7F8C-2D83-8FA0-7774AB8C6C07}"/>
              </a:ext>
            </a:extLst>
          </p:cNvPr>
          <p:cNvCxnSpPr>
            <a:cxnSpLocks/>
            <a:stCxn id="44" idx="3"/>
            <a:endCxn id="48" idx="1"/>
          </p:cNvCxnSpPr>
          <p:nvPr/>
        </p:nvCxnSpPr>
        <p:spPr>
          <a:xfrm flipV="1">
            <a:off x="2674095" y="1609306"/>
            <a:ext cx="910975" cy="396059"/>
          </a:xfrm>
          <a:prstGeom prst="bentConnector3">
            <a:avLst>
              <a:gd name="adj1" fmla="val 48438"/>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5" name="Elbow Connector 64">
            <a:extLst>
              <a:ext uri="{FF2B5EF4-FFF2-40B4-BE49-F238E27FC236}">
                <a16:creationId xmlns:a16="http://schemas.microsoft.com/office/drawing/2014/main" id="{8E6DB26E-EEEF-E132-D1FE-830D6A2ACBF7}"/>
              </a:ext>
            </a:extLst>
          </p:cNvPr>
          <p:cNvCxnSpPr>
            <a:cxnSpLocks/>
            <a:stCxn id="18" idx="3"/>
            <a:endCxn id="28" idx="1"/>
          </p:cNvCxnSpPr>
          <p:nvPr/>
        </p:nvCxnSpPr>
        <p:spPr>
          <a:xfrm>
            <a:off x="2526460" y="3441630"/>
            <a:ext cx="1028141" cy="563875"/>
          </a:xfrm>
          <a:prstGeom prst="bentConnector3">
            <a:avLst>
              <a:gd name="adj1" fmla="val 42769"/>
            </a:avLst>
          </a:prstGeom>
          <a:ln w="28575">
            <a:solidFill>
              <a:schemeClr val="accent4"/>
            </a:solidFill>
            <a:tailEnd type="triangle"/>
          </a:ln>
        </p:spPr>
        <p:style>
          <a:lnRef idx="2">
            <a:schemeClr val="accent1"/>
          </a:lnRef>
          <a:fillRef idx="0">
            <a:schemeClr val="accent1"/>
          </a:fillRef>
          <a:effectRef idx="1">
            <a:schemeClr val="accent1"/>
          </a:effectRef>
          <a:fontRef idx="minor">
            <a:schemeClr val="tx1"/>
          </a:fontRef>
        </p:style>
      </p:cxnSp>
      <p:cxnSp>
        <p:nvCxnSpPr>
          <p:cNvPr id="67" name="Elbow Connector 66">
            <a:extLst>
              <a:ext uri="{FF2B5EF4-FFF2-40B4-BE49-F238E27FC236}">
                <a16:creationId xmlns:a16="http://schemas.microsoft.com/office/drawing/2014/main" id="{59FC918B-9F3D-5CE4-B862-19DF45C9A20D}"/>
              </a:ext>
            </a:extLst>
          </p:cNvPr>
          <p:cNvCxnSpPr>
            <a:stCxn id="20" idx="3"/>
            <a:endCxn id="32" idx="1"/>
          </p:cNvCxnSpPr>
          <p:nvPr/>
        </p:nvCxnSpPr>
        <p:spPr>
          <a:xfrm>
            <a:off x="2526461" y="2695898"/>
            <a:ext cx="1047035" cy="342898"/>
          </a:xfrm>
          <a:prstGeom prst="bentConnector3">
            <a:avLst>
              <a:gd name="adj1" fmla="val 55408"/>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9" name="Elbow Connector 68">
            <a:extLst>
              <a:ext uri="{FF2B5EF4-FFF2-40B4-BE49-F238E27FC236}">
                <a16:creationId xmlns:a16="http://schemas.microsoft.com/office/drawing/2014/main" id="{17AEDE9C-BF21-392F-C24A-73CBDB5CB1C9}"/>
              </a:ext>
            </a:extLst>
          </p:cNvPr>
          <p:cNvCxnSpPr>
            <a:stCxn id="20" idx="3"/>
            <a:endCxn id="36" idx="1"/>
          </p:cNvCxnSpPr>
          <p:nvPr/>
        </p:nvCxnSpPr>
        <p:spPr>
          <a:xfrm flipV="1">
            <a:off x="2526461" y="2603189"/>
            <a:ext cx="1054109" cy="92709"/>
          </a:xfrm>
          <a:prstGeom prst="bentConnector3">
            <a:avLst>
              <a:gd name="adj1" fmla="val 55745"/>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1" name="Elbow Connector 70">
            <a:extLst>
              <a:ext uri="{FF2B5EF4-FFF2-40B4-BE49-F238E27FC236}">
                <a16:creationId xmlns:a16="http://schemas.microsoft.com/office/drawing/2014/main" id="{71CFF7BB-0AC6-733B-A900-0AF02ED60ECE}"/>
              </a:ext>
            </a:extLst>
          </p:cNvPr>
          <p:cNvCxnSpPr>
            <a:stCxn id="20" idx="3"/>
            <a:endCxn id="41" idx="1"/>
          </p:cNvCxnSpPr>
          <p:nvPr/>
        </p:nvCxnSpPr>
        <p:spPr>
          <a:xfrm flipV="1">
            <a:off x="2526461" y="2101157"/>
            <a:ext cx="1062042" cy="594741"/>
          </a:xfrm>
          <a:prstGeom prst="bentConnector3">
            <a:avLst>
              <a:gd name="adj1" fmla="val 55132"/>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3" name="Elbow Connector 72">
            <a:extLst>
              <a:ext uri="{FF2B5EF4-FFF2-40B4-BE49-F238E27FC236}">
                <a16:creationId xmlns:a16="http://schemas.microsoft.com/office/drawing/2014/main" id="{0E45163F-957F-8D78-1627-1AAE417EB662}"/>
              </a:ext>
            </a:extLst>
          </p:cNvPr>
          <p:cNvCxnSpPr>
            <a:cxnSpLocks/>
            <a:stCxn id="20" idx="3"/>
            <a:endCxn id="42" idx="1"/>
          </p:cNvCxnSpPr>
          <p:nvPr/>
        </p:nvCxnSpPr>
        <p:spPr>
          <a:xfrm>
            <a:off x="2526461" y="2695898"/>
            <a:ext cx="1058609" cy="797998"/>
          </a:xfrm>
          <a:prstGeom prst="bentConnector3">
            <a:avLst>
              <a:gd name="adj1" fmla="val 55192"/>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4" name="Elbow Connector 73">
            <a:extLst>
              <a:ext uri="{FF2B5EF4-FFF2-40B4-BE49-F238E27FC236}">
                <a16:creationId xmlns:a16="http://schemas.microsoft.com/office/drawing/2014/main" id="{F0FC2BF6-4A64-9788-57D4-0B052C88881E}"/>
              </a:ext>
            </a:extLst>
          </p:cNvPr>
          <p:cNvCxnSpPr>
            <a:stCxn id="21" idx="3"/>
            <a:endCxn id="35" idx="1"/>
          </p:cNvCxnSpPr>
          <p:nvPr/>
        </p:nvCxnSpPr>
        <p:spPr>
          <a:xfrm>
            <a:off x="2526460" y="4092297"/>
            <a:ext cx="831683" cy="439470"/>
          </a:xfrm>
          <a:prstGeom prst="bentConnector3">
            <a:avLst>
              <a:gd name="adj1" fmla="val 50000"/>
            </a:avLst>
          </a:prstGeom>
          <a:ln w="28575">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75" name="Elbow Connector 74">
            <a:extLst>
              <a:ext uri="{FF2B5EF4-FFF2-40B4-BE49-F238E27FC236}">
                <a16:creationId xmlns:a16="http://schemas.microsoft.com/office/drawing/2014/main" id="{20B68F74-4D98-2B35-F0BF-1E639DDF811C}"/>
              </a:ext>
            </a:extLst>
          </p:cNvPr>
          <p:cNvCxnSpPr>
            <a:stCxn id="31" idx="3"/>
            <a:endCxn id="23" idx="1"/>
          </p:cNvCxnSpPr>
          <p:nvPr/>
        </p:nvCxnSpPr>
        <p:spPr>
          <a:xfrm flipV="1">
            <a:off x="973444" y="1276453"/>
            <a:ext cx="649812" cy="1426777"/>
          </a:xfrm>
          <a:prstGeom prst="bentConnector3">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76" name="Elbow Connector 75">
            <a:extLst>
              <a:ext uri="{FF2B5EF4-FFF2-40B4-BE49-F238E27FC236}">
                <a16:creationId xmlns:a16="http://schemas.microsoft.com/office/drawing/2014/main" id="{EF9BD44E-AE7D-5170-12A8-EFD0A7F0600E}"/>
              </a:ext>
            </a:extLst>
          </p:cNvPr>
          <p:cNvCxnSpPr>
            <a:cxnSpLocks/>
            <a:stCxn id="31" idx="3"/>
            <a:endCxn id="44" idx="1"/>
          </p:cNvCxnSpPr>
          <p:nvPr/>
        </p:nvCxnSpPr>
        <p:spPr>
          <a:xfrm flipV="1">
            <a:off x="973444" y="2005365"/>
            <a:ext cx="649813" cy="697865"/>
          </a:xfrm>
          <a:prstGeom prst="bentConnector3">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77" name="Elbow Connector 76">
            <a:extLst>
              <a:ext uri="{FF2B5EF4-FFF2-40B4-BE49-F238E27FC236}">
                <a16:creationId xmlns:a16="http://schemas.microsoft.com/office/drawing/2014/main" id="{7FC0E555-B233-0EFD-20D1-AFCA2FE4EE7D}"/>
              </a:ext>
            </a:extLst>
          </p:cNvPr>
          <p:cNvCxnSpPr>
            <a:stCxn id="31" idx="3"/>
            <a:endCxn id="20" idx="1"/>
          </p:cNvCxnSpPr>
          <p:nvPr/>
        </p:nvCxnSpPr>
        <p:spPr>
          <a:xfrm flipV="1">
            <a:off x="973444" y="2695898"/>
            <a:ext cx="649813" cy="7332"/>
          </a:xfrm>
          <a:prstGeom prst="bentConnector3">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78" name="Elbow Connector 77">
            <a:extLst>
              <a:ext uri="{FF2B5EF4-FFF2-40B4-BE49-F238E27FC236}">
                <a16:creationId xmlns:a16="http://schemas.microsoft.com/office/drawing/2014/main" id="{D207F21D-C66A-CB57-C6D6-020724B06984}"/>
              </a:ext>
            </a:extLst>
          </p:cNvPr>
          <p:cNvCxnSpPr>
            <a:stCxn id="31" idx="3"/>
            <a:endCxn id="21" idx="1"/>
          </p:cNvCxnSpPr>
          <p:nvPr/>
        </p:nvCxnSpPr>
        <p:spPr>
          <a:xfrm>
            <a:off x="973444" y="2703230"/>
            <a:ext cx="649812" cy="1389067"/>
          </a:xfrm>
          <a:prstGeom prst="bentConnector3">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79" name="Elbow Connector 78">
            <a:extLst>
              <a:ext uri="{FF2B5EF4-FFF2-40B4-BE49-F238E27FC236}">
                <a16:creationId xmlns:a16="http://schemas.microsoft.com/office/drawing/2014/main" id="{3E0BD0EF-FDC9-5B8A-C867-4A72E2CE66B5}"/>
              </a:ext>
            </a:extLst>
          </p:cNvPr>
          <p:cNvCxnSpPr>
            <a:stCxn id="31" idx="3"/>
            <a:endCxn id="18" idx="1"/>
          </p:cNvCxnSpPr>
          <p:nvPr/>
        </p:nvCxnSpPr>
        <p:spPr>
          <a:xfrm>
            <a:off x="973444" y="2703230"/>
            <a:ext cx="649812" cy="738400"/>
          </a:xfrm>
          <a:prstGeom prst="bentConnector3">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80" name="Elbow Connector 79">
            <a:extLst>
              <a:ext uri="{FF2B5EF4-FFF2-40B4-BE49-F238E27FC236}">
                <a16:creationId xmlns:a16="http://schemas.microsoft.com/office/drawing/2014/main" id="{9CA7DF7E-0CC6-3701-4BA9-41BFAEF44225}"/>
              </a:ext>
            </a:extLst>
          </p:cNvPr>
          <p:cNvCxnSpPr>
            <a:cxnSpLocks/>
            <a:stCxn id="28" idx="3"/>
            <a:endCxn id="22" idx="1"/>
          </p:cNvCxnSpPr>
          <p:nvPr/>
        </p:nvCxnSpPr>
        <p:spPr>
          <a:xfrm flipV="1">
            <a:off x="4311001" y="3744964"/>
            <a:ext cx="1126167" cy="260541"/>
          </a:xfrm>
          <a:prstGeom prst="bentConnector3">
            <a:avLst>
              <a:gd name="adj1" fmla="val 50000"/>
            </a:avLst>
          </a:prstGeom>
          <a:ln w="28575">
            <a:solidFill>
              <a:schemeClr val="accent4"/>
            </a:solidFill>
            <a:tailEnd type="triangle"/>
          </a:ln>
        </p:spPr>
        <p:style>
          <a:lnRef idx="2">
            <a:schemeClr val="accent1"/>
          </a:lnRef>
          <a:fillRef idx="0">
            <a:schemeClr val="accent1"/>
          </a:fillRef>
          <a:effectRef idx="1">
            <a:schemeClr val="accent1"/>
          </a:effectRef>
          <a:fontRef idx="minor">
            <a:schemeClr val="tx1"/>
          </a:fontRef>
        </p:style>
      </p:cxnSp>
      <p:cxnSp>
        <p:nvCxnSpPr>
          <p:cNvPr id="81" name="Elbow Connector 80">
            <a:extLst>
              <a:ext uri="{FF2B5EF4-FFF2-40B4-BE49-F238E27FC236}">
                <a16:creationId xmlns:a16="http://schemas.microsoft.com/office/drawing/2014/main" id="{1A382C6F-0DE5-90D7-CEB2-4B5AFED012CA}"/>
              </a:ext>
            </a:extLst>
          </p:cNvPr>
          <p:cNvCxnSpPr>
            <a:cxnSpLocks/>
            <a:stCxn id="35" idx="3"/>
            <a:endCxn id="85" idx="1"/>
          </p:cNvCxnSpPr>
          <p:nvPr/>
        </p:nvCxnSpPr>
        <p:spPr>
          <a:xfrm flipV="1">
            <a:off x="4549501" y="4528772"/>
            <a:ext cx="859139" cy="2995"/>
          </a:xfrm>
          <a:prstGeom prst="bentConnector3">
            <a:avLst>
              <a:gd name="adj1" fmla="val 50000"/>
            </a:avLst>
          </a:prstGeom>
          <a:ln w="28575">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82" name="Rectangle: Rounded Corners 39">
            <a:extLst>
              <a:ext uri="{FF2B5EF4-FFF2-40B4-BE49-F238E27FC236}">
                <a16:creationId xmlns:a16="http://schemas.microsoft.com/office/drawing/2014/main" id="{F18AC4B8-CC5B-54D9-7471-D7AE9E3ABC0E}"/>
              </a:ext>
            </a:extLst>
          </p:cNvPr>
          <p:cNvSpPr/>
          <p:nvPr/>
        </p:nvSpPr>
        <p:spPr>
          <a:xfrm>
            <a:off x="7200065" y="1374920"/>
            <a:ext cx="1362527" cy="21892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AU" sz="1000" dirty="0">
                <a:solidFill>
                  <a:schemeClr val="tx1"/>
                </a:solidFill>
              </a:rPr>
              <a:t>boxscorehustlev2</a:t>
            </a:r>
          </a:p>
        </p:txBody>
      </p:sp>
      <p:sp>
        <p:nvSpPr>
          <p:cNvPr id="83" name="Rectangle: Rounded Corners 39">
            <a:extLst>
              <a:ext uri="{FF2B5EF4-FFF2-40B4-BE49-F238E27FC236}">
                <a16:creationId xmlns:a16="http://schemas.microsoft.com/office/drawing/2014/main" id="{ADC8A1EC-48E8-00AC-8685-4E7C8315ACFD}"/>
              </a:ext>
            </a:extLst>
          </p:cNvPr>
          <p:cNvSpPr/>
          <p:nvPr/>
        </p:nvSpPr>
        <p:spPr>
          <a:xfrm>
            <a:off x="7197516" y="1674899"/>
            <a:ext cx="1362527" cy="21892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AU" sz="1000" dirty="0">
                <a:solidFill>
                  <a:schemeClr val="tx1"/>
                </a:solidFill>
              </a:rPr>
              <a:t>boxscoreadvancedv3</a:t>
            </a:r>
          </a:p>
        </p:txBody>
      </p:sp>
      <p:sp>
        <p:nvSpPr>
          <p:cNvPr id="84" name="Rectangle: Rounded Corners 39">
            <a:extLst>
              <a:ext uri="{FF2B5EF4-FFF2-40B4-BE49-F238E27FC236}">
                <a16:creationId xmlns:a16="http://schemas.microsoft.com/office/drawing/2014/main" id="{9D4615F2-576E-3156-8DE3-B294FF8A52FB}"/>
              </a:ext>
            </a:extLst>
          </p:cNvPr>
          <p:cNvSpPr/>
          <p:nvPr/>
        </p:nvSpPr>
        <p:spPr>
          <a:xfrm>
            <a:off x="6832203" y="4415878"/>
            <a:ext cx="2147718" cy="346217"/>
          </a:xfrm>
          <a:prstGeom prst="roundRect">
            <a:avLst/>
          </a:prstGeom>
          <a:solidFill>
            <a:schemeClr val="tx2">
              <a:lumMod val="10000"/>
              <a:lumOff val="9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sz="825" dirty="0">
                <a:hlinkClick r:id="rId4"/>
              </a:rPr>
              <a:t>https://github.com/mxufc29/nbainjuries</a:t>
            </a:r>
            <a:r>
              <a:rPr lang="en-US" sz="825" dirty="0"/>
              <a:t> </a:t>
            </a:r>
          </a:p>
        </p:txBody>
      </p:sp>
      <p:sp>
        <p:nvSpPr>
          <p:cNvPr id="85" name="Rectangle: Rounded Corners 39">
            <a:extLst>
              <a:ext uri="{FF2B5EF4-FFF2-40B4-BE49-F238E27FC236}">
                <a16:creationId xmlns:a16="http://schemas.microsoft.com/office/drawing/2014/main" id="{040B0255-A1F6-3469-AE16-4F3334CA050B}"/>
              </a:ext>
            </a:extLst>
          </p:cNvPr>
          <p:cNvSpPr/>
          <p:nvPr/>
        </p:nvSpPr>
        <p:spPr>
          <a:xfrm>
            <a:off x="5408640" y="4311767"/>
            <a:ext cx="871262" cy="434009"/>
          </a:xfrm>
          <a:prstGeom prst="roundRect">
            <a:avLst/>
          </a:prstGeom>
          <a:solidFill>
            <a:srgbClr val="ED7D31"/>
          </a:solid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US" sz="600" dirty="0"/>
              <a:t>Online </a:t>
            </a:r>
            <a:r>
              <a:rPr lang="en-US" sz="600"/>
              <a:t>Journals &amp; CBA</a:t>
            </a:r>
            <a:endParaRPr lang="en-US" sz="600" dirty="0"/>
          </a:p>
        </p:txBody>
      </p:sp>
      <p:cxnSp>
        <p:nvCxnSpPr>
          <p:cNvPr id="89" name="Elbow Connector 88">
            <a:extLst>
              <a:ext uri="{FF2B5EF4-FFF2-40B4-BE49-F238E27FC236}">
                <a16:creationId xmlns:a16="http://schemas.microsoft.com/office/drawing/2014/main" id="{A1B7B79F-6C29-A9CF-C8DA-012BB21A85BE}"/>
              </a:ext>
            </a:extLst>
          </p:cNvPr>
          <p:cNvCxnSpPr>
            <a:cxnSpLocks/>
            <a:stCxn id="22" idx="3"/>
            <a:endCxn id="84" idx="1"/>
          </p:cNvCxnSpPr>
          <p:nvPr/>
        </p:nvCxnSpPr>
        <p:spPr>
          <a:xfrm>
            <a:off x="6257352" y="3744964"/>
            <a:ext cx="574851" cy="844023"/>
          </a:xfrm>
          <a:prstGeom prst="bentConnector3">
            <a:avLst>
              <a:gd name="adj1" fmla="val 50000"/>
            </a:avLst>
          </a:prstGeom>
          <a:ln w="28575">
            <a:solidFill>
              <a:schemeClr val="accent4"/>
            </a:solidFill>
            <a:tailEnd type="triangle"/>
          </a:ln>
        </p:spPr>
        <p:style>
          <a:lnRef idx="2">
            <a:schemeClr val="accent1"/>
          </a:lnRef>
          <a:fillRef idx="0">
            <a:schemeClr val="accent1"/>
          </a:fillRef>
          <a:effectRef idx="1">
            <a:schemeClr val="accent1"/>
          </a:effectRef>
          <a:fontRef idx="minor">
            <a:schemeClr val="tx1"/>
          </a:fontRef>
        </p:style>
      </p:cxnSp>
      <p:cxnSp>
        <p:nvCxnSpPr>
          <p:cNvPr id="90" name="Elbow Connector 89">
            <a:extLst>
              <a:ext uri="{FF2B5EF4-FFF2-40B4-BE49-F238E27FC236}">
                <a16:creationId xmlns:a16="http://schemas.microsoft.com/office/drawing/2014/main" id="{4EB92F86-1D63-9607-CD02-7C09F7A9D783}"/>
              </a:ext>
            </a:extLst>
          </p:cNvPr>
          <p:cNvCxnSpPr>
            <a:cxnSpLocks/>
            <a:stCxn id="24" idx="3"/>
            <a:endCxn id="83" idx="1"/>
          </p:cNvCxnSpPr>
          <p:nvPr/>
        </p:nvCxnSpPr>
        <p:spPr>
          <a:xfrm flipV="1">
            <a:off x="6257352" y="1784363"/>
            <a:ext cx="940164" cy="31171"/>
          </a:xfrm>
          <a:prstGeom prst="bentConnector3">
            <a:avLst>
              <a:gd name="adj1" fmla="val 50000"/>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1" name="Elbow Connector 90">
            <a:extLst>
              <a:ext uri="{FF2B5EF4-FFF2-40B4-BE49-F238E27FC236}">
                <a16:creationId xmlns:a16="http://schemas.microsoft.com/office/drawing/2014/main" id="{F96AF965-697D-2E9A-0E58-40838B098BD5}"/>
              </a:ext>
            </a:extLst>
          </p:cNvPr>
          <p:cNvCxnSpPr>
            <a:cxnSpLocks/>
            <a:stCxn id="24" idx="3"/>
            <a:endCxn id="82" idx="1"/>
          </p:cNvCxnSpPr>
          <p:nvPr/>
        </p:nvCxnSpPr>
        <p:spPr>
          <a:xfrm flipV="1">
            <a:off x="6257352" y="1484384"/>
            <a:ext cx="942713" cy="331150"/>
          </a:xfrm>
          <a:prstGeom prst="bentConnector3">
            <a:avLst>
              <a:gd name="adj1" fmla="val 50000"/>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2" name="Elbow Connector 91">
            <a:extLst>
              <a:ext uri="{FF2B5EF4-FFF2-40B4-BE49-F238E27FC236}">
                <a16:creationId xmlns:a16="http://schemas.microsoft.com/office/drawing/2014/main" id="{32498F14-10ED-7E3E-3624-AE97A3F31569}"/>
              </a:ext>
            </a:extLst>
          </p:cNvPr>
          <p:cNvCxnSpPr>
            <a:cxnSpLocks/>
            <a:stCxn id="24" idx="3"/>
            <a:endCxn id="51" idx="1"/>
          </p:cNvCxnSpPr>
          <p:nvPr/>
        </p:nvCxnSpPr>
        <p:spPr>
          <a:xfrm flipV="1">
            <a:off x="6257352" y="1203895"/>
            <a:ext cx="947812" cy="611639"/>
          </a:xfrm>
          <a:prstGeom prst="bentConnector3">
            <a:avLst>
              <a:gd name="adj1" fmla="val 50000"/>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3" name="Elbow Connector 92">
            <a:extLst>
              <a:ext uri="{FF2B5EF4-FFF2-40B4-BE49-F238E27FC236}">
                <a16:creationId xmlns:a16="http://schemas.microsoft.com/office/drawing/2014/main" id="{917D8585-FDCA-A58D-2CCB-7E042472D937}"/>
              </a:ext>
            </a:extLst>
          </p:cNvPr>
          <p:cNvCxnSpPr>
            <a:cxnSpLocks/>
            <a:stCxn id="24" idx="3"/>
            <a:endCxn id="49" idx="1"/>
          </p:cNvCxnSpPr>
          <p:nvPr/>
        </p:nvCxnSpPr>
        <p:spPr>
          <a:xfrm flipV="1">
            <a:off x="6257352" y="891335"/>
            <a:ext cx="942713" cy="924199"/>
          </a:xfrm>
          <a:prstGeom prst="bentConnector3">
            <a:avLst>
              <a:gd name="adj1" fmla="val 50000"/>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95" name="Rectangle: Rounded Corners 38">
            <a:extLst>
              <a:ext uri="{FF2B5EF4-FFF2-40B4-BE49-F238E27FC236}">
                <a16:creationId xmlns:a16="http://schemas.microsoft.com/office/drawing/2014/main" id="{92381871-6511-7380-1FD1-28ED03AFD2E8}"/>
              </a:ext>
            </a:extLst>
          </p:cNvPr>
          <p:cNvSpPr/>
          <p:nvPr/>
        </p:nvSpPr>
        <p:spPr>
          <a:xfrm>
            <a:off x="7205164" y="1971532"/>
            <a:ext cx="1362527" cy="21892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AU" sz="1000" dirty="0">
                <a:solidFill>
                  <a:schemeClr val="tx1"/>
                </a:solidFill>
              </a:rPr>
              <a:t>boxscoremiscv3</a:t>
            </a:r>
          </a:p>
        </p:txBody>
      </p:sp>
      <p:cxnSp>
        <p:nvCxnSpPr>
          <p:cNvPr id="96" name="Elbow Connector 95">
            <a:extLst>
              <a:ext uri="{FF2B5EF4-FFF2-40B4-BE49-F238E27FC236}">
                <a16:creationId xmlns:a16="http://schemas.microsoft.com/office/drawing/2014/main" id="{9FC14BEC-4931-47CF-F875-31D0A7EE3472}"/>
              </a:ext>
            </a:extLst>
          </p:cNvPr>
          <p:cNvCxnSpPr>
            <a:cxnSpLocks/>
            <a:stCxn id="24" idx="3"/>
            <a:endCxn id="95" idx="1"/>
          </p:cNvCxnSpPr>
          <p:nvPr/>
        </p:nvCxnSpPr>
        <p:spPr>
          <a:xfrm>
            <a:off x="6257352" y="1815534"/>
            <a:ext cx="947812" cy="265462"/>
          </a:xfrm>
          <a:prstGeom prst="bentConnector3">
            <a:avLst>
              <a:gd name="adj1" fmla="val 50000"/>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7" name="Elbow Connector 96">
            <a:extLst>
              <a:ext uri="{FF2B5EF4-FFF2-40B4-BE49-F238E27FC236}">
                <a16:creationId xmlns:a16="http://schemas.microsoft.com/office/drawing/2014/main" id="{DC2A6FC3-64F7-C0A0-D876-0C83DB585553}"/>
              </a:ext>
            </a:extLst>
          </p:cNvPr>
          <p:cNvCxnSpPr>
            <a:cxnSpLocks/>
            <a:stCxn id="41" idx="3"/>
            <a:endCxn id="24" idx="1"/>
          </p:cNvCxnSpPr>
          <p:nvPr/>
        </p:nvCxnSpPr>
        <p:spPr>
          <a:xfrm flipV="1">
            <a:off x="4326008" y="1815534"/>
            <a:ext cx="1111160" cy="285623"/>
          </a:xfrm>
          <a:prstGeom prst="bentConnector3">
            <a:avLst>
              <a:gd name="adj1" fmla="val 50000"/>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9" name="Elbow Connector 98">
            <a:extLst>
              <a:ext uri="{FF2B5EF4-FFF2-40B4-BE49-F238E27FC236}">
                <a16:creationId xmlns:a16="http://schemas.microsoft.com/office/drawing/2014/main" id="{34415A08-6271-5187-18A6-DE95FC7C818E}"/>
              </a:ext>
            </a:extLst>
          </p:cNvPr>
          <p:cNvCxnSpPr>
            <a:cxnSpLocks/>
            <a:stCxn id="36" idx="3"/>
            <a:endCxn id="24" idx="1"/>
          </p:cNvCxnSpPr>
          <p:nvPr/>
        </p:nvCxnSpPr>
        <p:spPr>
          <a:xfrm flipV="1">
            <a:off x="4327761" y="1815534"/>
            <a:ext cx="1109407" cy="787655"/>
          </a:xfrm>
          <a:prstGeom prst="bentConnector3">
            <a:avLst>
              <a:gd name="adj1" fmla="val 50000"/>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0" name="Elbow Connector 99">
            <a:extLst>
              <a:ext uri="{FF2B5EF4-FFF2-40B4-BE49-F238E27FC236}">
                <a16:creationId xmlns:a16="http://schemas.microsoft.com/office/drawing/2014/main" id="{429A29EC-E280-EDA0-0AA0-0CDC59E9D5A3}"/>
              </a:ext>
            </a:extLst>
          </p:cNvPr>
          <p:cNvCxnSpPr>
            <a:cxnSpLocks/>
            <a:stCxn id="32" idx="3"/>
            <a:endCxn id="24" idx="1"/>
          </p:cNvCxnSpPr>
          <p:nvPr/>
        </p:nvCxnSpPr>
        <p:spPr>
          <a:xfrm flipV="1">
            <a:off x="4344903" y="1815534"/>
            <a:ext cx="1092265" cy="1223262"/>
          </a:xfrm>
          <a:prstGeom prst="bentConnector3">
            <a:avLst>
              <a:gd name="adj1" fmla="val 50000"/>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1" name="Elbow Connector 100">
            <a:extLst>
              <a:ext uri="{FF2B5EF4-FFF2-40B4-BE49-F238E27FC236}">
                <a16:creationId xmlns:a16="http://schemas.microsoft.com/office/drawing/2014/main" id="{E17D6BB3-8B38-11FE-91D5-585FAEEC8118}"/>
              </a:ext>
            </a:extLst>
          </p:cNvPr>
          <p:cNvCxnSpPr>
            <a:cxnSpLocks/>
            <a:stCxn id="42" idx="3"/>
            <a:endCxn id="24" idx="1"/>
          </p:cNvCxnSpPr>
          <p:nvPr/>
        </p:nvCxnSpPr>
        <p:spPr>
          <a:xfrm flipV="1">
            <a:off x="4322575" y="1815534"/>
            <a:ext cx="1114593" cy="1678362"/>
          </a:xfrm>
          <a:prstGeom prst="bentConnector3">
            <a:avLst>
              <a:gd name="adj1" fmla="val 50000"/>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3" name="Text 1">
            <a:extLst>
              <a:ext uri="{FF2B5EF4-FFF2-40B4-BE49-F238E27FC236}">
                <a16:creationId xmlns:a16="http://schemas.microsoft.com/office/drawing/2014/main" id="{BAB22CCA-3C78-D749-216A-A6B7E2A96C0E}"/>
              </a:ext>
            </a:extLst>
          </p:cNvPr>
          <p:cNvSpPr/>
          <p:nvPr/>
        </p:nvSpPr>
        <p:spPr>
          <a:xfrm>
            <a:off x="320040" y="0"/>
            <a:ext cx="850392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How Do We Approach Building a Risk Model</a:t>
            </a:r>
            <a:endParaRPr lang="en-US" sz="2200" dirty="0"/>
          </a:p>
        </p:txBody>
      </p:sp>
      <p:sp>
        <p:nvSpPr>
          <p:cNvPr id="290" name="Rectangle: Rounded Corners 38">
            <a:extLst>
              <a:ext uri="{FF2B5EF4-FFF2-40B4-BE49-F238E27FC236}">
                <a16:creationId xmlns:a16="http://schemas.microsoft.com/office/drawing/2014/main" id="{38C5E6F4-1602-C19D-14B9-D95DA4401E76}"/>
              </a:ext>
            </a:extLst>
          </p:cNvPr>
          <p:cNvSpPr/>
          <p:nvPr/>
        </p:nvSpPr>
        <p:spPr>
          <a:xfrm>
            <a:off x="7205163" y="2259560"/>
            <a:ext cx="1362527" cy="21892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AU" sz="1000" dirty="0" err="1">
                <a:solidFill>
                  <a:schemeClr val="tx1"/>
                </a:solidFill>
              </a:rPr>
              <a:t>leaguegamefinder</a:t>
            </a:r>
            <a:endParaRPr lang="en-AU" sz="1000" dirty="0">
              <a:solidFill>
                <a:schemeClr val="tx1"/>
              </a:solidFill>
            </a:endParaRPr>
          </a:p>
        </p:txBody>
      </p:sp>
      <p:sp>
        <p:nvSpPr>
          <p:cNvPr id="291" name="Rectangle: Rounded Corners 38">
            <a:extLst>
              <a:ext uri="{FF2B5EF4-FFF2-40B4-BE49-F238E27FC236}">
                <a16:creationId xmlns:a16="http://schemas.microsoft.com/office/drawing/2014/main" id="{BC683A34-610F-A579-68DF-19A56BE309F6}"/>
              </a:ext>
            </a:extLst>
          </p:cNvPr>
          <p:cNvSpPr/>
          <p:nvPr/>
        </p:nvSpPr>
        <p:spPr>
          <a:xfrm>
            <a:off x="7197516" y="2562928"/>
            <a:ext cx="1362527" cy="21892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AU" sz="1000" dirty="0" err="1">
                <a:solidFill>
                  <a:schemeClr val="tx1"/>
                </a:solidFill>
              </a:rPr>
              <a:t>playergamelogs</a:t>
            </a:r>
            <a:endParaRPr lang="en-AU" sz="1000" dirty="0">
              <a:solidFill>
                <a:schemeClr val="tx1"/>
              </a:solidFill>
            </a:endParaRPr>
          </a:p>
        </p:txBody>
      </p:sp>
      <p:sp>
        <p:nvSpPr>
          <p:cNvPr id="292" name="Rectangle: Rounded Corners 38">
            <a:extLst>
              <a:ext uri="{FF2B5EF4-FFF2-40B4-BE49-F238E27FC236}">
                <a16:creationId xmlns:a16="http://schemas.microsoft.com/office/drawing/2014/main" id="{FD70EA07-5D02-C578-4906-ED820F9DCF4B}"/>
              </a:ext>
            </a:extLst>
          </p:cNvPr>
          <p:cNvSpPr/>
          <p:nvPr/>
        </p:nvSpPr>
        <p:spPr>
          <a:xfrm>
            <a:off x="7194947" y="2870047"/>
            <a:ext cx="1362527" cy="21892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AU" sz="1000" dirty="0" err="1">
                <a:solidFill>
                  <a:schemeClr val="tx1"/>
                </a:solidFill>
              </a:rPr>
              <a:t>playercareerstats</a:t>
            </a:r>
            <a:endParaRPr lang="en-AU" sz="1000" dirty="0">
              <a:solidFill>
                <a:schemeClr val="tx1"/>
              </a:solidFill>
            </a:endParaRPr>
          </a:p>
        </p:txBody>
      </p:sp>
      <p:sp>
        <p:nvSpPr>
          <p:cNvPr id="294" name="Rectangle: Rounded Corners 38">
            <a:extLst>
              <a:ext uri="{FF2B5EF4-FFF2-40B4-BE49-F238E27FC236}">
                <a16:creationId xmlns:a16="http://schemas.microsoft.com/office/drawing/2014/main" id="{3C1E9D4D-86FE-CA85-820C-72CA9424026B}"/>
              </a:ext>
            </a:extLst>
          </p:cNvPr>
          <p:cNvSpPr/>
          <p:nvPr/>
        </p:nvSpPr>
        <p:spPr>
          <a:xfrm>
            <a:off x="7192378" y="3165757"/>
            <a:ext cx="1362527" cy="21892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AU" sz="1000" dirty="0" err="1">
                <a:solidFill>
                  <a:schemeClr val="tx1"/>
                </a:solidFill>
              </a:rPr>
              <a:t>commonplayerinfo</a:t>
            </a:r>
            <a:endParaRPr lang="en-AU" sz="1000" dirty="0">
              <a:solidFill>
                <a:schemeClr val="tx1"/>
              </a:solidFill>
            </a:endParaRPr>
          </a:p>
        </p:txBody>
      </p:sp>
      <p:sp>
        <p:nvSpPr>
          <p:cNvPr id="295" name="Rectangle: Rounded Corners 38">
            <a:extLst>
              <a:ext uri="{FF2B5EF4-FFF2-40B4-BE49-F238E27FC236}">
                <a16:creationId xmlns:a16="http://schemas.microsoft.com/office/drawing/2014/main" id="{61CBF0F6-C35E-42D0-4875-6C8190C2CD8B}"/>
              </a:ext>
            </a:extLst>
          </p:cNvPr>
          <p:cNvSpPr/>
          <p:nvPr/>
        </p:nvSpPr>
        <p:spPr>
          <a:xfrm>
            <a:off x="7191516" y="3432986"/>
            <a:ext cx="1362527" cy="21892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AU" sz="1000" dirty="0" err="1">
                <a:solidFill>
                  <a:schemeClr val="tx1"/>
                </a:solidFill>
              </a:rPr>
              <a:t>commonteamroster</a:t>
            </a:r>
            <a:endParaRPr lang="en-AU" sz="1000" dirty="0">
              <a:solidFill>
                <a:schemeClr val="tx1"/>
              </a:solidFill>
            </a:endParaRPr>
          </a:p>
        </p:txBody>
      </p:sp>
      <p:sp>
        <p:nvSpPr>
          <p:cNvPr id="297" name="Rectangle: Rounded Corners 38">
            <a:extLst>
              <a:ext uri="{FF2B5EF4-FFF2-40B4-BE49-F238E27FC236}">
                <a16:creationId xmlns:a16="http://schemas.microsoft.com/office/drawing/2014/main" id="{8BA5ADD1-F31C-3131-DB26-A2FC49FB0814}"/>
              </a:ext>
            </a:extLst>
          </p:cNvPr>
          <p:cNvSpPr/>
          <p:nvPr/>
        </p:nvSpPr>
        <p:spPr>
          <a:xfrm>
            <a:off x="7191515" y="3702363"/>
            <a:ext cx="1362527" cy="21892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AU" sz="1000" dirty="0">
                <a:solidFill>
                  <a:schemeClr val="tx1"/>
                </a:solidFill>
              </a:rPr>
              <a:t>scheduleleaguev2</a:t>
            </a:r>
          </a:p>
        </p:txBody>
      </p:sp>
      <p:sp>
        <p:nvSpPr>
          <p:cNvPr id="298" name="Rectangle: Rounded Corners 38">
            <a:extLst>
              <a:ext uri="{FF2B5EF4-FFF2-40B4-BE49-F238E27FC236}">
                <a16:creationId xmlns:a16="http://schemas.microsoft.com/office/drawing/2014/main" id="{5EB730FF-9F46-C805-62A0-9F39F4314380}"/>
              </a:ext>
            </a:extLst>
          </p:cNvPr>
          <p:cNvSpPr/>
          <p:nvPr/>
        </p:nvSpPr>
        <p:spPr>
          <a:xfrm>
            <a:off x="7191514" y="3982832"/>
            <a:ext cx="1362527" cy="218927"/>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r>
              <a:rPr lang="en-AU" sz="1000" dirty="0" err="1">
                <a:solidFill>
                  <a:schemeClr val="tx1"/>
                </a:solidFill>
              </a:rPr>
              <a:t>leaguegamelog</a:t>
            </a:r>
            <a:endParaRPr lang="en-AU" sz="1000" dirty="0">
              <a:solidFill>
                <a:schemeClr val="tx1"/>
              </a:solidFill>
            </a:endParaRPr>
          </a:p>
        </p:txBody>
      </p:sp>
      <p:cxnSp>
        <p:nvCxnSpPr>
          <p:cNvPr id="312" name="Elbow Connector 311">
            <a:extLst>
              <a:ext uri="{FF2B5EF4-FFF2-40B4-BE49-F238E27FC236}">
                <a16:creationId xmlns:a16="http://schemas.microsoft.com/office/drawing/2014/main" id="{DB5F7BB1-4AB2-7892-982B-419FA3EEC418}"/>
              </a:ext>
            </a:extLst>
          </p:cNvPr>
          <p:cNvCxnSpPr>
            <a:cxnSpLocks/>
            <a:stCxn id="24" idx="3"/>
            <a:endCxn id="290" idx="1"/>
          </p:cNvCxnSpPr>
          <p:nvPr/>
        </p:nvCxnSpPr>
        <p:spPr>
          <a:xfrm>
            <a:off x="6257352" y="1815534"/>
            <a:ext cx="947811" cy="553490"/>
          </a:xfrm>
          <a:prstGeom prst="bentConnector3">
            <a:avLst>
              <a:gd name="adj1" fmla="val 50000"/>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15" name="Elbow Connector 314">
            <a:extLst>
              <a:ext uri="{FF2B5EF4-FFF2-40B4-BE49-F238E27FC236}">
                <a16:creationId xmlns:a16="http://schemas.microsoft.com/office/drawing/2014/main" id="{F537E05E-F59C-BC91-A0CD-045D7F6E8693}"/>
              </a:ext>
            </a:extLst>
          </p:cNvPr>
          <p:cNvCxnSpPr>
            <a:cxnSpLocks/>
            <a:stCxn id="24" idx="3"/>
            <a:endCxn id="291" idx="1"/>
          </p:cNvCxnSpPr>
          <p:nvPr/>
        </p:nvCxnSpPr>
        <p:spPr>
          <a:xfrm>
            <a:off x="6257352" y="1815534"/>
            <a:ext cx="940164" cy="856858"/>
          </a:xfrm>
          <a:prstGeom prst="bentConnector3">
            <a:avLst>
              <a:gd name="adj1" fmla="val 50000"/>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18" name="Elbow Connector 317">
            <a:extLst>
              <a:ext uri="{FF2B5EF4-FFF2-40B4-BE49-F238E27FC236}">
                <a16:creationId xmlns:a16="http://schemas.microsoft.com/office/drawing/2014/main" id="{A37A4601-0E8F-19C8-1C87-5905BFB0E4BE}"/>
              </a:ext>
            </a:extLst>
          </p:cNvPr>
          <p:cNvCxnSpPr>
            <a:cxnSpLocks/>
            <a:stCxn id="24" idx="3"/>
            <a:endCxn id="292" idx="1"/>
          </p:cNvCxnSpPr>
          <p:nvPr/>
        </p:nvCxnSpPr>
        <p:spPr>
          <a:xfrm>
            <a:off x="6257352" y="1815534"/>
            <a:ext cx="937595" cy="1163977"/>
          </a:xfrm>
          <a:prstGeom prst="bentConnector3">
            <a:avLst>
              <a:gd name="adj1" fmla="val 50000"/>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21" name="Elbow Connector 320">
            <a:extLst>
              <a:ext uri="{FF2B5EF4-FFF2-40B4-BE49-F238E27FC236}">
                <a16:creationId xmlns:a16="http://schemas.microsoft.com/office/drawing/2014/main" id="{A7658458-F76B-D80F-033F-DAFF8B1F8A84}"/>
              </a:ext>
            </a:extLst>
          </p:cNvPr>
          <p:cNvCxnSpPr>
            <a:cxnSpLocks/>
            <a:stCxn id="24" idx="3"/>
            <a:endCxn id="294" idx="1"/>
          </p:cNvCxnSpPr>
          <p:nvPr/>
        </p:nvCxnSpPr>
        <p:spPr>
          <a:xfrm>
            <a:off x="6257352" y="1815534"/>
            <a:ext cx="935026" cy="1459687"/>
          </a:xfrm>
          <a:prstGeom prst="bentConnector3">
            <a:avLst>
              <a:gd name="adj1" fmla="val 50000"/>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24" name="Elbow Connector 323">
            <a:extLst>
              <a:ext uri="{FF2B5EF4-FFF2-40B4-BE49-F238E27FC236}">
                <a16:creationId xmlns:a16="http://schemas.microsoft.com/office/drawing/2014/main" id="{509B2BE1-8717-C8F0-3531-D760C3133CB5}"/>
              </a:ext>
            </a:extLst>
          </p:cNvPr>
          <p:cNvCxnSpPr>
            <a:cxnSpLocks/>
            <a:stCxn id="24" idx="3"/>
            <a:endCxn id="295" idx="1"/>
          </p:cNvCxnSpPr>
          <p:nvPr/>
        </p:nvCxnSpPr>
        <p:spPr>
          <a:xfrm>
            <a:off x="6257352" y="1815534"/>
            <a:ext cx="934164" cy="1726916"/>
          </a:xfrm>
          <a:prstGeom prst="bentConnector3">
            <a:avLst>
              <a:gd name="adj1" fmla="val 50000"/>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27" name="Elbow Connector 326">
            <a:extLst>
              <a:ext uri="{FF2B5EF4-FFF2-40B4-BE49-F238E27FC236}">
                <a16:creationId xmlns:a16="http://schemas.microsoft.com/office/drawing/2014/main" id="{2C30ECBF-6AE4-8D9E-52A6-03051DDB3FE4}"/>
              </a:ext>
            </a:extLst>
          </p:cNvPr>
          <p:cNvCxnSpPr>
            <a:cxnSpLocks/>
            <a:stCxn id="24" idx="3"/>
            <a:endCxn id="297" idx="1"/>
          </p:cNvCxnSpPr>
          <p:nvPr/>
        </p:nvCxnSpPr>
        <p:spPr>
          <a:xfrm>
            <a:off x="6257352" y="1815534"/>
            <a:ext cx="934163" cy="1996293"/>
          </a:xfrm>
          <a:prstGeom prst="bentConnector3">
            <a:avLst>
              <a:gd name="adj1" fmla="val 50000"/>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30" name="Elbow Connector 329">
            <a:extLst>
              <a:ext uri="{FF2B5EF4-FFF2-40B4-BE49-F238E27FC236}">
                <a16:creationId xmlns:a16="http://schemas.microsoft.com/office/drawing/2014/main" id="{7E1ED476-A70D-EBD9-3C36-88FF01E7A75E}"/>
              </a:ext>
            </a:extLst>
          </p:cNvPr>
          <p:cNvCxnSpPr>
            <a:cxnSpLocks/>
            <a:stCxn id="24" idx="3"/>
            <a:endCxn id="298" idx="1"/>
          </p:cNvCxnSpPr>
          <p:nvPr/>
        </p:nvCxnSpPr>
        <p:spPr>
          <a:xfrm>
            <a:off x="6257352" y="1815534"/>
            <a:ext cx="934162" cy="2276762"/>
          </a:xfrm>
          <a:prstGeom prst="bentConnector3">
            <a:avLst>
              <a:gd name="adj1" fmla="val 50000"/>
            </a:avLst>
          </a:prstGeom>
          <a:ln w="28575">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355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2F124-C8C3-237E-A61A-BE75968B6F5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4A765DD-1CF1-E14D-A462-D149DBF4575E}"/>
              </a:ext>
            </a:extLst>
          </p:cNvPr>
          <p:cNvSpPr/>
          <p:nvPr/>
        </p:nvSpPr>
        <p:spPr>
          <a:xfrm>
            <a:off x="0" y="0"/>
            <a:ext cx="9144000" cy="640080"/>
          </a:xfrm>
          <a:prstGeom prst="rect">
            <a:avLst/>
          </a:prstGeom>
          <a:solidFill>
            <a:srgbClr val="1A3A5C"/>
          </a:solidFill>
          <a:ln w="12700">
            <a:solidFill>
              <a:srgbClr val="1A3A5C"/>
            </a:solidFill>
            <a:prstDash val="solid"/>
          </a:ln>
        </p:spPr>
        <p:txBody>
          <a:bodyPr/>
          <a:lstStyle/>
          <a:p>
            <a:endParaRPr lang="en-US"/>
          </a:p>
        </p:txBody>
      </p:sp>
      <p:sp>
        <p:nvSpPr>
          <p:cNvPr id="3" name="Text 1">
            <a:extLst>
              <a:ext uri="{FF2B5EF4-FFF2-40B4-BE49-F238E27FC236}">
                <a16:creationId xmlns:a16="http://schemas.microsoft.com/office/drawing/2014/main" id="{FE30ACCC-3441-F2D5-0FDE-1C456C5D6BD8}"/>
              </a:ext>
            </a:extLst>
          </p:cNvPr>
          <p:cNvSpPr/>
          <p:nvPr/>
        </p:nvSpPr>
        <p:spPr>
          <a:xfrm>
            <a:off x="320040" y="0"/>
            <a:ext cx="8503920" cy="640080"/>
          </a:xfrm>
          <a:prstGeom prst="rect">
            <a:avLst/>
          </a:prstGeom>
          <a:noFill/>
          <a:ln/>
        </p:spPr>
        <p:txBody>
          <a:bodyPr wrap="square" rtlCol="0" anchor="ctr"/>
          <a:lstStyle/>
          <a:p>
            <a:r>
              <a:rPr lang="en-US" sz="2200" b="1" dirty="0">
                <a:solidFill>
                  <a:srgbClr val="FFFFFF"/>
                </a:solidFill>
                <a:latin typeface="Calibri" pitchFamily="34" charset="0"/>
                <a:ea typeface="Calibri" pitchFamily="34" charset="-122"/>
                <a:cs typeface="Calibri" pitchFamily="34" charset="-120"/>
              </a:rPr>
              <a:t>Data Collection - What does an EDA look like</a:t>
            </a:r>
            <a:endParaRPr lang="en-US" sz="2200" dirty="0"/>
          </a:p>
        </p:txBody>
      </p:sp>
      <p:sp>
        <p:nvSpPr>
          <p:cNvPr id="10" name="Shape 8">
            <a:extLst>
              <a:ext uri="{FF2B5EF4-FFF2-40B4-BE49-F238E27FC236}">
                <a16:creationId xmlns:a16="http://schemas.microsoft.com/office/drawing/2014/main" id="{9BBDB8C0-9D89-2655-1459-EBB4548D074D}"/>
              </a:ext>
            </a:extLst>
          </p:cNvPr>
          <p:cNvSpPr/>
          <p:nvPr/>
        </p:nvSpPr>
        <p:spPr>
          <a:xfrm>
            <a:off x="27993" y="667451"/>
            <a:ext cx="4385386" cy="2206378"/>
          </a:xfrm>
          <a:prstGeom prst="rect">
            <a:avLst/>
          </a:prstGeom>
          <a:solidFill>
            <a:schemeClr val="bg1"/>
          </a:solidFill>
          <a:ln w="12700">
            <a:solidFill>
              <a:srgbClr val="E2E8F0"/>
            </a:solidFill>
            <a:prstDash val="solid"/>
          </a:ln>
          <a:effectLst>
            <a:outerShdw blurRad="63500" dist="25400" dir="8100000" algn="bl" rotWithShape="0">
              <a:srgbClr val="000000">
                <a:alpha val="10000"/>
              </a:srgbClr>
            </a:outerShdw>
          </a:effectLst>
        </p:spPr>
        <p:txBody>
          <a:bodyPr/>
          <a:lstStyle/>
          <a:p>
            <a:endParaRPr lang="en-US"/>
          </a:p>
        </p:txBody>
      </p:sp>
      <p:sp>
        <p:nvSpPr>
          <p:cNvPr id="38" name="Shape 8">
            <a:extLst>
              <a:ext uri="{FF2B5EF4-FFF2-40B4-BE49-F238E27FC236}">
                <a16:creationId xmlns:a16="http://schemas.microsoft.com/office/drawing/2014/main" id="{1F68E249-5CB5-9C3C-7435-CFEAFE6EF7DB}"/>
              </a:ext>
            </a:extLst>
          </p:cNvPr>
          <p:cNvSpPr/>
          <p:nvPr/>
        </p:nvSpPr>
        <p:spPr>
          <a:xfrm>
            <a:off x="37324" y="2901200"/>
            <a:ext cx="4385386" cy="2206378"/>
          </a:xfrm>
          <a:prstGeom prst="rect">
            <a:avLst/>
          </a:prstGeom>
          <a:solidFill>
            <a:schemeClr val="bg1"/>
          </a:solidFill>
          <a:ln w="12700">
            <a:solidFill>
              <a:srgbClr val="E2E8F0"/>
            </a:solidFill>
            <a:prstDash val="solid"/>
          </a:ln>
          <a:effectLst>
            <a:outerShdw blurRad="63500" dist="25400" dir="8100000" algn="bl" rotWithShape="0">
              <a:srgbClr val="000000">
                <a:alpha val="10000"/>
              </a:srgbClr>
            </a:outerShdw>
          </a:effectLst>
        </p:spPr>
        <p:txBody>
          <a:bodyPr/>
          <a:lstStyle/>
          <a:p>
            <a:endParaRPr lang="en-US"/>
          </a:p>
        </p:txBody>
      </p:sp>
      <p:sp>
        <p:nvSpPr>
          <p:cNvPr id="39" name="Shape 8">
            <a:extLst>
              <a:ext uri="{FF2B5EF4-FFF2-40B4-BE49-F238E27FC236}">
                <a16:creationId xmlns:a16="http://schemas.microsoft.com/office/drawing/2014/main" id="{D13E55ED-06B1-D72E-00A0-0B93F552C2D4}"/>
              </a:ext>
            </a:extLst>
          </p:cNvPr>
          <p:cNvSpPr/>
          <p:nvPr/>
        </p:nvSpPr>
        <p:spPr>
          <a:xfrm>
            <a:off x="4450704" y="667451"/>
            <a:ext cx="4627980" cy="2206378"/>
          </a:xfrm>
          <a:prstGeom prst="rect">
            <a:avLst/>
          </a:prstGeom>
          <a:solidFill>
            <a:schemeClr val="bg1"/>
          </a:solidFill>
          <a:ln w="12700">
            <a:solidFill>
              <a:srgbClr val="E2E8F0"/>
            </a:solidFill>
            <a:prstDash val="solid"/>
          </a:ln>
          <a:effectLst>
            <a:outerShdw blurRad="63500" dist="25400" dir="8100000" algn="bl" rotWithShape="0">
              <a:srgbClr val="000000">
                <a:alpha val="10000"/>
              </a:srgbClr>
            </a:outerShdw>
          </a:effectLst>
        </p:spPr>
        <p:txBody>
          <a:bodyPr/>
          <a:lstStyle/>
          <a:p>
            <a:endParaRPr lang="en-US"/>
          </a:p>
        </p:txBody>
      </p:sp>
      <p:sp>
        <p:nvSpPr>
          <p:cNvPr id="40" name="Shape 8">
            <a:extLst>
              <a:ext uri="{FF2B5EF4-FFF2-40B4-BE49-F238E27FC236}">
                <a16:creationId xmlns:a16="http://schemas.microsoft.com/office/drawing/2014/main" id="{88582BC9-165D-49ED-CB55-CD2DA81BD89D}"/>
              </a:ext>
            </a:extLst>
          </p:cNvPr>
          <p:cNvSpPr/>
          <p:nvPr/>
        </p:nvSpPr>
        <p:spPr>
          <a:xfrm>
            <a:off x="4450704" y="2901200"/>
            <a:ext cx="4627980" cy="2206378"/>
          </a:xfrm>
          <a:prstGeom prst="rect">
            <a:avLst/>
          </a:prstGeom>
          <a:solidFill>
            <a:schemeClr val="bg1"/>
          </a:solidFill>
          <a:ln w="12700">
            <a:solidFill>
              <a:srgbClr val="E2E8F0"/>
            </a:solidFill>
            <a:prstDash val="solid"/>
          </a:ln>
          <a:effectLst>
            <a:outerShdw blurRad="63500" dist="25400" dir="8100000" algn="bl" rotWithShape="0">
              <a:srgbClr val="000000">
                <a:alpha val="10000"/>
              </a:srgbClr>
            </a:outerShdw>
          </a:effectLst>
        </p:spPr>
        <p:txBody>
          <a:bodyPr/>
          <a:lstStyle/>
          <a:p>
            <a:endParaRPr lang="en-US"/>
          </a:p>
        </p:txBody>
      </p:sp>
      <p:pic>
        <p:nvPicPr>
          <p:cNvPr id="36" name="Picture 35" descr="A graph of a number of different colored lines&#10;&#10;AI-generated content may be incorrect.">
            <a:extLst>
              <a:ext uri="{FF2B5EF4-FFF2-40B4-BE49-F238E27FC236}">
                <a16:creationId xmlns:a16="http://schemas.microsoft.com/office/drawing/2014/main" id="{0180AFCA-4606-A725-736F-AF3EDB32A55B}"/>
              </a:ext>
            </a:extLst>
          </p:cNvPr>
          <p:cNvPicPr>
            <a:picLocks noChangeAspect="1"/>
          </p:cNvPicPr>
          <p:nvPr/>
        </p:nvPicPr>
        <p:blipFill>
          <a:blip r:embed="rId3"/>
          <a:stretch>
            <a:fillRect/>
          </a:stretch>
        </p:blipFill>
        <p:spPr>
          <a:xfrm>
            <a:off x="777433" y="2978517"/>
            <a:ext cx="2986890" cy="2051743"/>
          </a:xfrm>
          <a:prstGeom prst="rect">
            <a:avLst/>
          </a:prstGeom>
        </p:spPr>
      </p:pic>
      <p:pic>
        <p:nvPicPr>
          <p:cNvPr id="34" name="Picture 33" descr="A graph showing different colored rectangles&#10;&#10;AI-generated content may be incorrect.">
            <a:extLst>
              <a:ext uri="{FF2B5EF4-FFF2-40B4-BE49-F238E27FC236}">
                <a16:creationId xmlns:a16="http://schemas.microsoft.com/office/drawing/2014/main" id="{80C51E9B-863D-D529-5649-53FAD49A1600}"/>
              </a:ext>
            </a:extLst>
          </p:cNvPr>
          <p:cNvPicPr>
            <a:picLocks noChangeAspect="1"/>
          </p:cNvPicPr>
          <p:nvPr/>
        </p:nvPicPr>
        <p:blipFill>
          <a:blip r:embed="rId4"/>
          <a:stretch>
            <a:fillRect/>
          </a:stretch>
        </p:blipFill>
        <p:spPr>
          <a:xfrm>
            <a:off x="5004111" y="2957390"/>
            <a:ext cx="3521165" cy="2093995"/>
          </a:xfrm>
          <a:prstGeom prst="rect">
            <a:avLst/>
          </a:prstGeom>
        </p:spPr>
      </p:pic>
      <p:pic>
        <p:nvPicPr>
          <p:cNvPr id="32" name="Picture 31" descr="A group of colored bars&#10;&#10;AI-generated content may be incorrect.">
            <a:extLst>
              <a:ext uri="{FF2B5EF4-FFF2-40B4-BE49-F238E27FC236}">
                <a16:creationId xmlns:a16="http://schemas.microsoft.com/office/drawing/2014/main" id="{3D2D17B6-12A7-6286-F5F4-5A41A951C265}"/>
              </a:ext>
            </a:extLst>
          </p:cNvPr>
          <p:cNvPicPr>
            <a:picLocks noChangeAspect="1"/>
          </p:cNvPicPr>
          <p:nvPr/>
        </p:nvPicPr>
        <p:blipFill>
          <a:blip r:embed="rId5"/>
          <a:stretch>
            <a:fillRect/>
          </a:stretch>
        </p:blipFill>
        <p:spPr>
          <a:xfrm>
            <a:off x="4925625" y="696270"/>
            <a:ext cx="3678135" cy="2110820"/>
          </a:xfrm>
          <a:prstGeom prst="rect">
            <a:avLst/>
          </a:prstGeom>
        </p:spPr>
      </p:pic>
      <p:pic>
        <p:nvPicPr>
          <p:cNvPr id="30" name="Picture 29" descr="A graph showing the difference between the age and the position of the group&#10;&#10;AI-generated content may be incorrect.">
            <a:extLst>
              <a:ext uri="{FF2B5EF4-FFF2-40B4-BE49-F238E27FC236}">
                <a16:creationId xmlns:a16="http://schemas.microsoft.com/office/drawing/2014/main" id="{43983566-F93E-643E-989F-5C0B0CF00215}"/>
              </a:ext>
            </a:extLst>
          </p:cNvPr>
          <p:cNvPicPr>
            <a:picLocks noChangeAspect="1"/>
          </p:cNvPicPr>
          <p:nvPr/>
        </p:nvPicPr>
        <p:blipFill>
          <a:blip r:embed="rId6"/>
          <a:stretch>
            <a:fillRect/>
          </a:stretch>
        </p:blipFill>
        <p:spPr>
          <a:xfrm>
            <a:off x="241910" y="777301"/>
            <a:ext cx="4054292" cy="1996032"/>
          </a:xfrm>
          <a:prstGeom prst="rect">
            <a:avLst/>
          </a:prstGeom>
        </p:spPr>
      </p:pic>
      <p:sp>
        <p:nvSpPr>
          <p:cNvPr id="5" name="Shape 3">
            <a:extLst>
              <a:ext uri="{FF2B5EF4-FFF2-40B4-BE49-F238E27FC236}">
                <a16:creationId xmlns:a16="http://schemas.microsoft.com/office/drawing/2014/main" id="{FEB0BE11-25C6-6032-C4B0-E2AD370348F2}"/>
              </a:ext>
            </a:extLst>
          </p:cNvPr>
          <p:cNvSpPr/>
          <p:nvPr/>
        </p:nvSpPr>
        <p:spPr>
          <a:xfrm>
            <a:off x="37884" y="667450"/>
            <a:ext cx="45719" cy="2206377"/>
          </a:xfrm>
          <a:prstGeom prst="rect">
            <a:avLst/>
          </a:prstGeom>
          <a:solidFill>
            <a:srgbClr val="2E6DA4"/>
          </a:solidFill>
          <a:ln w="12700">
            <a:noFill/>
            <a:prstDash val="solid"/>
          </a:ln>
        </p:spPr>
        <p:txBody>
          <a:bodyPr/>
          <a:lstStyle/>
          <a:p>
            <a:endParaRPr lang="en-US"/>
          </a:p>
        </p:txBody>
      </p:sp>
      <p:sp>
        <p:nvSpPr>
          <p:cNvPr id="41" name="Shape 3">
            <a:extLst>
              <a:ext uri="{FF2B5EF4-FFF2-40B4-BE49-F238E27FC236}">
                <a16:creationId xmlns:a16="http://schemas.microsoft.com/office/drawing/2014/main" id="{4E7FF97B-531E-3643-BD02-90083D50BE85}"/>
              </a:ext>
            </a:extLst>
          </p:cNvPr>
          <p:cNvSpPr/>
          <p:nvPr/>
        </p:nvSpPr>
        <p:spPr>
          <a:xfrm>
            <a:off x="37884" y="2901201"/>
            <a:ext cx="45719" cy="2206377"/>
          </a:xfrm>
          <a:prstGeom prst="rect">
            <a:avLst/>
          </a:prstGeom>
          <a:solidFill>
            <a:schemeClr val="accent4"/>
          </a:solidFill>
          <a:ln w="12700">
            <a:noFill/>
            <a:prstDash val="solid"/>
          </a:ln>
        </p:spPr>
        <p:txBody>
          <a:bodyPr/>
          <a:lstStyle/>
          <a:p>
            <a:endParaRPr lang="en-US"/>
          </a:p>
        </p:txBody>
      </p:sp>
      <p:sp>
        <p:nvSpPr>
          <p:cNvPr id="42" name="Shape 3">
            <a:extLst>
              <a:ext uri="{FF2B5EF4-FFF2-40B4-BE49-F238E27FC236}">
                <a16:creationId xmlns:a16="http://schemas.microsoft.com/office/drawing/2014/main" id="{9DC4BDE9-172F-8663-AC8D-050575ABADE4}"/>
              </a:ext>
            </a:extLst>
          </p:cNvPr>
          <p:cNvSpPr/>
          <p:nvPr/>
        </p:nvSpPr>
        <p:spPr>
          <a:xfrm>
            <a:off x="4450703" y="2901201"/>
            <a:ext cx="45719" cy="2206377"/>
          </a:xfrm>
          <a:prstGeom prst="rect">
            <a:avLst/>
          </a:prstGeom>
          <a:solidFill>
            <a:srgbClr val="00B050"/>
          </a:solidFill>
          <a:ln w="12700">
            <a:noFill/>
            <a:prstDash val="solid"/>
          </a:ln>
        </p:spPr>
        <p:txBody>
          <a:bodyPr/>
          <a:lstStyle/>
          <a:p>
            <a:endParaRPr lang="en-US"/>
          </a:p>
        </p:txBody>
      </p:sp>
      <p:sp>
        <p:nvSpPr>
          <p:cNvPr id="43" name="Shape 3">
            <a:extLst>
              <a:ext uri="{FF2B5EF4-FFF2-40B4-BE49-F238E27FC236}">
                <a16:creationId xmlns:a16="http://schemas.microsoft.com/office/drawing/2014/main" id="{25E4BC8E-08AD-CC91-1DFE-E4B3A0AABBD3}"/>
              </a:ext>
            </a:extLst>
          </p:cNvPr>
          <p:cNvSpPr/>
          <p:nvPr/>
        </p:nvSpPr>
        <p:spPr>
          <a:xfrm>
            <a:off x="4450703" y="667449"/>
            <a:ext cx="45719" cy="2206377"/>
          </a:xfrm>
          <a:prstGeom prst="rect">
            <a:avLst/>
          </a:prstGeom>
          <a:solidFill>
            <a:srgbClr val="7030A0"/>
          </a:solidFill>
          <a:ln w="12700">
            <a:noFill/>
            <a:prstDash val="solid"/>
          </a:ln>
        </p:spPr>
        <p:txBody>
          <a:bodyPr/>
          <a:lstStyle/>
          <a:p>
            <a:endParaRPr lang="en-US"/>
          </a:p>
        </p:txBody>
      </p:sp>
      <p:grpSp>
        <p:nvGrpSpPr>
          <p:cNvPr id="46" name="Group 45">
            <a:extLst>
              <a:ext uri="{FF2B5EF4-FFF2-40B4-BE49-F238E27FC236}">
                <a16:creationId xmlns:a16="http://schemas.microsoft.com/office/drawing/2014/main" id="{371D7B30-6019-DA9A-9DCC-31CBBA599EC4}"/>
              </a:ext>
            </a:extLst>
          </p:cNvPr>
          <p:cNvGrpSpPr/>
          <p:nvPr/>
        </p:nvGrpSpPr>
        <p:grpSpPr>
          <a:xfrm>
            <a:off x="8569076" y="52588"/>
            <a:ext cx="509767" cy="509767"/>
            <a:chOff x="7241964" y="2782711"/>
            <a:chExt cx="828823" cy="828823"/>
          </a:xfrm>
        </p:grpSpPr>
        <p:sp>
          <p:nvSpPr>
            <p:cNvPr id="47" name="Shape 2">
              <a:extLst>
                <a:ext uri="{FF2B5EF4-FFF2-40B4-BE49-F238E27FC236}">
                  <a16:creationId xmlns:a16="http://schemas.microsoft.com/office/drawing/2014/main" id="{5CFB2C58-9A42-AA92-C55B-611753566FA4}"/>
                </a:ext>
              </a:extLst>
            </p:cNvPr>
            <p:cNvSpPr/>
            <p:nvPr/>
          </p:nvSpPr>
          <p:spPr>
            <a:xfrm flipV="1">
              <a:off x="7288447" y="2820973"/>
              <a:ext cx="739305" cy="739305"/>
            </a:xfrm>
            <a:prstGeom prst="ellipse">
              <a:avLst/>
            </a:prstGeom>
            <a:solidFill>
              <a:schemeClr val="accent2">
                <a:alpha val="35000"/>
              </a:schemeClr>
            </a:solidFill>
            <a:ln w="12700">
              <a:noFill/>
              <a:prstDash val="solid"/>
            </a:ln>
          </p:spPr>
          <p:txBody>
            <a:bodyPr/>
            <a:lstStyle/>
            <a:p>
              <a:endParaRPr lang="en-US"/>
            </a:p>
          </p:txBody>
        </p:sp>
        <p:pic>
          <p:nvPicPr>
            <p:cNvPr id="48" name="Picture 6" descr="Basketball Generic Detailed Outline icon | Magnific (formerly Magnific)">
              <a:extLst>
                <a:ext uri="{FF2B5EF4-FFF2-40B4-BE49-F238E27FC236}">
                  <a16:creationId xmlns:a16="http://schemas.microsoft.com/office/drawing/2014/main" id="{737E7358-96BD-311F-137A-0FD28B49FFA5}"/>
                </a:ext>
              </a:extLst>
            </p:cNvPr>
            <p:cNvPicPr>
              <a:picLocks noChangeAspect="1" noChangeArrowheads="1"/>
            </p:cNvPicPr>
            <p:nvPr/>
          </p:nvPicPr>
          <p:blipFill>
            <a:blip r:embed="rId7">
              <a:alphaModFix amt="50000"/>
              <a:extLst>
                <a:ext uri="{28A0092B-C50C-407E-A947-70E740481C1C}">
                  <a14:useLocalDpi xmlns:a14="http://schemas.microsoft.com/office/drawing/2010/main" val="0"/>
                </a:ext>
              </a:extLst>
            </a:blip>
            <a:srcRect/>
            <a:stretch>
              <a:fillRect/>
            </a:stretch>
          </p:blipFill>
          <p:spPr bwMode="auto">
            <a:xfrm>
              <a:off x="7241964" y="2782711"/>
              <a:ext cx="828823" cy="828823"/>
            </a:xfrm>
            <a:prstGeom prst="rect">
              <a:avLst/>
            </a:prstGeom>
            <a:noFill/>
            <a:extLst>
              <a:ext uri="{909E8E84-426E-40DD-AFC4-6F175D3DCCD1}">
                <a14:hiddenFill xmlns:a14="http://schemas.microsoft.com/office/drawing/2010/main">
                  <a:solidFill>
                    <a:srgbClr val="FFFFFF"/>
                  </a:solidFill>
                </a14:hiddenFill>
              </a:ext>
            </a:extLst>
          </p:spPr>
        </p:pic>
      </p:grpSp>
      <p:sp>
        <p:nvSpPr>
          <p:cNvPr id="49" name="Shape 5">
            <a:extLst>
              <a:ext uri="{FF2B5EF4-FFF2-40B4-BE49-F238E27FC236}">
                <a16:creationId xmlns:a16="http://schemas.microsoft.com/office/drawing/2014/main" id="{D14A87EC-6C62-C639-2028-22A778C0B452}"/>
              </a:ext>
            </a:extLst>
          </p:cNvPr>
          <p:cNvSpPr/>
          <p:nvPr/>
        </p:nvSpPr>
        <p:spPr>
          <a:xfrm>
            <a:off x="0" y="608076"/>
            <a:ext cx="9144000" cy="45719"/>
          </a:xfrm>
          <a:prstGeom prst="rect">
            <a:avLst/>
          </a:prstGeom>
          <a:solidFill>
            <a:schemeClr val="accent2"/>
          </a:solidFill>
          <a:ln w="12700">
            <a:noFill/>
            <a:prstDash val="solid"/>
          </a:ln>
        </p:spPr>
        <p:txBody>
          <a:bodyPr/>
          <a:lstStyle/>
          <a:p>
            <a:endParaRPr lang="en-US"/>
          </a:p>
        </p:txBody>
      </p:sp>
    </p:spTree>
    <p:extLst>
      <p:ext uri="{BB962C8B-B14F-4D97-AF65-F5344CB8AC3E}">
        <p14:creationId xmlns:p14="http://schemas.microsoft.com/office/powerpoint/2010/main" val="2694703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F5AF8-61CF-FB54-C228-B1C844414547}"/>
            </a:ext>
          </a:extLst>
        </p:cNvPr>
        <p:cNvGrpSpPr/>
        <p:nvPr/>
      </p:nvGrpSpPr>
      <p:grpSpPr>
        <a:xfrm>
          <a:off x="0" y="0"/>
          <a:ext cx="0" cy="0"/>
          <a:chOff x="0" y="0"/>
          <a:chExt cx="0" cy="0"/>
        </a:xfrm>
      </p:grpSpPr>
      <p:sp>
        <p:nvSpPr>
          <p:cNvPr id="21" name="Shape 23">
            <a:extLst>
              <a:ext uri="{FF2B5EF4-FFF2-40B4-BE49-F238E27FC236}">
                <a16:creationId xmlns:a16="http://schemas.microsoft.com/office/drawing/2014/main" id="{BBE48941-4359-7B8F-F69A-849ADAA48C2B}"/>
              </a:ext>
            </a:extLst>
          </p:cNvPr>
          <p:cNvSpPr/>
          <p:nvPr/>
        </p:nvSpPr>
        <p:spPr>
          <a:xfrm>
            <a:off x="1231597" y="4555425"/>
            <a:ext cx="3578117" cy="379281"/>
          </a:xfrm>
          <a:prstGeom prst="rect">
            <a:avLst/>
          </a:prstGeom>
          <a:solidFill>
            <a:srgbClr val="FF0000">
              <a:alpha val="16863"/>
            </a:srgbClr>
          </a:solidFill>
          <a:ln w="25400">
            <a:solidFill>
              <a:srgbClr val="C00000"/>
            </a:solidFill>
            <a:prstDash val="solid"/>
          </a:ln>
        </p:spPr>
        <p:txBody>
          <a:bodyPr/>
          <a:lstStyle/>
          <a:p>
            <a:endParaRPr lang="en-US"/>
          </a:p>
        </p:txBody>
      </p:sp>
      <p:sp>
        <p:nvSpPr>
          <p:cNvPr id="20" name="Shape 23">
            <a:extLst>
              <a:ext uri="{FF2B5EF4-FFF2-40B4-BE49-F238E27FC236}">
                <a16:creationId xmlns:a16="http://schemas.microsoft.com/office/drawing/2014/main" id="{1EE1BBF1-E831-1E9B-79EC-51BBB65BD055}"/>
              </a:ext>
            </a:extLst>
          </p:cNvPr>
          <p:cNvSpPr/>
          <p:nvPr/>
        </p:nvSpPr>
        <p:spPr>
          <a:xfrm>
            <a:off x="5103742" y="949964"/>
            <a:ext cx="2950099" cy="379281"/>
          </a:xfrm>
          <a:prstGeom prst="rect">
            <a:avLst/>
          </a:prstGeom>
          <a:solidFill>
            <a:srgbClr val="FF0000">
              <a:alpha val="16863"/>
            </a:srgbClr>
          </a:solidFill>
          <a:ln w="25400">
            <a:solidFill>
              <a:srgbClr val="C00000"/>
            </a:solidFill>
            <a:prstDash val="solid"/>
          </a:ln>
        </p:spPr>
        <p:txBody>
          <a:bodyPr/>
          <a:lstStyle/>
          <a:p>
            <a:endParaRPr lang="en-US"/>
          </a:p>
        </p:txBody>
      </p:sp>
      <p:sp>
        <p:nvSpPr>
          <p:cNvPr id="16" name="Shape 8">
            <a:extLst>
              <a:ext uri="{FF2B5EF4-FFF2-40B4-BE49-F238E27FC236}">
                <a16:creationId xmlns:a16="http://schemas.microsoft.com/office/drawing/2014/main" id="{B62A4BA9-CB5C-C317-15C0-F68CA18AF382}"/>
              </a:ext>
            </a:extLst>
          </p:cNvPr>
          <p:cNvSpPr/>
          <p:nvPr/>
        </p:nvSpPr>
        <p:spPr>
          <a:xfrm>
            <a:off x="5019924" y="2756300"/>
            <a:ext cx="4058919" cy="2334612"/>
          </a:xfrm>
          <a:prstGeom prst="rect">
            <a:avLst/>
          </a:prstGeom>
          <a:solidFill>
            <a:schemeClr val="bg1"/>
          </a:solidFill>
          <a:ln w="12700">
            <a:solidFill>
              <a:srgbClr val="E2E8F0"/>
            </a:solidFill>
            <a:prstDash val="solid"/>
          </a:ln>
          <a:effectLst>
            <a:outerShdw blurRad="63500" dist="25400" dir="8100000" algn="bl" rotWithShape="0">
              <a:srgbClr val="000000">
                <a:alpha val="10000"/>
              </a:srgbClr>
            </a:outerShdw>
          </a:effectLst>
        </p:spPr>
        <p:txBody>
          <a:bodyPr/>
          <a:lstStyle/>
          <a:p>
            <a:endParaRPr lang="en-US"/>
          </a:p>
        </p:txBody>
      </p:sp>
      <p:sp>
        <p:nvSpPr>
          <p:cNvPr id="2" name="Shape 0">
            <a:extLst>
              <a:ext uri="{FF2B5EF4-FFF2-40B4-BE49-F238E27FC236}">
                <a16:creationId xmlns:a16="http://schemas.microsoft.com/office/drawing/2014/main" id="{71D0C37D-679E-0432-D0C8-4586F1BF54D9}"/>
              </a:ext>
            </a:extLst>
          </p:cNvPr>
          <p:cNvSpPr/>
          <p:nvPr/>
        </p:nvSpPr>
        <p:spPr>
          <a:xfrm>
            <a:off x="0" y="0"/>
            <a:ext cx="9144000" cy="640080"/>
          </a:xfrm>
          <a:prstGeom prst="rect">
            <a:avLst/>
          </a:prstGeom>
          <a:solidFill>
            <a:srgbClr val="1A3A5C"/>
          </a:solidFill>
          <a:ln w="12700">
            <a:solidFill>
              <a:srgbClr val="1A3A5C"/>
            </a:solidFill>
            <a:prstDash val="solid"/>
          </a:ln>
        </p:spPr>
        <p:txBody>
          <a:bodyPr/>
          <a:lstStyle/>
          <a:p>
            <a:endParaRPr lang="en-US"/>
          </a:p>
        </p:txBody>
      </p:sp>
      <p:sp>
        <p:nvSpPr>
          <p:cNvPr id="3" name="Text 1">
            <a:extLst>
              <a:ext uri="{FF2B5EF4-FFF2-40B4-BE49-F238E27FC236}">
                <a16:creationId xmlns:a16="http://schemas.microsoft.com/office/drawing/2014/main" id="{B6B02867-7642-D30B-DDB7-AD51916B37F4}"/>
              </a:ext>
            </a:extLst>
          </p:cNvPr>
          <p:cNvSpPr/>
          <p:nvPr/>
        </p:nvSpPr>
        <p:spPr>
          <a:xfrm>
            <a:off x="320040" y="0"/>
            <a:ext cx="8503920" cy="640080"/>
          </a:xfrm>
          <a:prstGeom prst="rect">
            <a:avLst/>
          </a:prstGeom>
          <a:noFill/>
          <a:ln/>
        </p:spPr>
        <p:txBody>
          <a:bodyPr wrap="square" rtlCol="0" anchor="ctr"/>
          <a:lstStyle/>
          <a:p>
            <a:r>
              <a:rPr lang="en-US" sz="2200" b="1" dirty="0">
                <a:solidFill>
                  <a:srgbClr val="FFFFFF"/>
                </a:solidFill>
                <a:latin typeface="Calibri" pitchFamily="34" charset="0"/>
                <a:ea typeface="Calibri" pitchFamily="34" charset="-122"/>
                <a:cs typeface="Calibri" pitchFamily="34" charset="-120"/>
              </a:rPr>
              <a:t>Data Collection - What does an EDA look like</a:t>
            </a:r>
            <a:endParaRPr lang="en-US" sz="2200" dirty="0"/>
          </a:p>
        </p:txBody>
      </p:sp>
      <p:sp>
        <p:nvSpPr>
          <p:cNvPr id="10" name="Shape 8">
            <a:extLst>
              <a:ext uri="{FF2B5EF4-FFF2-40B4-BE49-F238E27FC236}">
                <a16:creationId xmlns:a16="http://schemas.microsoft.com/office/drawing/2014/main" id="{EC87E964-9202-FCA6-F953-514E20C09620}"/>
              </a:ext>
            </a:extLst>
          </p:cNvPr>
          <p:cNvSpPr/>
          <p:nvPr/>
        </p:nvSpPr>
        <p:spPr>
          <a:xfrm>
            <a:off x="137345" y="799751"/>
            <a:ext cx="4810575" cy="2334612"/>
          </a:xfrm>
          <a:prstGeom prst="rect">
            <a:avLst/>
          </a:prstGeom>
          <a:solidFill>
            <a:schemeClr val="bg1"/>
          </a:solidFill>
          <a:ln w="12700">
            <a:solidFill>
              <a:srgbClr val="E2E8F0"/>
            </a:solidFill>
            <a:prstDash val="solid"/>
          </a:ln>
          <a:effectLst>
            <a:outerShdw blurRad="63500" dist="25400" dir="8100000" algn="bl" rotWithShape="0">
              <a:srgbClr val="000000">
                <a:alpha val="10000"/>
              </a:srgbClr>
            </a:outerShdw>
          </a:effectLst>
        </p:spPr>
        <p:txBody>
          <a:bodyPr/>
          <a:lstStyle/>
          <a:p>
            <a:endParaRPr lang="en-US"/>
          </a:p>
        </p:txBody>
      </p:sp>
      <p:sp>
        <p:nvSpPr>
          <p:cNvPr id="5" name="Shape 3">
            <a:extLst>
              <a:ext uri="{FF2B5EF4-FFF2-40B4-BE49-F238E27FC236}">
                <a16:creationId xmlns:a16="http://schemas.microsoft.com/office/drawing/2014/main" id="{FCCD9A74-808A-AD3B-F2A0-12F20309CB93}"/>
              </a:ext>
            </a:extLst>
          </p:cNvPr>
          <p:cNvSpPr/>
          <p:nvPr/>
        </p:nvSpPr>
        <p:spPr>
          <a:xfrm flipH="1">
            <a:off x="91626" y="799751"/>
            <a:ext cx="45719" cy="2334612"/>
          </a:xfrm>
          <a:prstGeom prst="rect">
            <a:avLst/>
          </a:prstGeom>
          <a:solidFill>
            <a:srgbClr val="FF0000"/>
          </a:solidFill>
          <a:ln w="12700">
            <a:noFill/>
            <a:prstDash val="solid"/>
          </a:ln>
        </p:spPr>
        <p:txBody>
          <a:bodyPr/>
          <a:lstStyle/>
          <a:p>
            <a:endParaRPr lang="en-US"/>
          </a:p>
        </p:txBody>
      </p:sp>
      <p:pic>
        <p:nvPicPr>
          <p:cNvPr id="6" name="Picture 5" descr="A graph of a number of people&#10;&#10;AI-generated content may be incorrect.">
            <a:extLst>
              <a:ext uri="{FF2B5EF4-FFF2-40B4-BE49-F238E27FC236}">
                <a16:creationId xmlns:a16="http://schemas.microsoft.com/office/drawing/2014/main" id="{2DC0ABE4-08FB-D481-AF7B-81C76B462B8D}"/>
              </a:ext>
            </a:extLst>
          </p:cNvPr>
          <p:cNvPicPr>
            <a:picLocks noChangeAspect="1"/>
          </p:cNvPicPr>
          <p:nvPr/>
        </p:nvPicPr>
        <p:blipFill>
          <a:blip r:embed="rId3"/>
          <a:stretch>
            <a:fillRect/>
          </a:stretch>
        </p:blipFill>
        <p:spPr>
          <a:xfrm>
            <a:off x="592974" y="923917"/>
            <a:ext cx="4216740" cy="2086280"/>
          </a:xfrm>
          <a:prstGeom prst="rect">
            <a:avLst/>
          </a:prstGeom>
        </p:spPr>
      </p:pic>
      <p:grpSp>
        <p:nvGrpSpPr>
          <p:cNvPr id="7" name="Group 6">
            <a:extLst>
              <a:ext uri="{FF2B5EF4-FFF2-40B4-BE49-F238E27FC236}">
                <a16:creationId xmlns:a16="http://schemas.microsoft.com/office/drawing/2014/main" id="{17AFAFD1-A0C1-9D17-04C3-5AFF348F5620}"/>
              </a:ext>
            </a:extLst>
          </p:cNvPr>
          <p:cNvGrpSpPr/>
          <p:nvPr/>
        </p:nvGrpSpPr>
        <p:grpSpPr>
          <a:xfrm>
            <a:off x="8569076" y="52588"/>
            <a:ext cx="509767" cy="509767"/>
            <a:chOff x="7241964" y="2782711"/>
            <a:chExt cx="828823" cy="828823"/>
          </a:xfrm>
        </p:grpSpPr>
        <p:sp>
          <p:nvSpPr>
            <p:cNvPr id="8" name="Shape 2">
              <a:extLst>
                <a:ext uri="{FF2B5EF4-FFF2-40B4-BE49-F238E27FC236}">
                  <a16:creationId xmlns:a16="http://schemas.microsoft.com/office/drawing/2014/main" id="{4E8C48EC-695C-33EE-13CF-171906EB99CF}"/>
                </a:ext>
              </a:extLst>
            </p:cNvPr>
            <p:cNvSpPr/>
            <p:nvPr/>
          </p:nvSpPr>
          <p:spPr>
            <a:xfrm flipV="1">
              <a:off x="7288447" y="2820973"/>
              <a:ext cx="739305" cy="739305"/>
            </a:xfrm>
            <a:prstGeom prst="ellipse">
              <a:avLst/>
            </a:prstGeom>
            <a:solidFill>
              <a:schemeClr val="accent2">
                <a:alpha val="35000"/>
              </a:schemeClr>
            </a:solidFill>
            <a:ln w="12700">
              <a:noFill/>
              <a:prstDash val="solid"/>
            </a:ln>
          </p:spPr>
          <p:txBody>
            <a:bodyPr/>
            <a:lstStyle/>
            <a:p>
              <a:endParaRPr lang="en-US"/>
            </a:p>
          </p:txBody>
        </p:sp>
        <p:pic>
          <p:nvPicPr>
            <p:cNvPr id="9" name="Picture 6" descr="Basketball Generic Detailed Outline icon | Magnific (formerly Magnific)">
              <a:extLst>
                <a:ext uri="{FF2B5EF4-FFF2-40B4-BE49-F238E27FC236}">
                  <a16:creationId xmlns:a16="http://schemas.microsoft.com/office/drawing/2014/main" id="{FF9F080F-91C7-4DD2-DB9A-3EBC95211CA6}"/>
                </a:ext>
              </a:extLst>
            </p:cNvPr>
            <p:cNvPicPr>
              <a:picLocks noChangeAspect="1" noChangeArrowheads="1"/>
            </p:cNvPicPr>
            <p:nvPr/>
          </p:nvPicPr>
          <p:blipFill>
            <a:blip r:embed="rId4">
              <a:alphaModFix amt="50000"/>
              <a:extLst>
                <a:ext uri="{28A0092B-C50C-407E-A947-70E740481C1C}">
                  <a14:useLocalDpi xmlns:a14="http://schemas.microsoft.com/office/drawing/2010/main" val="0"/>
                </a:ext>
              </a:extLst>
            </a:blip>
            <a:srcRect/>
            <a:stretch>
              <a:fillRect/>
            </a:stretch>
          </p:blipFill>
          <p:spPr bwMode="auto">
            <a:xfrm>
              <a:off x="7241964" y="2782711"/>
              <a:ext cx="828823" cy="828823"/>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Shape 5">
            <a:extLst>
              <a:ext uri="{FF2B5EF4-FFF2-40B4-BE49-F238E27FC236}">
                <a16:creationId xmlns:a16="http://schemas.microsoft.com/office/drawing/2014/main" id="{BDDB9EB4-C535-1C5D-E74B-A479056BEA50}"/>
              </a:ext>
            </a:extLst>
          </p:cNvPr>
          <p:cNvSpPr/>
          <p:nvPr/>
        </p:nvSpPr>
        <p:spPr>
          <a:xfrm>
            <a:off x="0" y="608076"/>
            <a:ext cx="9144000" cy="45719"/>
          </a:xfrm>
          <a:prstGeom prst="rect">
            <a:avLst/>
          </a:prstGeom>
          <a:solidFill>
            <a:schemeClr val="accent2"/>
          </a:solidFill>
          <a:ln w="12700">
            <a:noFill/>
            <a:prstDash val="solid"/>
          </a:ln>
        </p:spPr>
        <p:txBody>
          <a:bodyPr/>
          <a:lstStyle/>
          <a:p>
            <a:endParaRPr lang="en-US"/>
          </a:p>
        </p:txBody>
      </p:sp>
      <p:sp>
        <p:nvSpPr>
          <p:cNvPr id="13" name="AutoShape 4">
            <a:extLst>
              <a:ext uri="{FF2B5EF4-FFF2-40B4-BE49-F238E27FC236}">
                <a16:creationId xmlns:a16="http://schemas.microsoft.com/office/drawing/2014/main" id="{D788A33D-6634-72DA-5D56-2315C1A745B9}"/>
              </a:ext>
            </a:extLst>
          </p:cNvPr>
          <p:cNvSpPr>
            <a:spLocks noChangeAspect="1" noChangeArrowheads="1"/>
          </p:cNvSpPr>
          <p:nvPr/>
        </p:nvSpPr>
        <p:spPr bwMode="auto">
          <a:xfrm>
            <a:off x="3750391" y="2256790"/>
            <a:ext cx="225402" cy="225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 name="Picture 14" descr="A graph with different colored squares&#10;&#10;AI-generated content may be incorrect.">
            <a:extLst>
              <a:ext uri="{FF2B5EF4-FFF2-40B4-BE49-F238E27FC236}">
                <a16:creationId xmlns:a16="http://schemas.microsoft.com/office/drawing/2014/main" id="{A005EE36-0136-37C3-9944-18022D23E4E2}"/>
              </a:ext>
            </a:extLst>
          </p:cNvPr>
          <p:cNvPicPr>
            <a:picLocks noChangeAspect="1"/>
          </p:cNvPicPr>
          <p:nvPr/>
        </p:nvPicPr>
        <p:blipFill>
          <a:blip r:embed="rId5"/>
          <a:stretch>
            <a:fillRect/>
          </a:stretch>
        </p:blipFill>
        <p:spPr>
          <a:xfrm>
            <a:off x="5219624" y="2912505"/>
            <a:ext cx="3787031" cy="2022201"/>
          </a:xfrm>
          <a:prstGeom prst="rect">
            <a:avLst/>
          </a:prstGeom>
        </p:spPr>
      </p:pic>
      <p:sp>
        <p:nvSpPr>
          <p:cNvPr id="17" name="Shape 3">
            <a:extLst>
              <a:ext uri="{FF2B5EF4-FFF2-40B4-BE49-F238E27FC236}">
                <a16:creationId xmlns:a16="http://schemas.microsoft.com/office/drawing/2014/main" id="{0824D6D1-317B-230E-C1BE-12C6A350D88A}"/>
              </a:ext>
            </a:extLst>
          </p:cNvPr>
          <p:cNvSpPr/>
          <p:nvPr/>
        </p:nvSpPr>
        <p:spPr>
          <a:xfrm flipH="1">
            <a:off x="4986903" y="2756300"/>
            <a:ext cx="45719" cy="2334612"/>
          </a:xfrm>
          <a:prstGeom prst="rect">
            <a:avLst/>
          </a:prstGeom>
          <a:solidFill>
            <a:srgbClr val="FF0000"/>
          </a:solidFill>
          <a:ln w="12700">
            <a:noFill/>
            <a:prstDash val="solid"/>
          </a:ln>
        </p:spPr>
        <p:txBody>
          <a:bodyPr/>
          <a:lstStyle/>
          <a:p>
            <a:endParaRPr lang="en-US"/>
          </a:p>
        </p:txBody>
      </p:sp>
      <p:sp>
        <p:nvSpPr>
          <p:cNvPr id="18" name="TextBox 17">
            <a:extLst>
              <a:ext uri="{FF2B5EF4-FFF2-40B4-BE49-F238E27FC236}">
                <a16:creationId xmlns:a16="http://schemas.microsoft.com/office/drawing/2014/main" id="{7C2BAA49-8086-6D3F-672A-C1D2319EE81E}"/>
              </a:ext>
            </a:extLst>
          </p:cNvPr>
          <p:cNvSpPr txBox="1"/>
          <p:nvPr/>
        </p:nvSpPr>
        <p:spPr>
          <a:xfrm>
            <a:off x="5130027" y="984872"/>
            <a:ext cx="2923814" cy="276999"/>
          </a:xfrm>
          <a:prstGeom prst="rect">
            <a:avLst/>
          </a:prstGeom>
          <a:noFill/>
        </p:spPr>
        <p:txBody>
          <a:bodyPr wrap="none" rtlCol="0">
            <a:spAutoFit/>
          </a:bodyPr>
          <a:lstStyle/>
          <a:p>
            <a:r>
              <a:rPr lang="en-US" sz="1200" dirty="0"/>
              <a:t>Nonlinear injury effects through the season</a:t>
            </a:r>
          </a:p>
        </p:txBody>
      </p:sp>
      <p:sp>
        <p:nvSpPr>
          <p:cNvPr id="19" name="TextBox 18">
            <a:extLst>
              <a:ext uri="{FF2B5EF4-FFF2-40B4-BE49-F238E27FC236}">
                <a16:creationId xmlns:a16="http://schemas.microsoft.com/office/drawing/2014/main" id="{651CC99E-FE2F-4610-2BC3-203250742665}"/>
              </a:ext>
            </a:extLst>
          </p:cNvPr>
          <p:cNvSpPr txBox="1"/>
          <p:nvPr/>
        </p:nvSpPr>
        <p:spPr>
          <a:xfrm>
            <a:off x="1231598" y="4618472"/>
            <a:ext cx="3662798" cy="276999"/>
          </a:xfrm>
          <a:prstGeom prst="rect">
            <a:avLst/>
          </a:prstGeom>
          <a:noFill/>
        </p:spPr>
        <p:txBody>
          <a:bodyPr wrap="none" rtlCol="0">
            <a:spAutoFit/>
          </a:bodyPr>
          <a:lstStyle/>
          <a:p>
            <a:r>
              <a:rPr lang="en-US" sz="1200" dirty="0"/>
              <a:t>Injuries types occur at different rates during the season </a:t>
            </a:r>
          </a:p>
        </p:txBody>
      </p:sp>
    </p:spTree>
    <p:extLst>
      <p:ext uri="{BB962C8B-B14F-4D97-AF65-F5344CB8AC3E}">
        <p14:creationId xmlns:p14="http://schemas.microsoft.com/office/powerpoint/2010/main" val="1295038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txBody>
          <a:bodyPr/>
          <a:lstStyle/>
          <a:p>
            <a:endParaRPr lang="en-US"/>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Processing Pipeline - Raw Data to Cox-Ready</a:t>
            </a:r>
            <a:endParaRPr lang="en-US" sz="2200" dirty="0"/>
          </a:p>
        </p:txBody>
      </p:sp>
      <p:sp>
        <p:nvSpPr>
          <p:cNvPr id="4" name="Shape 2"/>
          <p:cNvSpPr/>
          <p:nvPr/>
        </p:nvSpPr>
        <p:spPr>
          <a:xfrm>
            <a:off x="201168" y="777240"/>
            <a:ext cx="438912" cy="658368"/>
          </a:xfrm>
          <a:prstGeom prst="rect">
            <a:avLst/>
          </a:prstGeom>
          <a:solidFill>
            <a:srgbClr val="0D9488"/>
          </a:solidFill>
          <a:ln w="12700">
            <a:solidFill>
              <a:srgbClr val="0D9488"/>
            </a:solidFill>
            <a:prstDash val="solid"/>
          </a:ln>
        </p:spPr>
        <p:txBody>
          <a:bodyPr/>
          <a:lstStyle/>
          <a:p>
            <a:endParaRPr lang="en-US"/>
          </a:p>
        </p:txBody>
      </p:sp>
      <p:sp>
        <p:nvSpPr>
          <p:cNvPr id="5" name="Text 3"/>
          <p:cNvSpPr/>
          <p:nvPr/>
        </p:nvSpPr>
        <p:spPr>
          <a:xfrm>
            <a:off x="201168" y="777240"/>
            <a:ext cx="438912" cy="65836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 name="Shape 4"/>
          <p:cNvSpPr/>
          <p:nvPr/>
        </p:nvSpPr>
        <p:spPr>
          <a:xfrm>
            <a:off x="713232" y="777240"/>
            <a:ext cx="8229600" cy="658368"/>
          </a:xfrm>
          <a:prstGeom prst="rect">
            <a:avLst/>
          </a:prstGeom>
          <a:solidFill>
            <a:srgbClr val="F4F7FB"/>
          </a:solidFill>
          <a:ln w="12700">
            <a:solidFill>
              <a:srgbClr val="E2E8F0"/>
            </a:solidFill>
            <a:prstDash val="solid"/>
          </a:ln>
        </p:spPr>
        <p:txBody>
          <a:bodyPr/>
          <a:lstStyle/>
          <a:p>
            <a:endParaRPr lang="en-US"/>
          </a:p>
        </p:txBody>
      </p:sp>
      <p:sp>
        <p:nvSpPr>
          <p:cNvPr id="7" name="Text 5"/>
          <p:cNvSpPr/>
          <p:nvPr/>
        </p:nvSpPr>
        <p:spPr>
          <a:xfrm>
            <a:off x="822960" y="813816"/>
            <a:ext cx="3657600" cy="256032"/>
          </a:xfrm>
          <a:prstGeom prst="rect">
            <a:avLst/>
          </a:prstGeom>
          <a:noFill/>
          <a:ln/>
        </p:spPr>
        <p:txBody>
          <a:bodyPr wrap="square"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Injury Category Dictionary</a:t>
            </a:r>
            <a:endParaRPr lang="en-US" sz="1200" dirty="0"/>
          </a:p>
        </p:txBody>
      </p:sp>
      <p:sp>
        <p:nvSpPr>
          <p:cNvPr id="8" name="Text 6"/>
          <p:cNvSpPr/>
          <p:nvPr/>
        </p:nvSpPr>
        <p:spPr>
          <a:xfrm>
            <a:off x="822960" y="1078992"/>
            <a:ext cx="7955280" cy="320040"/>
          </a:xfrm>
          <a:prstGeom prst="rect">
            <a:avLst/>
          </a:prstGeom>
          <a:noFill/>
          <a:ln/>
        </p:spPr>
        <p:txBody>
          <a:bodyPr wrap="square" rtlCol="0" anchor="ctr"/>
          <a:lstStyle/>
          <a:p>
            <a:pPr marL="0" indent="0">
              <a:buNone/>
            </a:pPr>
            <a:r>
              <a:rPr lang="en-US" sz="1050" dirty="0">
                <a:solidFill>
                  <a:srgbClr val="111827"/>
                </a:solidFill>
                <a:latin typeface="Calibri" pitchFamily="34" charset="0"/>
                <a:ea typeface="Calibri" pitchFamily="34" charset="-122"/>
                <a:cs typeface="Calibri" pitchFamily="34" charset="-120"/>
              </a:rPr>
              <a:t>Injury translation functions built from 2,500+ distinct NBA injury reason strings → 24 categories across structural, soft tissue, and non-injury</a:t>
            </a:r>
            <a:endParaRPr lang="en-US" sz="1050" dirty="0"/>
          </a:p>
        </p:txBody>
      </p:sp>
      <p:sp>
        <p:nvSpPr>
          <p:cNvPr id="9" name="Shape 7"/>
          <p:cNvSpPr/>
          <p:nvPr/>
        </p:nvSpPr>
        <p:spPr>
          <a:xfrm>
            <a:off x="420624" y="1435608"/>
            <a:ext cx="0" cy="164592"/>
          </a:xfrm>
          <a:prstGeom prst="line">
            <a:avLst/>
          </a:prstGeom>
          <a:noFill/>
          <a:ln w="19050">
            <a:solidFill>
              <a:srgbClr val="CBD5E1"/>
            </a:solidFill>
            <a:prstDash val="dash"/>
          </a:ln>
        </p:spPr>
        <p:txBody>
          <a:bodyPr/>
          <a:lstStyle/>
          <a:p>
            <a:endParaRPr lang="en-US"/>
          </a:p>
        </p:txBody>
      </p:sp>
      <p:sp>
        <p:nvSpPr>
          <p:cNvPr id="10" name="Shape 8"/>
          <p:cNvSpPr/>
          <p:nvPr/>
        </p:nvSpPr>
        <p:spPr>
          <a:xfrm>
            <a:off x="201168" y="1600200"/>
            <a:ext cx="438912" cy="658368"/>
          </a:xfrm>
          <a:prstGeom prst="rect">
            <a:avLst/>
          </a:prstGeom>
          <a:solidFill>
            <a:srgbClr val="2E6DA4"/>
          </a:solidFill>
          <a:ln w="12700">
            <a:solidFill>
              <a:srgbClr val="2E6DA4"/>
            </a:solidFill>
            <a:prstDash val="solid"/>
          </a:ln>
        </p:spPr>
        <p:txBody>
          <a:bodyPr/>
          <a:lstStyle/>
          <a:p>
            <a:endParaRPr lang="en-US"/>
          </a:p>
        </p:txBody>
      </p:sp>
      <p:sp>
        <p:nvSpPr>
          <p:cNvPr id="11" name="Text 9"/>
          <p:cNvSpPr/>
          <p:nvPr/>
        </p:nvSpPr>
        <p:spPr>
          <a:xfrm>
            <a:off x="201168" y="1600200"/>
            <a:ext cx="438912" cy="65836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Shape 10"/>
          <p:cNvSpPr/>
          <p:nvPr/>
        </p:nvSpPr>
        <p:spPr>
          <a:xfrm>
            <a:off x="713232" y="1600200"/>
            <a:ext cx="8229600" cy="658368"/>
          </a:xfrm>
          <a:prstGeom prst="rect">
            <a:avLst/>
          </a:prstGeom>
          <a:solidFill>
            <a:srgbClr val="F4F7FB"/>
          </a:solidFill>
          <a:ln w="12700">
            <a:solidFill>
              <a:srgbClr val="E2E8F0"/>
            </a:solidFill>
            <a:prstDash val="solid"/>
          </a:ln>
        </p:spPr>
        <p:txBody>
          <a:bodyPr/>
          <a:lstStyle/>
          <a:p>
            <a:endParaRPr lang="en-US"/>
          </a:p>
        </p:txBody>
      </p:sp>
      <p:sp>
        <p:nvSpPr>
          <p:cNvPr id="13" name="Text 11"/>
          <p:cNvSpPr/>
          <p:nvPr/>
        </p:nvSpPr>
        <p:spPr>
          <a:xfrm>
            <a:off x="822960" y="1636776"/>
            <a:ext cx="3657600" cy="256032"/>
          </a:xfrm>
          <a:prstGeom prst="rect">
            <a:avLst/>
          </a:prstGeom>
          <a:noFill/>
          <a:ln/>
        </p:spPr>
        <p:txBody>
          <a:bodyPr wrap="square" rtlCol="0" anchor="ctr"/>
          <a:lstStyle/>
          <a:p>
            <a:pPr marL="0" indent="0">
              <a:buNone/>
            </a:pPr>
            <a:r>
              <a:rPr lang="en-US" sz="1200" b="1" dirty="0">
                <a:solidFill>
                  <a:srgbClr val="2E6DA4"/>
                </a:solidFill>
                <a:latin typeface="Calibri" pitchFamily="34" charset="0"/>
                <a:ea typeface="Calibri" pitchFamily="34" charset="-122"/>
                <a:cs typeface="Calibri" pitchFamily="34" charset="-120"/>
              </a:rPr>
              <a:t>Injuries Data Processing</a:t>
            </a:r>
            <a:endParaRPr lang="en-US" sz="1200" dirty="0"/>
          </a:p>
        </p:txBody>
      </p:sp>
      <p:sp>
        <p:nvSpPr>
          <p:cNvPr id="14" name="Text 12"/>
          <p:cNvSpPr/>
          <p:nvPr/>
        </p:nvSpPr>
        <p:spPr>
          <a:xfrm>
            <a:off x="822960" y="1901952"/>
            <a:ext cx="7955280" cy="320040"/>
          </a:xfrm>
          <a:prstGeom prst="rect">
            <a:avLst/>
          </a:prstGeom>
          <a:noFill/>
          <a:ln/>
        </p:spPr>
        <p:txBody>
          <a:bodyPr wrap="square" rtlCol="0" anchor="ctr"/>
          <a:lstStyle/>
          <a:p>
            <a:pPr marL="0" indent="0">
              <a:buNone/>
            </a:pPr>
            <a:r>
              <a:rPr lang="en-US" sz="1050" dirty="0">
                <a:solidFill>
                  <a:srgbClr val="111827"/>
                </a:solidFill>
                <a:latin typeface="Calibri" pitchFamily="34" charset="0"/>
                <a:ea typeface="Calibri" pitchFamily="34" charset="-122"/>
                <a:cs typeface="Calibri" pitchFamily="34" charset="-120"/>
              </a:rPr>
              <a:t>Load files → strip excess text 'Injury/Illness -' prefix → classify → normalise names → resolve to final pre-game status per player per game</a:t>
            </a:r>
            <a:endParaRPr lang="en-US" sz="1050" dirty="0"/>
          </a:p>
        </p:txBody>
      </p:sp>
      <p:sp>
        <p:nvSpPr>
          <p:cNvPr id="15" name="Shape 13"/>
          <p:cNvSpPr/>
          <p:nvPr/>
        </p:nvSpPr>
        <p:spPr>
          <a:xfrm>
            <a:off x="420624" y="2258568"/>
            <a:ext cx="0" cy="164592"/>
          </a:xfrm>
          <a:prstGeom prst="line">
            <a:avLst/>
          </a:prstGeom>
          <a:noFill/>
          <a:ln w="19050">
            <a:solidFill>
              <a:srgbClr val="CBD5E1"/>
            </a:solidFill>
            <a:prstDash val="dash"/>
          </a:ln>
        </p:spPr>
        <p:txBody>
          <a:bodyPr/>
          <a:lstStyle/>
          <a:p>
            <a:endParaRPr lang="en-US"/>
          </a:p>
        </p:txBody>
      </p:sp>
      <p:sp>
        <p:nvSpPr>
          <p:cNvPr id="16" name="Shape 14"/>
          <p:cNvSpPr/>
          <p:nvPr/>
        </p:nvSpPr>
        <p:spPr>
          <a:xfrm>
            <a:off x="201168" y="2423160"/>
            <a:ext cx="438912" cy="658368"/>
          </a:xfrm>
          <a:prstGeom prst="rect">
            <a:avLst/>
          </a:prstGeom>
          <a:solidFill>
            <a:srgbClr val="D97706"/>
          </a:solidFill>
          <a:ln w="12700">
            <a:solidFill>
              <a:srgbClr val="D97706"/>
            </a:solidFill>
            <a:prstDash val="solid"/>
          </a:ln>
        </p:spPr>
        <p:txBody>
          <a:bodyPr/>
          <a:lstStyle/>
          <a:p>
            <a:endParaRPr lang="en-US"/>
          </a:p>
        </p:txBody>
      </p:sp>
      <p:sp>
        <p:nvSpPr>
          <p:cNvPr id="17" name="Text 15"/>
          <p:cNvSpPr/>
          <p:nvPr/>
        </p:nvSpPr>
        <p:spPr>
          <a:xfrm>
            <a:off x="201168" y="2423160"/>
            <a:ext cx="438912" cy="65836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8" name="Shape 16"/>
          <p:cNvSpPr/>
          <p:nvPr/>
        </p:nvSpPr>
        <p:spPr>
          <a:xfrm>
            <a:off x="713232" y="2423160"/>
            <a:ext cx="8229600" cy="658368"/>
          </a:xfrm>
          <a:prstGeom prst="rect">
            <a:avLst/>
          </a:prstGeom>
          <a:solidFill>
            <a:srgbClr val="F4F7FB"/>
          </a:solidFill>
          <a:ln w="12700">
            <a:solidFill>
              <a:srgbClr val="E2E8F0"/>
            </a:solidFill>
            <a:prstDash val="solid"/>
          </a:ln>
        </p:spPr>
        <p:txBody>
          <a:bodyPr/>
          <a:lstStyle/>
          <a:p>
            <a:endParaRPr lang="en-US"/>
          </a:p>
        </p:txBody>
      </p:sp>
      <p:sp>
        <p:nvSpPr>
          <p:cNvPr id="19" name="Text 17"/>
          <p:cNvSpPr/>
          <p:nvPr/>
        </p:nvSpPr>
        <p:spPr>
          <a:xfrm>
            <a:off x="822960" y="2459736"/>
            <a:ext cx="3657600" cy="256032"/>
          </a:xfrm>
          <a:prstGeom prst="rect">
            <a:avLst/>
          </a:prstGeom>
          <a:noFill/>
          <a:ln/>
        </p:spPr>
        <p:txBody>
          <a:bodyPr wrap="square"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NBA API Data Processing</a:t>
            </a:r>
            <a:endParaRPr lang="en-US" sz="1200" dirty="0"/>
          </a:p>
        </p:txBody>
      </p:sp>
      <p:sp>
        <p:nvSpPr>
          <p:cNvPr id="20" name="Text 18"/>
          <p:cNvSpPr/>
          <p:nvPr/>
        </p:nvSpPr>
        <p:spPr>
          <a:xfrm>
            <a:off x="822960" y="2724912"/>
            <a:ext cx="7955280" cy="320040"/>
          </a:xfrm>
          <a:prstGeom prst="rect">
            <a:avLst/>
          </a:prstGeom>
          <a:noFill/>
          <a:ln/>
        </p:spPr>
        <p:txBody>
          <a:bodyPr wrap="square" rtlCol="0" anchor="ctr"/>
          <a:lstStyle/>
          <a:p>
            <a:pPr marL="0" indent="0">
              <a:buNone/>
            </a:pPr>
            <a:r>
              <a:rPr lang="en-US" sz="1050" dirty="0">
                <a:solidFill>
                  <a:srgbClr val="111827"/>
                </a:solidFill>
                <a:latin typeface="Calibri" pitchFamily="34" charset="0"/>
                <a:ea typeface="Calibri" pitchFamily="34" charset="-122"/>
                <a:cs typeface="Calibri" pitchFamily="34" charset="-120"/>
              </a:rPr>
              <a:t>Season loop (2021-2026): clean schedule, game logs, rosters, bio, career, tracking → derive rolling windows, ACWR, road trips, B2B density</a:t>
            </a:r>
            <a:endParaRPr lang="en-US" sz="1050" dirty="0"/>
          </a:p>
        </p:txBody>
      </p:sp>
      <p:sp>
        <p:nvSpPr>
          <p:cNvPr id="21" name="Shape 19"/>
          <p:cNvSpPr/>
          <p:nvPr/>
        </p:nvSpPr>
        <p:spPr>
          <a:xfrm>
            <a:off x="420624" y="3081528"/>
            <a:ext cx="0" cy="164592"/>
          </a:xfrm>
          <a:prstGeom prst="line">
            <a:avLst/>
          </a:prstGeom>
          <a:noFill/>
          <a:ln w="19050">
            <a:solidFill>
              <a:srgbClr val="CBD5E1"/>
            </a:solidFill>
            <a:prstDash val="dash"/>
          </a:ln>
        </p:spPr>
        <p:txBody>
          <a:bodyPr/>
          <a:lstStyle/>
          <a:p>
            <a:endParaRPr lang="en-US"/>
          </a:p>
        </p:txBody>
      </p:sp>
      <p:sp>
        <p:nvSpPr>
          <p:cNvPr id="22" name="Shape 20"/>
          <p:cNvSpPr/>
          <p:nvPr/>
        </p:nvSpPr>
        <p:spPr>
          <a:xfrm>
            <a:off x="201168" y="3246120"/>
            <a:ext cx="438912" cy="658368"/>
          </a:xfrm>
          <a:prstGeom prst="rect">
            <a:avLst/>
          </a:prstGeom>
          <a:solidFill>
            <a:srgbClr val="1A3A5C"/>
          </a:solidFill>
          <a:ln w="12700">
            <a:solidFill>
              <a:srgbClr val="1A3A5C"/>
            </a:solidFill>
            <a:prstDash val="solid"/>
          </a:ln>
        </p:spPr>
        <p:txBody>
          <a:bodyPr/>
          <a:lstStyle/>
          <a:p>
            <a:endParaRPr lang="en-US"/>
          </a:p>
        </p:txBody>
      </p:sp>
      <p:sp>
        <p:nvSpPr>
          <p:cNvPr id="23" name="Text 21"/>
          <p:cNvSpPr/>
          <p:nvPr/>
        </p:nvSpPr>
        <p:spPr>
          <a:xfrm>
            <a:off x="201168" y="3246120"/>
            <a:ext cx="438912" cy="65836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4" name="Shape 22"/>
          <p:cNvSpPr/>
          <p:nvPr/>
        </p:nvSpPr>
        <p:spPr>
          <a:xfrm>
            <a:off x="713232" y="3246120"/>
            <a:ext cx="8229600" cy="658368"/>
          </a:xfrm>
          <a:prstGeom prst="rect">
            <a:avLst/>
          </a:prstGeom>
          <a:solidFill>
            <a:srgbClr val="F4F7FB"/>
          </a:solidFill>
          <a:ln w="12700">
            <a:solidFill>
              <a:srgbClr val="E2E8F0"/>
            </a:solidFill>
            <a:prstDash val="solid"/>
          </a:ln>
        </p:spPr>
        <p:txBody>
          <a:bodyPr/>
          <a:lstStyle/>
          <a:p>
            <a:endParaRPr lang="en-US"/>
          </a:p>
        </p:txBody>
      </p:sp>
      <p:sp>
        <p:nvSpPr>
          <p:cNvPr id="25" name="Text 23"/>
          <p:cNvSpPr/>
          <p:nvPr/>
        </p:nvSpPr>
        <p:spPr>
          <a:xfrm>
            <a:off x="822960" y="3282696"/>
            <a:ext cx="3657600" cy="256032"/>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Data Joining</a:t>
            </a:r>
            <a:endParaRPr lang="en-US" sz="1200" dirty="0"/>
          </a:p>
        </p:txBody>
      </p:sp>
      <p:sp>
        <p:nvSpPr>
          <p:cNvPr id="26" name="Text 24"/>
          <p:cNvSpPr/>
          <p:nvPr/>
        </p:nvSpPr>
        <p:spPr>
          <a:xfrm>
            <a:off x="822960" y="3547872"/>
            <a:ext cx="7955280" cy="320040"/>
          </a:xfrm>
          <a:prstGeom prst="rect">
            <a:avLst/>
          </a:prstGeom>
          <a:noFill/>
          <a:ln/>
        </p:spPr>
        <p:txBody>
          <a:bodyPr wrap="square" rtlCol="0" anchor="ctr"/>
          <a:lstStyle/>
          <a:p>
            <a:pPr marL="0" indent="0">
              <a:buNone/>
            </a:pPr>
            <a:r>
              <a:rPr lang="en-US" sz="1050" dirty="0">
                <a:solidFill>
                  <a:srgbClr val="111827"/>
                </a:solidFill>
                <a:latin typeface="Calibri" pitchFamily="34" charset="0"/>
                <a:ea typeface="Calibri" pitchFamily="34" charset="-122"/>
                <a:cs typeface="Calibri" pitchFamily="34" charset="-120"/>
              </a:rPr>
              <a:t>Assemble player × game panel → IS_NEW_INJURY, IS_REAGGRAVATION, INJURY_EPISODE_ID (90-day same-region window, any-prior-episode matching)</a:t>
            </a:r>
            <a:endParaRPr lang="en-US" sz="1050" dirty="0"/>
          </a:p>
        </p:txBody>
      </p:sp>
      <p:sp>
        <p:nvSpPr>
          <p:cNvPr id="27" name="Shape 25"/>
          <p:cNvSpPr/>
          <p:nvPr/>
        </p:nvSpPr>
        <p:spPr>
          <a:xfrm>
            <a:off x="420624" y="3904488"/>
            <a:ext cx="0" cy="164592"/>
          </a:xfrm>
          <a:prstGeom prst="line">
            <a:avLst/>
          </a:prstGeom>
          <a:noFill/>
          <a:ln w="19050">
            <a:solidFill>
              <a:srgbClr val="CBD5E1"/>
            </a:solidFill>
            <a:prstDash val="dash"/>
          </a:ln>
        </p:spPr>
        <p:txBody>
          <a:bodyPr/>
          <a:lstStyle/>
          <a:p>
            <a:endParaRPr lang="en-US"/>
          </a:p>
        </p:txBody>
      </p:sp>
      <p:sp>
        <p:nvSpPr>
          <p:cNvPr id="28" name="Shape 26"/>
          <p:cNvSpPr/>
          <p:nvPr/>
        </p:nvSpPr>
        <p:spPr>
          <a:xfrm>
            <a:off x="201168" y="4069080"/>
            <a:ext cx="438912" cy="658368"/>
          </a:xfrm>
          <a:prstGeom prst="rect">
            <a:avLst/>
          </a:prstGeom>
          <a:solidFill>
            <a:srgbClr val="DC2626"/>
          </a:solidFill>
          <a:ln w="12700">
            <a:solidFill>
              <a:srgbClr val="DC2626"/>
            </a:solidFill>
            <a:prstDash val="solid"/>
          </a:ln>
        </p:spPr>
        <p:txBody>
          <a:bodyPr/>
          <a:lstStyle/>
          <a:p>
            <a:endParaRPr lang="en-US"/>
          </a:p>
        </p:txBody>
      </p:sp>
      <p:sp>
        <p:nvSpPr>
          <p:cNvPr id="29" name="Text 27"/>
          <p:cNvSpPr/>
          <p:nvPr/>
        </p:nvSpPr>
        <p:spPr>
          <a:xfrm>
            <a:off x="201168" y="4069080"/>
            <a:ext cx="438912" cy="658368"/>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30" name="Shape 28"/>
          <p:cNvSpPr/>
          <p:nvPr/>
        </p:nvSpPr>
        <p:spPr>
          <a:xfrm>
            <a:off x="713232" y="4069080"/>
            <a:ext cx="8229600" cy="658368"/>
          </a:xfrm>
          <a:prstGeom prst="rect">
            <a:avLst/>
          </a:prstGeom>
          <a:solidFill>
            <a:srgbClr val="F4F7FB"/>
          </a:solidFill>
          <a:ln w="12700">
            <a:solidFill>
              <a:srgbClr val="E2E8F0"/>
            </a:solidFill>
            <a:prstDash val="solid"/>
          </a:ln>
        </p:spPr>
        <p:txBody>
          <a:bodyPr/>
          <a:lstStyle/>
          <a:p>
            <a:endParaRPr lang="en-US"/>
          </a:p>
        </p:txBody>
      </p:sp>
      <p:sp>
        <p:nvSpPr>
          <p:cNvPr id="31" name="Text 29"/>
          <p:cNvSpPr/>
          <p:nvPr/>
        </p:nvSpPr>
        <p:spPr>
          <a:xfrm>
            <a:off x="822960" y="4105656"/>
            <a:ext cx="3657600" cy="256032"/>
          </a:xfrm>
          <a:prstGeom prst="rect">
            <a:avLst/>
          </a:prstGeom>
          <a:noFill/>
          <a:ln/>
        </p:spPr>
        <p:txBody>
          <a:bodyPr wrap="square" rtlCol="0" anchor="ctr"/>
          <a:lstStyle/>
          <a:p>
            <a:pPr marL="0" indent="0">
              <a:buNone/>
            </a:pPr>
            <a:r>
              <a:rPr lang="en-US" sz="1200" b="1" dirty="0">
                <a:solidFill>
                  <a:srgbClr val="DC2626"/>
                </a:solidFill>
                <a:latin typeface="Calibri" pitchFamily="34" charset="0"/>
                <a:ea typeface="Calibri" pitchFamily="34" charset="-122"/>
                <a:cs typeface="Calibri" pitchFamily="34" charset="-120"/>
              </a:rPr>
              <a:t>Modelling Prep</a:t>
            </a:r>
            <a:endParaRPr lang="en-US" sz="1200" dirty="0"/>
          </a:p>
        </p:txBody>
      </p:sp>
      <p:sp>
        <p:nvSpPr>
          <p:cNvPr id="32" name="Text 30"/>
          <p:cNvSpPr/>
          <p:nvPr/>
        </p:nvSpPr>
        <p:spPr>
          <a:xfrm>
            <a:off x="822960" y="4370832"/>
            <a:ext cx="7955280" cy="320040"/>
          </a:xfrm>
          <a:prstGeom prst="rect">
            <a:avLst/>
          </a:prstGeom>
          <a:noFill/>
          <a:ln/>
        </p:spPr>
        <p:txBody>
          <a:bodyPr wrap="square" rtlCol="0" anchor="ctr"/>
          <a:lstStyle/>
          <a:p>
            <a:pPr marL="0" indent="0">
              <a:buNone/>
            </a:pPr>
            <a:r>
              <a:rPr lang="en-US" sz="1050" dirty="0">
                <a:solidFill>
                  <a:srgbClr val="111827"/>
                </a:solidFill>
                <a:latin typeface="Calibri" pitchFamily="34" charset="0"/>
                <a:ea typeface="Calibri" pitchFamily="34" charset="-122"/>
                <a:cs typeface="Calibri" pitchFamily="34" charset="-120"/>
              </a:rPr>
              <a:t>Counting process format: t_start / t_stop / event → LOCF for missed-game rows → classify event rows → Surv() validation</a:t>
            </a:r>
            <a:endParaRPr lang="en-US" sz="1050" dirty="0"/>
          </a:p>
        </p:txBody>
      </p:sp>
      <p:grpSp>
        <p:nvGrpSpPr>
          <p:cNvPr id="33" name="Group 32">
            <a:extLst>
              <a:ext uri="{FF2B5EF4-FFF2-40B4-BE49-F238E27FC236}">
                <a16:creationId xmlns:a16="http://schemas.microsoft.com/office/drawing/2014/main" id="{7D0ABA6F-EC77-E71C-2BD5-ACCEFB9D9735}"/>
              </a:ext>
            </a:extLst>
          </p:cNvPr>
          <p:cNvGrpSpPr/>
          <p:nvPr/>
        </p:nvGrpSpPr>
        <p:grpSpPr>
          <a:xfrm>
            <a:off x="8569076" y="52588"/>
            <a:ext cx="509767" cy="509767"/>
            <a:chOff x="7241964" y="2782711"/>
            <a:chExt cx="828823" cy="828823"/>
          </a:xfrm>
        </p:grpSpPr>
        <p:sp>
          <p:nvSpPr>
            <p:cNvPr id="34" name="Shape 2">
              <a:extLst>
                <a:ext uri="{FF2B5EF4-FFF2-40B4-BE49-F238E27FC236}">
                  <a16:creationId xmlns:a16="http://schemas.microsoft.com/office/drawing/2014/main" id="{8CEB6A00-6E4F-5D4B-8A61-51292C8889EE}"/>
                </a:ext>
              </a:extLst>
            </p:cNvPr>
            <p:cNvSpPr/>
            <p:nvPr/>
          </p:nvSpPr>
          <p:spPr>
            <a:xfrm flipV="1">
              <a:off x="7288447" y="2820973"/>
              <a:ext cx="739305" cy="739305"/>
            </a:xfrm>
            <a:prstGeom prst="ellipse">
              <a:avLst/>
            </a:prstGeom>
            <a:solidFill>
              <a:schemeClr val="accent2">
                <a:alpha val="35000"/>
              </a:schemeClr>
            </a:solidFill>
            <a:ln w="12700">
              <a:noFill/>
              <a:prstDash val="solid"/>
            </a:ln>
          </p:spPr>
          <p:txBody>
            <a:bodyPr/>
            <a:lstStyle/>
            <a:p>
              <a:endParaRPr lang="en-US"/>
            </a:p>
          </p:txBody>
        </p:sp>
        <p:pic>
          <p:nvPicPr>
            <p:cNvPr id="35" name="Picture 6" descr="Basketball Generic Detailed Outline icon | Magnific (formerly Magnific)">
              <a:extLst>
                <a:ext uri="{FF2B5EF4-FFF2-40B4-BE49-F238E27FC236}">
                  <a16:creationId xmlns:a16="http://schemas.microsoft.com/office/drawing/2014/main" id="{17854C4C-72D7-D9E5-735A-A30455329A2D}"/>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a:stretch>
              <a:fillRect/>
            </a:stretch>
          </p:blipFill>
          <p:spPr bwMode="auto">
            <a:xfrm>
              <a:off x="7241964" y="2782711"/>
              <a:ext cx="828823" cy="828823"/>
            </a:xfrm>
            <a:prstGeom prst="rect">
              <a:avLst/>
            </a:prstGeom>
            <a:noFill/>
            <a:extLst>
              <a:ext uri="{909E8E84-426E-40DD-AFC4-6F175D3DCCD1}">
                <a14:hiddenFill xmlns:a14="http://schemas.microsoft.com/office/drawing/2010/main">
                  <a:solidFill>
                    <a:srgbClr val="FFFFFF"/>
                  </a:solidFill>
                </a14:hiddenFill>
              </a:ext>
            </a:extLst>
          </p:spPr>
        </p:pic>
      </p:grpSp>
      <p:sp>
        <p:nvSpPr>
          <p:cNvPr id="36" name="Shape 5">
            <a:extLst>
              <a:ext uri="{FF2B5EF4-FFF2-40B4-BE49-F238E27FC236}">
                <a16:creationId xmlns:a16="http://schemas.microsoft.com/office/drawing/2014/main" id="{1CB8A352-01E6-3B36-02A9-159BB6E60EE8}"/>
              </a:ext>
            </a:extLst>
          </p:cNvPr>
          <p:cNvSpPr/>
          <p:nvPr/>
        </p:nvSpPr>
        <p:spPr>
          <a:xfrm>
            <a:off x="0" y="608076"/>
            <a:ext cx="9144000" cy="45719"/>
          </a:xfrm>
          <a:prstGeom prst="rect">
            <a:avLst/>
          </a:prstGeom>
          <a:solidFill>
            <a:schemeClr val="accent2"/>
          </a:solidFill>
          <a:ln w="12700">
            <a:noFill/>
            <a:prstDash val="solid"/>
          </a:ln>
        </p:spPr>
        <p:txBody>
          <a:bodyPr/>
          <a:lstStyle/>
          <a:p>
            <a:endParaRPr lang="en-US"/>
          </a:p>
        </p:txBody>
      </p:sp>
      <p:pic>
        <p:nvPicPr>
          <p:cNvPr id="40" name="Picture 39" descr="A screenshot of a computer&#10;&#10;AI-generated content may be incorrect.">
            <a:extLst>
              <a:ext uri="{FF2B5EF4-FFF2-40B4-BE49-F238E27FC236}">
                <a16:creationId xmlns:a16="http://schemas.microsoft.com/office/drawing/2014/main" id="{08FF6199-5CEC-2E15-6853-2C29AF3D5DED}"/>
              </a:ext>
            </a:extLst>
          </p:cNvPr>
          <p:cNvPicPr>
            <a:picLocks noChangeAspect="1"/>
          </p:cNvPicPr>
          <p:nvPr/>
        </p:nvPicPr>
        <p:blipFill>
          <a:blip r:embed="rId4"/>
          <a:stretch>
            <a:fillRect/>
          </a:stretch>
        </p:blipFill>
        <p:spPr>
          <a:xfrm>
            <a:off x="1803400" y="1343023"/>
            <a:ext cx="6446516" cy="2151129"/>
          </a:xfrm>
          <a:prstGeom prst="rect">
            <a:avLst/>
          </a:prstGeom>
          <a:ln w="28575">
            <a:solidFill>
              <a:schemeClr val="tx1">
                <a:lumMod val="75000"/>
                <a:lumOff val="25000"/>
              </a:schemeClr>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nodeType="clickEffect">
                                  <p:stCondLst>
                                    <p:cond delay="0"/>
                                  </p:stCondLst>
                                  <p:childTnLst>
                                    <p:animEffect transition="out" filter="wipe(down)">
                                      <p:cBhvr>
                                        <p:cTn id="6" dur="500"/>
                                        <p:tgtEl>
                                          <p:spTgt spid="40"/>
                                        </p:tgtEl>
                                      </p:cBhvr>
                                    </p:animEffect>
                                    <p:set>
                                      <p:cBhvr>
                                        <p:cTn id="7" dur="1" fill="hold">
                                          <p:stCondLst>
                                            <p:cond delay="499"/>
                                          </p:stCondLst>
                                        </p:cTn>
                                        <p:tgtEl>
                                          <p:spTgt spid="4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txBody>
          <a:bodyPr/>
          <a:lstStyle/>
          <a:p>
            <a:endParaRPr lang="en-US"/>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Cox Proportional Hazards Model</a:t>
            </a:r>
            <a:endParaRPr lang="en-US" sz="2200" dirty="0"/>
          </a:p>
        </p:txBody>
      </p:sp>
      <p:sp>
        <p:nvSpPr>
          <p:cNvPr id="10" name="Shape 8"/>
          <p:cNvSpPr/>
          <p:nvPr/>
        </p:nvSpPr>
        <p:spPr>
          <a:xfrm>
            <a:off x="228600" y="894378"/>
            <a:ext cx="4612640" cy="1804836"/>
          </a:xfrm>
          <a:prstGeom prst="rect">
            <a:avLst/>
          </a:prstGeom>
          <a:solidFill>
            <a:srgbClr val="FFFFFF"/>
          </a:solidFill>
          <a:ln w="12700">
            <a:solidFill>
              <a:srgbClr val="E2E8F0"/>
            </a:solidFill>
            <a:prstDash val="solid"/>
          </a:ln>
          <a:effectLst>
            <a:outerShdw blurRad="63500" dist="25400" dir="8100000" algn="bl" rotWithShape="0">
              <a:srgbClr val="000000">
                <a:alpha val="10000"/>
              </a:srgbClr>
            </a:outerShdw>
          </a:effectLst>
        </p:spPr>
        <p:txBody>
          <a:bodyPr/>
          <a:lstStyle/>
          <a:p>
            <a:endParaRPr lang="en-US"/>
          </a:p>
        </p:txBody>
      </p:sp>
      <p:sp>
        <p:nvSpPr>
          <p:cNvPr id="11" name="Shape 9"/>
          <p:cNvSpPr/>
          <p:nvPr/>
        </p:nvSpPr>
        <p:spPr>
          <a:xfrm>
            <a:off x="228600" y="894378"/>
            <a:ext cx="45719" cy="1804836"/>
          </a:xfrm>
          <a:prstGeom prst="rect">
            <a:avLst/>
          </a:prstGeom>
          <a:solidFill>
            <a:srgbClr val="2E6DA4"/>
          </a:solidFill>
          <a:ln w="12700">
            <a:solidFill>
              <a:srgbClr val="2E6DA4"/>
            </a:solidFill>
            <a:prstDash val="solid"/>
          </a:ln>
        </p:spPr>
        <p:txBody>
          <a:bodyPr/>
          <a:lstStyle/>
          <a:p>
            <a:endParaRPr lang="en-US"/>
          </a:p>
        </p:txBody>
      </p:sp>
      <p:sp>
        <p:nvSpPr>
          <p:cNvPr id="12" name="Text 10"/>
          <p:cNvSpPr/>
          <p:nvPr/>
        </p:nvSpPr>
        <p:spPr>
          <a:xfrm>
            <a:off x="315468" y="1019556"/>
            <a:ext cx="2578608" cy="228600"/>
          </a:xfrm>
          <a:prstGeom prst="rect">
            <a:avLst/>
          </a:prstGeom>
          <a:noFill/>
          <a:ln/>
        </p:spPr>
        <p:txBody>
          <a:bodyPr wrap="square" rtlCol="0" anchor="ctr"/>
          <a:lstStyle/>
          <a:p>
            <a:pPr marL="0" indent="0">
              <a:buNone/>
            </a:pPr>
            <a:r>
              <a:rPr lang="en-US" sz="1200" b="1" dirty="0">
                <a:solidFill>
                  <a:srgbClr val="2E6DA4"/>
                </a:solidFill>
                <a:latin typeface="Calibri" pitchFamily="34" charset="0"/>
                <a:ea typeface="Calibri" pitchFamily="34" charset="-122"/>
                <a:cs typeface="Calibri" pitchFamily="34" charset="-120"/>
              </a:rPr>
              <a:t>At-Risk Set Rules</a:t>
            </a:r>
            <a:endParaRPr lang="en-US" sz="1200" dirty="0"/>
          </a:p>
        </p:txBody>
      </p:sp>
      <p:sp>
        <p:nvSpPr>
          <p:cNvPr id="13" name="Text 11"/>
          <p:cNvSpPr/>
          <p:nvPr/>
        </p:nvSpPr>
        <p:spPr>
          <a:xfrm>
            <a:off x="338328" y="1248156"/>
            <a:ext cx="4376928" cy="1234440"/>
          </a:xfrm>
          <a:prstGeom prst="rect">
            <a:avLst/>
          </a:prstGeom>
          <a:noFill/>
          <a:ln/>
        </p:spPr>
        <p:txBody>
          <a:bodyPr wrap="square" rtlCol="0" anchor="t"/>
          <a:lstStyle/>
          <a:p>
            <a:r>
              <a:rPr lang="en-US" sz="1050" dirty="0">
                <a:solidFill>
                  <a:srgbClr val="111827"/>
                </a:solidFill>
                <a:latin typeface="Calibri" pitchFamily="34" charset="0"/>
                <a:ea typeface="Calibri" pitchFamily="34" charset="-122"/>
                <a:cs typeface="Calibri" pitchFamily="34" charset="-120"/>
              </a:rPr>
              <a:t>One row per player per game</a:t>
            </a:r>
            <a:endParaRPr lang="en-US" sz="1050" dirty="0"/>
          </a:p>
          <a:p>
            <a:r>
              <a:rPr lang="en-US" sz="1050" dirty="0">
                <a:solidFill>
                  <a:srgbClr val="111827"/>
                </a:solidFill>
                <a:latin typeface="Calibri" pitchFamily="34" charset="0"/>
                <a:ea typeface="Calibri" pitchFamily="34" charset="-122"/>
                <a:cs typeface="Calibri" pitchFamily="34" charset="-120"/>
              </a:rPr>
              <a:t>(start, stop, event)</a:t>
            </a:r>
            <a:endParaRPr lang="en-US" sz="1050" dirty="0"/>
          </a:p>
          <a:p>
            <a:pPr marL="0" indent="0">
              <a:buNone/>
            </a:pPr>
            <a:endParaRPr lang="en-US" sz="1050" dirty="0">
              <a:solidFill>
                <a:srgbClr val="111827"/>
              </a:solidFill>
              <a:latin typeface="Calibri" pitchFamily="34" charset="0"/>
              <a:ea typeface="Calibri" pitchFamily="34" charset="-122"/>
              <a:cs typeface="Calibri" pitchFamily="34" charset="-120"/>
            </a:endParaRPr>
          </a:p>
          <a:p>
            <a:pPr marL="0" indent="0">
              <a:buNone/>
            </a:pPr>
            <a:r>
              <a:rPr lang="en-US" sz="1050" dirty="0">
                <a:solidFill>
                  <a:srgbClr val="111827"/>
                </a:solidFill>
                <a:latin typeface="Calibri" pitchFamily="34" charset="0"/>
                <a:ea typeface="Calibri" pitchFamily="34" charset="-122"/>
                <a:cs typeface="Calibri" pitchFamily="34" charset="-120"/>
              </a:rPr>
              <a:t>IN_RISK_SET = 1 when:</a:t>
            </a:r>
            <a:endParaRPr lang="en-US" sz="1050" dirty="0"/>
          </a:p>
          <a:p>
            <a:pPr marL="0" indent="0">
              <a:buNone/>
            </a:pPr>
            <a:r>
              <a:rPr lang="en-US" sz="1050" dirty="0">
                <a:solidFill>
                  <a:srgbClr val="111827"/>
                </a:solidFill>
                <a:latin typeface="Calibri" pitchFamily="34" charset="0"/>
                <a:ea typeface="Calibri" pitchFamily="34" charset="-122"/>
                <a:cs typeface="Calibri" pitchFamily="34" charset="-120"/>
              </a:rPr>
              <a:t>  - Player active (PLAYED_FLAG=1)</a:t>
            </a:r>
            <a:endParaRPr lang="en-US" sz="1050" dirty="0"/>
          </a:p>
          <a:p>
            <a:pPr marL="0" indent="0">
              <a:buNone/>
            </a:pPr>
            <a:r>
              <a:rPr lang="en-US" sz="1050" dirty="0">
                <a:solidFill>
                  <a:srgbClr val="111827"/>
                </a:solidFill>
                <a:latin typeface="Calibri" pitchFamily="34" charset="0"/>
                <a:ea typeface="Calibri" pitchFamily="34" charset="-122"/>
                <a:cs typeface="Calibri" pitchFamily="34" charset="-120"/>
              </a:rPr>
              <a:t>  - Non-injury absence (active injury prevention… load management </a:t>
            </a:r>
            <a:r>
              <a:rPr lang="en-US" sz="1050" dirty="0" err="1">
                <a:solidFill>
                  <a:srgbClr val="111827"/>
                </a:solidFill>
                <a:latin typeface="Calibri" pitchFamily="34" charset="0"/>
                <a:ea typeface="Calibri" pitchFamily="34" charset="-122"/>
                <a:cs typeface="Calibri" pitchFamily="34" charset="-120"/>
              </a:rPr>
              <a:t>etc</a:t>
            </a:r>
            <a:r>
              <a:rPr lang="en-US" sz="1050" dirty="0">
                <a:solidFill>
                  <a:srgbClr val="111827"/>
                </a:solidFill>
                <a:latin typeface="Calibri" pitchFamily="34" charset="0"/>
                <a:ea typeface="Calibri" pitchFamily="34" charset="-122"/>
                <a:cs typeface="Calibri" pitchFamily="34" charset="-120"/>
              </a:rPr>
              <a:t>)</a:t>
            </a:r>
            <a:endParaRPr lang="en-US" sz="1050" dirty="0"/>
          </a:p>
          <a:p>
            <a:pPr marL="0" indent="0">
              <a:buNone/>
            </a:pPr>
            <a:r>
              <a:rPr lang="en-US" sz="1050" dirty="0">
                <a:solidFill>
                  <a:srgbClr val="111827"/>
                </a:solidFill>
                <a:latin typeface="Calibri" pitchFamily="34" charset="0"/>
                <a:ea typeface="Calibri" pitchFamily="34" charset="-122"/>
                <a:cs typeface="Calibri" pitchFamily="34" charset="-120"/>
              </a:rPr>
              <a:t>  - First game of new injury (event row)</a:t>
            </a:r>
            <a:endParaRPr lang="en-US" sz="1050" dirty="0"/>
          </a:p>
          <a:p>
            <a:pPr marL="0" indent="0">
              <a:buNone/>
            </a:pPr>
            <a:endParaRPr lang="en-US" sz="1050" dirty="0"/>
          </a:p>
        </p:txBody>
      </p:sp>
      <p:sp>
        <p:nvSpPr>
          <p:cNvPr id="18" name="Text 16"/>
          <p:cNvSpPr/>
          <p:nvPr/>
        </p:nvSpPr>
        <p:spPr>
          <a:xfrm>
            <a:off x="228600" y="2863333"/>
            <a:ext cx="8686800" cy="256032"/>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Sequential model specifications</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3904515276"/>
              </p:ext>
            </p:extLst>
          </p:nvPr>
        </p:nvGraphicFramePr>
        <p:xfrm>
          <a:off x="228600" y="3137653"/>
          <a:ext cx="8686800" cy="1508760"/>
        </p:xfrm>
        <a:graphic>
          <a:graphicData uri="http://schemas.openxmlformats.org/drawingml/2006/table">
            <a:tbl>
              <a:tblPr/>
              <a:tblGrid>
                <a:gridCol w="5486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6492240">
                  <a:extLst>
                    <a:ext uri="{9D8B030D-6E8A-4147-A177-3AD203B41FA5}">
                      <a16:colId xmlns:a16="http://schemas.microsoft.com/office/drawing/2014/main" val="20002"/>
                    </a:ext>
                  </a:extLst>
                </a:gridCol>
              </a:tblGrid>
              <a:tr h="37719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Domain</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Key Covariates</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37719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Workload</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ACWR_MIN, ROLLING_MIN_7/28/42D, SEASON_CUMULATIVE_MIN, ROLLING_DIST_28D… </a:t>
                      </a:r>
                      <a:r>
                        <a:rPr lang="en-US" sz="1050" i="1" dirty="0">
                          <a:solidFill>
                            <a:srgbClr val="000000"/>
                          </a:solidFill>
                          <a:latin typeface="Calibri" pitchFamily="34" charset="0"/>
                          <a:ea typeface="Calibri" pitchFamily="34" charset="-122"/>
                          <a:cs typeface="Calibri" pitchFamily="34" charset="-120"/>
                        </a:rPr>
                        <a:t>(more variables to test)</a:t>
                      </a:r>
                      <a:endParaRPr lang="en-US" sz="1050" i="1"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extLst>
                  <a:ext uri="{0D108BD9-81ED-4DB2-BD59-A6C34878D82A}">
                    <a16:rowId xmlns:a16="http://schemas.microsoft.com/office/drawing/2014/main" val="10001"/>
                  </a:ext>
                </a:extLst>
              </a:tr>
              <a:tr h="37719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Workload + Schedule</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Model 1 + TEAM_IS_B2B, TEAM_DAYS_REST, TEAM_IS_ROAD_TRIP, IS_3IN4, TEAM_IS_LATE_GAME</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377190">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Full model</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Model 2 + PLAYER_AGE_AT_GAME, CAREER_MINUTES, IS_ROOKIE, PRIOR_SEASON_MIN_PG, POSITION</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7FB"/>
                    </a:solidFill>
                  </a:tcPr>
                </a:tc>
                <a:extLst>
                  <a:ext uri="{0D108BD9-81ED-4DB2-BD59-A6C34878D82A}">
                    <a16:rowId xmlns:a16="http://schemas.microsoft.com/office/drawing/2014/main" val="10003"/>
                  </a:ext>
                </a:extLst>
              </a:tr>
            </a:tbl>
          </a:graphicData>
        </a:graphic>
      </p:graphicFrame>
      <p:sp>
        <p:nvSpPr>
          <p:cNvPr id="20" name="Text 17"/>
          <p:cNvSpPr/>
          <p:nvPr/>
        </p:nvSpPr>
        <p:spPr>
          <a:xfrm>
            <a:off x="228600" y="4719565"/>
            <a:ext cx="8686800" cy="256032"/>
          </a:xfrm>
          <a:prstGeom prst="rect">
            <a:avLst/>
          </a:prstGeom>
          <a:noFill/>
          <a:ln/>
        </p:spPr>
        <p:txBody>
          <a:bodyPr wrap="square" rtlCol="0" anchor="ctr"/>
          <a:lstStyle/>
          <a:p>
            <a:pPr marL="0" indent="0">
              <a:buNone/>
            </a:pPr>
            <a:endParaRPr lang="en-US" sz="1000" dirty="0"/>
          </a:p>
        </p:txBody>
      </p:sp>
      <p:grpSp>
        <p:nvGrpSpPr>
          <p:cNvPr id="21" name="Group 20">
            <a:extLst>
              <a:ext uri="{FF2B5EF4-FFF2-40B4-BE49-F238E27FC236}">
                <a16:creationId xmlns:a16="http://schemas.microsoft.com/office/drawing/2014/main" id="{7D3D4105-773B-4417-A053-514F2F9A9EA4}"/>
              </a:ext>
            </a:extLst>
          </p:cNvPr>
          <p:cNvGrpSpPr/>
          <p:nvPr/>
        </p:nvGrpSpPr>
        <p:grpSpPr>
          <a:xfrm>
            <a:off x="8569076" y="52588"/>
            <a:ext cx="509767" cy="509767"/>
            <a:chOff x="7241964" y="2782711"/>
            <a:chExt cx="828823" cy="828823"/>
          </a:xfrm>
        </p:grpSpPr>
        <p:sp>
          <p:nvSpPr>
            <p:cNvPr id="22" name="Shape 2">
              <a:extLst>
                <a:ext uri="{FF2B5EF4-FFF2-40B4-BE49-F238E27FC236}">
                  <a16:creationId xmlns:a16="http://schemas.microsoft.com/office/drawing/2014/main" id="{D1EA6467-8874-6A26-6C14-BA4B006BAC0E}"/>
                </a:ext>
              </a:extLst>
            </p:cNvPr>
            <p:cNvSpPr/>
            <p:nvPr/>
          </p:nvSpPr>
          <p:spPr>
            <a:xfrm flipV="1">
              <a:off x="7288447" y="2820973"/>
              <a:ext cx="739305" cy="739305"/>
            </a:xfrm>
            <a:prstGeom prst="ellipse">
              <a:avLst/>
            </a:prstGeom>
            <a:solidFill>
              <a:schemeClr val="accent2">
                <a:alpha val="35000"/>
              </a:schemeClr>
            </a:solidFill>
            <a:ln w="12700">
              <a:noFill/>
              <a:prstDash val="solid"/>
            </a:ln>
          </p:spPr>
          <p:txBody>
            <a:bodyPr/>
            <a:lstStyle/>
            <a:p>
              <a:endParaRPr lang="en-US"/>
            </a:p>
          </p:txBody>
        </p:sp>
        <p:pic>
          <p:nvPicPr>
            <p:cNvPr id="23" name="Picture 6" descr="Basketball Generic Detailed Outline icon | Magnific (formerly Magnific)">
              <a:extLst>
                <a:ext uri="{FF2B5EF4-FFF2-40B4-BE49-F238E27FC236}">
                  <a16:creationId xmlns:a16="http://schemas.microsoft.com/office/drawing/2014/main" id="{503A0A93-D0FB-9F7D-C58B-CF39DC7F4E80}"/>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a:stretch>
              <a:fillRect/>
            </a:stretch>
          </p:blipFill>
          <p:spPr bwMode="auto">
            <a:xfrm>
              <a:off x="7241964" y="2782711"/>
              <a:ext cx="828823" cy="828823"/>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Shape 5">
            <a:extLst>
              <a:ext uri="{FF2B5EF4-FFF2-40B4-BE49-F238E27FC236}">
                <a16:creationId xmlns:a16="http://schemas.microsoft.com/office/drawing/2014/main" id="{9B08A936-C826-D81A-241B-E10710B64D91}"/>
              </a:ext>
            </a:extLst>
          </p:cNvPr>
          <p:cNvSpPr/>
          <p:nvPr/>
        </p:nvSpPr>
        <p:spPr>
          <a:xfrm>
            <a:off x="0" y="608076"/>
            <a:ext cx="9144000" cy="45719"/>
          </a:xfrm>
          <a:prstGeom prst="rect">
            <a:avLst/>
          </a:prstGeom>
          <a:solidFill>
            <a:schemeClr val="accent2"/>
          </a:solidFill>
          <a:ln w="12700">
            <a:noFill/>
            <a:prstDash val="solid"/>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txBody>
          <a:bodyPr/>
          <a:lstStyle/>
          <a:p>
            <a:endParaRPr lang="en-US"/>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Case Study: LeBron James 2021–26</a:t>
            </a:r>
            <a:endParaRPr lang="en-US" sz="2200" dirty="0"/>
          </a:p>
        </p:txBody>
      </p:sp>
      <p:sp>
        <p:nvSpPr>
          <p:cNvPr id="4" name="Shape 2"/>
          <p:cNvSpPr/>
          <p:nvPr/>
        </p:nvSpPr>
        <p:spPr>
          <a:xfrm>
            <a:off x="1874520" y="813816"/>
            <a:ext cx="1645920" cy="1097280"/>
          </a:xfrm>
          <a:prstGeom prst="rect">
            <a:avLst/>
          </a:prstGeom>
          <a:solidFill>
            <a:srgbClr val="F4F7FB"/>
          </a:solidFill>
          <a:ln w="12700">
            <a:solidFill>
              <a:srgbClr val="D1D5DB"/>
            </a:solidFill>
            <a:prstDash val="solid"/>
          </a:ln>
          <a:effectLst>
            <a:outerShdw blurRad="63500" dist="25400" dir="8100000" algn="bl" rotWithShape="0">
              <a:srgbClr val="000000">
                <a:alpha val="10000"/>
              </a:srgbClr>
            </a:outerShdw>
          </a:effectLst>
        </p:spPr>
        <p:txBody>
          <a:bodyPr/>
          <a:lstStyle/>
          <a:p>
            <a:endParaRPr lang="en-US"/>
          </a:p>
        </p:txBody>
      </p:sp>
      <p:sp>
        <p:nvSpPr>
          <p:cNvPr id="5" name="Text 3"/>
          <p:cNvSpPr/>
          <p:nvPr/>
        </p:nvSpPr>
        <p:spPr>
          <a:xfrm>
            <a:off x="1874520" y="850392"/>
            <a:ext cx="1645920" cy="566928"/>
          </a:xfrm>
          <a:prstGeom prst="rect">
            <a:avLst/>
          </a:prstGeom>
          <a:noFill/>
          <a:ln/>
        </p:spPr>
        <p:txBody>
          <a:bodyPr wrap="square" rtlCol="0" anchor="ctr"/>
          <a:lstStyle/>
          <a:p>
            <a:pPr marL="0" indent="0" algn="ctr">
              <a:buNone/>
            </a:pPr>
            <a:r>
              <a:rPr lang="en-US" sz="2600" b="1" dirty="0">
                <a:solidFill>
                  <a:srgbClr val="1A3A5C"/>
                </a:solidFill>
                <a:latin typeface="Calibri" pitchFamily="34" charset="0"/>
                <a:ea typeface="Calibri" pitchFamily="34" charset="-122"/>
                <a:cs typeface="Calibri" pitchFamily="34" charset="-120"/>
              </a:rPr>
              <a:t>332</a:t>
            </a:r>
            <a:endParaRPr lang="en-US" sz="2600" dirty="0"/>
          </a:p>
        </p:txBody>
      </p:sp>
      <p:sp>
        <p:nvSpPr>
          <p:cNvPr id="6" name="Text 4"/>
          <p:cNvSpPr/>
          <p:nvPr/>
        </p:nvSpPr>
        <p:spPr>
          <a:xfrm>
            <a:off x="1874520" y="1435608"/>
            <a:ext cx="1645920" cy="438912"/>
          </a:xfrm>
          <a:prstGeom prst="rect">
            <a:avLst/>
          </a:prstGeom>
          <a:noFill/>
          <a:ln/>
        </p:spPr>
        <p:txBody>
          <a:bodyPr wrap="square"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at-risk intervals</a:t>
            </a:r>
            <a:endParaRPr lang="en-US" sz="950" dirty="0"/>
          </a:p>
          <a:p>
            <a:pPr marL="0" indent="0" algn="ctr">
              <a:buNone/>
            </a:pPr>
            <a:r>
              <a:rPr lang="en-US" sz="950" dirty="0">
                <a:solidFill>
                  <a:srgbClr val="6B7280"/>
                </a:solidFill>
                <a:latin typeface="Calibri" pitchFamily="34" charset="0"/>
                <a:ea typeface="Calibri" pitchFamily="34" charset="-122"/>
                <a:cs typeface="Calibri" pitchFamily="34" charset="-120"/>
              </a:rPr>
              <a:t>across 5 seasons</a:t>
            </a:r>
            <a:endParaRPr lang="en-US" sz="950" dirty="0"/>
          </a:p>
        </p:txBody>
      </p:sp>
      <p:sp>
        <p:nvSpPr>
          <p:cNvPr id="7" name="Shape 5"/>
          <p:cNvSpPr/>
          <p:nvPr/>
        </p:nvSpPr>
        <p:spPr>
          <a:xfrm>
            <a:off x="3630168" y="813816"/>
            <a:ext cx="1645920" cy="1097280"/>
          </a:xfrm>
          <a:prstGeom prst="rect">
            <a:avLst/>
          </a:prstGeom>
          <a:solidFill>
            <a:srgbClr val="F4F7FB"/>
          </a:solidFill>
          <a:ln w="12700">
            <a:solidFill>
              <a:srgbClr val="D1D5DB"/>
            </a:solidFill>
            <a:prstDash val="solid"/>
          </a:ln>
          <a:effectLst>
            <a:outerShdw blurRad="63500" dist="25400" dir="8100000" algn="bl" rotWithShape="0">
              <a:srgbClr val="000000">
                <a:alpha val="10000"/>
              </a:srgbClr>
            </a:outerShdw>
          </a:effectLst>
        </p:spPr>
        <p:txBody>
          <a:bodyPr/>
          <a:lstStyle/>
          <a:p>
            <a:endParaRPr lang="en-US"/>
          </a:p>
        </p:txBody>
      </p:sp>
      <p:sp>
        <p:nvSpPr>
          <p:cNvPr id="8" name="Text 6"/>
          <p:cNvSpPr/>
          <p:nvPr/>
        </p:nvSpPr>
        <p:spPr>
          <a:xfrm>
            <a:off x="3630168" y="850392"/>
            <a:ext cx="1645920" cy="566928"/>
          </a:xfrm>
          <a:prstGeom prst="rect">
            <a:avLst/>
          </a:prstGeom>
          <a:noFill/>
          <a:ln/>
        </p:spPr>
        <p:txBody>
          <a:bodyPr wrap="square" rtlCol="0" anchor="ctr"/>
          <a:lstStyle/>
          <a:p>
            <a:pPr marL="0" indent="0" algn="ctr">
              <a:buNone/>
            </a:pPr>
            <a:r>
              <a:rPr lang="en-US" sz="2600" b="1" dirty="0">
                <a:solidFill>
                  <a:srgbClr val="DC2626"/>
                </a:solidFill>
                <a:latin typeface="Calibri" pitchFamily="34" charset="0"/>
                <a:ea typeface="Calibri" pitchFamily="34" charset="-122"/>
                <a:cs typeface="Calibri" pitchFamily="34" charset="-120"/>
              </a:rPr>
              <a:t>13</a:t>
            </a:r>
            <a:endParaRPr lang="en-US" sz="2600" dirty="0"/>
          </a:p>
        </p:txBody>
      </p:sp>
      <p:sp>
        <p:nvSpPr>
          <p:cNvPr id="9" name="Text 7"/>
          <p:cNvSpPr/>
          <p:nvPr/>
        </p:nvSpPr>
        <p:spPr>
          <a:xfrm>
            <a:off x="3630168" y="1435608"/>
            <a:ext cx="1645920" cy="438912"/>
          </a:xfrm>
          <a:prstGeom prst="rect">
            <a:avLst/>
          </a:prstGeom>
          <a:noFill/>
          <a:ln/>
        </p:spPr>
        <p:txBody>
          <a:bodyPr wrap="square"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new injury events</a:t>
            </a:r>
            <a:endParaRPr lang="en-US" sz="950" dirty="0"/>
          </a:p>
          <a:p>
            <a:pPr marL="0" indent="0" algn="ctr">
              <a:buNone/>
            </a:pPr>
            <a:r>
              <a:rPr lang="en-US" sz="950" dirty="0">
                <a:solidFill>
                  <a:srgbClr val="6B7280"/>
                </a:solidFill>
                <a:latin typeface="Calibri" pitchFamily="34" charset="0"/>
                <a:ea typeface="Calibri" pitchFamily="34" charset="-122"/>
                <a:cs typeface="Calibri" pitchFamily="34" charset="-120"/>
              </a:rPr>
              <a:t>detected</a:t>
            </a:r>
            <a:endParaRPr lang="en-US" sz="950" dirty="0"/>
          </a:p>
        </p:txBody>
      </p:sp>
      <p:sp>
        <p:nvSpPr>
          <p:cNvPr id="10" name="Shape 8"/>
          <p:cNvSpPr/>
          <p:nvPr/>
        </p:nvSpPr>
        <p:spPr>
          <a:xfrm>
            <a:off x="5385816" y="813816"/>
            <a:ext cx="1645920" cy="1097280"/>
          </a:xfrm>
          <a:prstGeom prst="rect">
            <a:avLst/>
          </a:prstGeom>
          <a:solidFill>
            <a:srgbClr val="F4F7FB"/>
          </a:solidFill>
          <a:ln w="12700">
            <a:solidFill>
              <a:srgbClr val="D1D5DB"/>
            </a:solidFill>
            <a:prstDash val="solid"/>
          </a:ln>
          <a:effectLst>
            <a:outerShdw blurRad="63500" dist="25400" dir="8100000" algn="bl" rotWithShape="0">
              <a:srgbClr val="000000">
                <a:alpha val="10000"/>
              </a:srgbClr>
            </a:outerShdw>
          </a:effectLst>
        </p:spPr>
        <p:txBody>
          <a:bodyPr/>
          <a:lstStyle/>
          <a:p>
            <a:endParaRPr lang="en-US"/>
          </a:p>
        </p:txBody>
      </p:sp>
      <p:sp>
        <p:nvSpPr>
          <p:cNvPr id="11" name="Text 9"/>
          <p:cNvSpPr/>
          <p:nvPr/>
        </p:nvSpPr>
        <p:spPr>
          <a:xfrm>
            <a:off x="5385816" y="850392"/>
            <a:ext cx="1645920" cy="566928"/>
          </a:xfrm>
          <a:prstGeom prst="rect">
            <a:avLst/>
          </a:prstGeom>
          <a:noFill/>
          <a:ln/>
        </p:spPr>
        <p:txBody>
          <a:bodyPr wrap="square" rtlCol="0" anchor="ctr"/>
          <a:lstStyle/>
          <a:p>
            <a:pPr marL="0" indent="0" algn="ctr">
              <a:buNone/>
            </a:pPr>
            <a:r>
              <a:rPr lang="en-US" sz="2600" b="1" dirty="0">
                <a:solidFill>
                  <a:srgbClr val="D97706"/>
                </a:solidFill>
                <a:latin typeface="Calibri" pitchFamily="34" charset="0"/>
                <a:ea typeface="Calibri" pitchFamily="34" charset="-122"/>
                <a:cs typeface="Calibri" pitchFamily="34" charset="-120"/>
              </a:rPr>
              <a:t>27</a:t>
            </a:r>
            <a:endParaRPr lang="en-US" sz="2600" dirty="0"/>
          </a:p>
        </p:txBody>
      </p:sp>
      <p:sp>
        <p:nvSpPr>
          <p:cNvPr id="12" name="Text 10"/>
          <p:cNvSpPr/>
          <p:nvPr/>
        </p:nvSpPr>
        <p:spPr>
          <a:xfrm>
            <a:off x="5385816" y="1435608"/>
            <a:ext cx="1645920" cy="438912"/>
          </a:xfrm>
          <a:prstGeom prst="rect">
            <a:avLst/>
          </a:prstGeom>
          <a:noFill/>
          <a:ln/>
        </p:spPr>
        <p:txBody>
          <a:bodyPr wrap="square"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reaggravations</a:t>
            </a:r>
            <a:endParaRPr lang="en-US" sz="950" dirty="0"/>
          </a:p>
          <a:p>
            <a:pPr marL="0" indent="0" algn="ctr">
              <a:buNone/>
            </a:pPr>
            <a:r>
              <a:rPr lang="en-US" sz="950" dirty="0">
                <a:solidFill>
                  <a:srgbClr val="6B7280"/>
                </a:solidFill>
                <a:latin typeface="Calibri" pitchFamily="34" charset="0"/>
                <a:ea typeface="Calibri" pitchFamily="34" charset="-122"/>
                <a:cs typeface="Calibri" pitchFamily="34" charset="-120"/>
              </a:rPr>
              <a:t>identified</a:t>
            </a:r>
            <a:endParaRPr lang="en-US" sz="950" dirty="0"/>
          </a:p>
        </p:txBody>
      </p:sp>
      <p:sp>
        <p:nvSpPr>
          <p:cNvPr id="19" name="Text 17"/>
          <p:cNvSpPr/>
          <p:nvPr/>
        </p:nvSpPr>
        <p:spPr>
          <a:xfrm>
            <a:off x="201168" y="1993392"/>
            <a:ext cx="8741664" cy="256032"/>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Key episode observations from the extract</a:t>
            </a:r>
            <a:endParaRPr lang="en-US" sz="1200" dirty="0"/>
          </a:p>
        </p:txBody>
      </p:sp>
      <p:sp>
        <p:nvSpPr>
          <p:cNvPr id="20" name="Shape 18"/>
          <p:cNvSpPr/>
          <p:nvPr/>
        </p:nvSpPr>
        <p:spPr>
          <a:xfrm>
            <a:off x="201168" y="2331720"/>
            <a:ext cx="8741664" cy="548640"/>
          </a:xfrm>
          <a:prstGeom prst="rect">
            <a:avLst/>
          </a:prstGeom>
          <a:solidFill>
            <a:srgbClr val="F4F7FB"/>
          </a:solidFill>
          <a:ln w="12700">
            <a:solidFill>
              <a:srgbClr val="E2E8F0"/>
            </a:solidFill>
            <a:prstDash val="solid"/>
          </a:ln>
        </p:spPr>
        <p:txBody>
          <a:bodyPr/>
          <a:lstStyle/>
          <a:p>
            <a:endParaRPr lang="en-US"/>
          </a:p>
        </p:txBody>
      </p:sp>
      <p:sp>
        <p:nvSpPr>
          <p:cNvPr id="21" name="Shape 19"/>
          <p:cNvSpPr/>
          <p:nvPr/>
        </p:nvSpPr>
        <p:spPr>
          <a:xfrm>
            <a:off x="201168" y="2331720"/>
            <a:ext cx="54864" cy="548640"/>
          </a:xfrm>
          <a:prstGeom prst="rect">
            <a:avLst/>
          </a:prstGeom>
          <a:solidFill>
            <a:srgbClr val="2E6DA4"/>
          </a:solidFill>
          <a:ln w="12700">
            <a:solidFill>
              <a:srgbClr val="2E6DA4"/>
            </a:solidFill>
            <a:prstDash val="solid"/>
          </a:ln>
        </p:spPr>
        <p:txBody>
          <a:bodyPr/>
          <a:lstStyle/>
          <a:p>
            <a:endParaRPr lang="en-US"/>
          </a:p>
        </p:txBody>
      </p:sp>
      <p:sp>
        <p:nvSpPr>
          <p:cNvPr id="22" name="Text 20"/>
          <p:cNvSpPr/>
          <p:nvPr/>
        </p:nvSpPr>
        <p:spPr>
          <a:xfrm>
            <a:off x="320040" y="2368296"/>
            <a:ext cx="1371600" cy="228600"/>
          </a:xfrm>
          <a:prstGeom prst="rect">
            <a:avLst/>
          </a:prstGeom>
          <a:noFill/>
          <a:ln/>
        </p:spPr>
        <p:txBody>
          <a:bodyPr wrap="square" rtlCol="0" anchor="ctr"/>
          <a:lstStyle/>
          <a:p>
            <a:pPr marL="0" indent="0">
              <a:buNone/>
            </a:pPr>
            <a:r>
              <a:rPr lang="en-US" sz="1000" b="1" dirty="0">
                <a:solidFill>
                  <a:srgbClr val="2E6DA4"/>
                </a:solidFill>
                <a:latin typeface="Calibri" pitchFamily="34" charset="0"/>
                <a:ea typeface="Calibri" pitchFamily="34" charset="-122"/>
                <a:cs typeface="Calibri" pitchFamily="34" charset="-120"/>
              </a:rPr>
              <a:t>Oct 21, 2025</a:t>
            </a:r>
            <a:endParaRPr lang="en-US" sz="1000" dirty="0"/>
          </a:p>
        </p:txBody>
      </p:sp>
      <p:sp>
        <p:nvSpPr>
          <p:cNvPr id="23" name="Text 21"/>
          <p:cNvSpPr/>
          <p:nvPr/>
        </p:nvSpPr>
        <p:spPr>
          <a:xfrm>
            <a:off x="320040" y="2606040"/>
            <a:ext cx="1371600" cy="201168"/>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back_spine</a:t>
            </a:r>
            <a:endParaRPr lang="en-US" sz="950" dirty="0"/>
          </a:p>
        </p:txBody>
      </p:sp>
      <p:sp>
        <p:nvSpPr>
          <p:cNvPr id="24" name="Shape 22"/>
          <p:cNvSpPr/>
          <p:nvPr/>
        </p:nvSpPr>
        <p:spPr>
          <a:xfrm>
            <a:off x="1783080" y="2404872"/>
            <a:ext cx="0" cy="402336"/>
          </a:xfrm>
          <a:prstGeom prst="line">
            <a:avLst/>
          </a:prstGeom>
          <a:noFill/>
          <a:ln w="6350">
            <a:solidFill>
              <a:srgbClr val="CBD5E1"/>
            </a:solidFill>
            <a:prstDash val="solid"/>
          </a:ln>
        </p:spPr>
        <p:txBody>
          <a:bodyPr/>
          <a:lstStyle/>
          <a:p>
            <a:endParaRPr lang="en-US"/>
          </a:p>
        </p:txBody>
      </p:sp>
      <p:sp>
        <p:nvSpPr>
          <p:cNvPr id="25" name="Text 23"/>
          <p:cNvSpPr/>
          <p:nvPr/>
        </p:nvSpPr>
        <p:spPr>
          <a:xfrm>
            <a:off x="1874520" y="2368296"/>
            <a:ext cx="1828800" cy="228600"/>
          </a:xfrm>
          <a:prstGeom prst="rect">
            <a:avLst/>
          </a:prstGeom>
          <a:noFill/>
          <a:ln/>
        </p:spPr>
        <p:txBody>
          <a:bodyPr wrap="square" rtlCol="0" anchor="ctr"/>
          <a:lstStyle/>
          <a:p>
            <a:pPr marL="0" indent="0">
              <a:buNone/>
            </a:pPr>
            <a:r>
              <a:rPr lang="en-US" sz="1000" dirty="0">
                <a:solidFill>
                  <a:srgbClr val="111827"/>
                </a:solidFill>
                <a:latin typeface="Calibri" pitchFamily="34" charset="0"/>
                <a:ea typeface="Calibri" pitchFamily="34" charset="-122"/>
                <a:cs typeface="Calibri" pitchFamily="34" charset="-120"/>
              </a:rPr>
              <a:t>ACWR: NA (burn-in)</a:t>
            </a:r>
            <a:endParaRPr lang="en-US" sz="1000" dirty="0"/>
          </a:p>
        </p:txBody>
      </p:sp>
      <p:sp>
        <p:nvSpPr>
          <p:cNvPr id="26" name="Text 24"/>
          <p:cNvSpPr/>
          <p:nvPr/>
        </p:nvSpPr>
        <p:spPr>
          <a:xfrm>
            <a:off x="1874520" y="2606040"/>
            <a:ext cx="1828800" cy="201168"/>
          </a:xfrm>
          <a:prstGeom prst="rect">
            <a:avLst/>
          </a:prstGeom>
          <a:noFill/>
          <a:ln/>
        </p:spPr>
        <p:txBody>
          <a:bodyPr wrap="square" rtlCol="0" anchor="ctr"/>
          <a:lstStyle/>
          <a:p>
            <a:pPr marL="0" indent="0">
              <a:buNone/>
            </a:pPr>
            <a:r>
              <a:rPr lang="en-US" sz="950" b="1" dirty="0">
                <a:solidFill>
                  <a:srgbClr val="2E6DA4"/>
                </a:solidFill>
                <a:latin typeface="Calibri" pitchFamily="34" charset="0"/>
                <a:ea typeface="Calibri" pitchFamily="34" charset="-122"/>
                <a:cs typeface="Calibri" pitchFamily="34" charset="-120"/>
              </a:rPr>
              <a:t>IS_NEW_INJURY</a:t>
            </a:r>
            <a:endParaRPr lang="en-US" sz="950" dirty="0"/>
          </a:p>
        </p:txBody>
      </p:sp>
      <p:sp>
        <p:nvSpPr>
          <p:cNvPr id="27" name="Shape 25"/>
          <p:cNvSpPr/>
          <p:nvPr/>
        </p:nvSpPr>
        <p:spPr>
          <a:xfrm>
            <a:off x="3794760" y="2404872"/>
            <a:ext cx="0" cy="402336"/>
          </a:xfrm>
          <a:prstGeom prst="line">
            <a:avLst/>
          </a:prstGeom>
          <a:noFill/>
          <a:ln w="6350">
            <a:solidFill>
              <a:srgbClr val="CBD5E1"/>
            </a:solidFill>
            <a:prstDash val="solid"/>
          </a:ln>
        </p:spPr>
        <p:txBody>
          <a:bodyPr/>
          <a:lstStyle/>
          <a:p>
            <a:endParaRPr lang="en-US"/>
          </a:p>
        </p:txBody>
      </p:sp>
      <p:sp>
        <p:nvSpPr>
          <p:cNvPr id="28" name="Text 26"/>
          <p:cNvSpPr/>
          <p:nvPr/>
        </p:nvSpPr>
        <p:spPr>
          <a:xfrm>
            <a:off x="3886200" y="2423160"/>
            <a:ext cx="4983480" cy="411480"/>
          </a:xfrm>
          <a:prstGeom prst="rect">
            <a:avLst/>
          </a:prstGeom>
          <a:noFill/>
          <a:ln/>
        </p:spPr>
        <p:txBody>
          <a:bodyPr wrap="square" rtlCol="0" anchor="ctr"/>
          <a:lstStyle/>
          <a:p>
            <a:pPr marL="0" indent="0">
              <a:buNone/>
            </a:pPr>
            <a:r>
              <a:rPr lang="en-US" sz="1050" dirty="0">
                <a:solidFill>
                  <a:srgbClr val="111827"/>
                </a:solidFill>
                <a:latin typeface="Calibri" pitchFamily="34" charset="0"/>
                <a:ea typeface="Calibri" pitchFamily="34" charset="-122"/>
                <a:cs typeface="Calibri" pitchFamily="34" charset="-120"/>
              </a:rPr>
              <a:t>First game of season - ACWR correctly NA, burn-in guard working</a:t>
            </a:r>
            <a:endParaRPr lang="en-US" sz="1050" dirty="0"/>
          </a:p>
        </p:txBody>
      </p:sp>
      <p:sp>
        <p:nvSpPr>
          <p:cNvPr id="29" name="Shape 27"/>
          <p:cNvSpPr/>
          <p:nvPr/>
        </p:nvSpPr>
        <p:spPr>
          <a:xfrm>
            <a:off x="201168" y="2953512"/>
            <a:ext cx="8741664" cy="548640"/>
          </a:xfrm>
          <a:prstGeom prst="rect">
            <a:avLst/>
          </a:prstGeom>
          <a:solidFill>
            <a:srgbClr val="F4F7FB"/>
          </a:solidFill>
          <a:ln w="12700">
            <a:solidFill>
              <a:srgbClr val="E2E8F0"/>
            </a:solidFill>
            <a:prstDash val="solid"/>
          </a:ln>
        </p:spPr>
        <p:txBody>
          <a:bodyPr/>
          <a:lstStyle/>
          <a:p>
            <a:endParaRPr lang="en-US"/>
          </a:p>
        </p:txBody>
      </p:sp>
      <p:sp>
        <p:nvSpPr>
          <p:cNvPr id="30" name="Shape 28"/>
          <p:cNvSpPr/>
          <p:nvPr/>
        </p:nvSpPr>
        <p:spPr>
          <a:xfrm>
            <a:off x="201168" y="2953512"/>
            <a:ext cx="54864" cy="548640"/>
          </a:xfrm>
          <a:prstGeom prst="rect">
            <a:avLst/>
          </a:prstGeom>
          <a:solidFill>
            <a:srgbClr val="DC2626"/>
          </a:solidFill>
          <a:ln w="12700">
            <a:solidFill>
              <a:srgbClr val="DC2626"/>
            </a:solidFill>
            <a:prstDash val="solid"/>
          </a:ln>
        </p:spPr>
        <p:txBody>
          <a:bodyPr/>
          <a:lstStyle/>
          <a:p>
            <a:endParaRPr lang="en-US"/>
          </a:p>
        </p:txBody>
      </p:sp>
      <p:sp>
        <p:nvSpPr>
          <p:cNvPr id="31" name="Text 29"/>
          <p:cNvSpPr/>
          <p:nvPr/>
        </p:nvSpPr>
        <p:spPr>
          <a:xfrm>
            <a:off x="320040" y="2990088"/>
            <a:ext cx="1371600" cy="228600"/>
          </a:xfrm>
          <a:prstGeom prst="rect">
            <a:avLst/>
          </a:prstGeom>
          <a:noFill/>
          <a:ln/>
        </p:spPr>
        <p:txBody>
          <a:bodyPr wrap="square"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Nov 30, 2025</a:t>
            </a:r>
            <a:endParaRPr lang="en-US" sz="1000" dirty="0"/>
          </a:p>
        </p:txBody>
      </p:sp>
      <p:sp>
        <p:nvSpPr>
          <p:cNvPr id="32" name="Text 30"/>
          <p:cNvSpPr/>
          <p:nvPr/>
        </p:nvSpPr>
        <p:spPr>
          <a:xfrm>
            <a:off x="320040" y="3227832"/>
            <a:ext cx="1371600" cy="201168"/>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foot</a:t>
            </a:r>
            <a:endParaRPr lang="en-US" sz="950" dirty="0"/>
          </a:p>
        </p:txBody>
      </p:sp>
      <p:sp>
        <p:nvSpPr>
          <p:cNvPr id="33" name="Shape 31"/>
          <p:cNvSpPr/>
          <p:nvPr/>
        </p:nvSpPr>
        <p:spPr>
          <a:xfrm>
            <a:off x="1783080" y="3026664"/>
            <a:ext cx="0" cy="402336"/>
          </a:xfrm>
          <a:prstGeom prst="line">
            <a:avLst/>
          </a:prstGeom>
          <a:noFill/>
          <a:ln w="6350">
            <a:solidFill>
              <a:srgbClr val="CBD5E1"/>
            </a:solidFill>
            <a:prstDash val="solid"/>
          </a:ln>
        </p:spPr>
        <p:txBody>
          <a:bodyPr/>
          <a:lstStyle/>
          <a:p>
            <a:endParaRPr lang="en-US"/>
          </a:p>
        </p:txBody>
      </p:sp>
      <p:sp>
        <p:nvSpPr>
          <p:cNvPr id="34" name="Text 32"/>
          <p:cNvSpPr/>
          <p:nvPr/>
        </p:nvSpPr>
        <p:spPr>
          <a:xfrm>
            <a:off x="1874520" y="2990088"/>
            <a:ext cx="1828800" cy="228600"/>
          </a:xfrm>
          <a:prstGeom prst="rect">
            <a:avLst/>
          </a:prstGeom>
          <a:noFill/>
          <a:ln/>
        </p:spPr>
        <p:txBody>
          <a:bodyPr wrap="square" rtlCol="0" anchor="ctr"/>
          <a:lstStyle/>
          <a:p>
            <a:pPr marL="0" indent="0">
              <a:buNone/>
            </a:pPr>
            <a:r>
              <a:rPr lang="en-US" sz="1000" dirty="0">
                <a:solidFill>
                  <a:srgbClr val="111827"/>
                </a:solidFill>
                <a:latin typeface="Calibri" pitchFamily="34" charset="0"/>
                <a:ea typeface="Calibri" pitchFamily="34" charset="-122"/>
                <a:cs typeface="Calibri" pitchFamily="34" charset="-120"/>
              </a:rPr>
              <a:t>ACWR: 3.09 HIGH RISK</a:t>
            </a:r>
            <a:endParaRPr lang="en-US" sz="1000" dirty="0"/>
          </a:p>
        </p:txBody>
      </p:sp>
      <p:sp>
        <p:nvSpPr>
          <p:cNvPr id="35" name="Text 33"/>
          <p:cNvSpPr/>
          <p:nvPr/>
        </p:nvSpPr>
        <p:spPr>
          <a:xfrm>
            <a:off x="1874520" y="3227832"/>
            <a:ext cx="1828800" cy="201168"/>
          </a:xfrm>
          <a:prstGeom prst="rect">
            <a:avLst/>
          </a:prstGeom>
          <a:noFill/>
          <a:ln/>
        </p:spPr>
        <p:txBody>
          <a:bodyPr wrap="square"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IS_NEW_INJURY</a:t>
            </a:r>
            <a:endParaRPr lang="en-US" sz="950" dirty="0"/>
          </a:p>
        </p:txBody>
      </p:sp>
      <p:sp>
        <p:nvSpPr>
          <p:cNvPr id="36" name="Shape 34"/>
          <p:cNvSpPr/>
          <p:nvPr/>
        </p:nvSpPr>
        <p:spPr>
          <a:xfrm>
            <a:off x="3794760" y="3026664"/>
            <a:ext cx="0" cy="402336"/>
          </a:xfrm>
          <a:prstGeom prst="line">
            <a:avLst/>
          </a:prstGeom>
          <a:noFill/>
          <a:ln w="6350">
            <a:solidFill>
              <a:srgbClr val="CBD5E1"/>
            </a:solidFill>
            <a:prstDash val="solid"/>
          </a:ln>
        </p:spPr>
        <p:txBody>
          <a:bodyPr/>
          <a:lstStyle/>
          <a:p>
            <a:endParaRPr lang="en-US"/>
          </a:p>
        </p:txBody>
      </p:sp>
      <p:sp>
        <p:nvSpPr>
          <p:cNvPr id="37" name="Text 35"/>
          <p:cNvSpPr/>
          <p:nvPr/>
        </p:nvSpPr>
        <p:spPr>
          <a:xfrm>
            <a:off x="3886200" y="3044952"/>
            <a:ext cx="4983480" cy="411480"/>
          </a:xfrm>
          <a:prstGeom prst="rect">
            <a:avLst/>
          </a:prstGeom>
          <a:noFill/>
          <a:ln/>
        </p:spPr>
        <p:txBody>
          <a:bodyPr wrap="square" rtlCol="0" anchor="ctr"/>
          <a:lstStyle/>
          <a:p>
            <a:pPr marL="0" indent="0">
              <a:buNone/>
            </a:pPr>
            <a:r>
              <a:rPr lang="en-US" sz="1050" dirty="0">
                <a:solidFill>
                  <a:srgbClr val="111827"/>
                </a:solidFill>
                <a:latin typeface="Calibri" pitchFamily="34" charset="0"/>
                <a:ea typeface="Calibri" pitchFamily="34" charset="-122"/>
                <a:cs typeface="Calibri" pitchFamily="34" charset="-120"/>
              </a:rPr>
              <a:t>Returns from 14-game back absence into acute load spike - exactly the exposure pattern the model targets</a:t>
            </a:r>
            <a:endParaRPr lang="en-US" sz="1050" dirty="0"/>
          </a:p>
        </p:txBody>
      </p:sp>
      <p:sp>
        <p:nvSpPr>
          <p:cNvPr id="38" name="Shape 36"/>
          <p:cNvSpPr/>
          <p:nvPr/>
        </p:nvSpPr>
        <p:spPr>
          <a:xfrm>
            <a:off x="201168" y="3575304"/>
            <a:ext cx="8741664" cy="548640"/>
          </a:xfrm>
          <a:prstGeom prst="rect">
            <a:avLst/>
          </a:prstGeom>
          <a:solidFill>
            <a:srgbClr val="F4F7FB"/>
          </a:solidFill>
          <a:ln w="12700">
            <a:solidFill>
              <a:srgbClr val="E2E8F0"/>
            </a:solidFill>
            <a:prstDash val="solid"/>
          </a:ln>
        </p:spPr>
        <p:txBody>
          <a:bodyPr/>
          <a:lstStyle/>
          <a:p>
            <a:endParaRPr lang="en-US"/>
          </a:p>
        </p:txBody>
      </p:sp>
      <p:sp>
        <p:nvSpPr>
          <p:cNvPr id="39" name="Shape 37"/>
          <p:cNvSpPr/>
          <p:nvPr/>
        </p:nvSpPr>
        <p:spPr>
          <a:xfrm>
            <a:off x="201168" y="3575304"/>
            <a:ext cx="54864" cy="548640"/>
          </a:xfrm>
          <a:prstGeom prst="rect">
            <a:avLst/>
          </a:prstGeom>
          <a:solidFill>
            <a:srgbClr val="D97706"/>
          </a:solidFill>
          <a:ln w="12700">
            <a:solidFill>
              <a:srgbClr val="D97706"/>
            </a:solidFill>
            <a:prstDash val="solid"/>
          </a:ln>
        </p:spPr>
        <p:txBody>
          <a:bodyPr/>
          <a:lstStyle/>
          <a:p>
            <a:endParaRPr lang="en-US"/>
          </a:p>
        </p:txBody>
      </p:sp>
      <p:sp>
        <p:nvSpPr>
          <p:cNvPr id="40" name="Text 38"/>
          <p:cNvSpPr/>
          <p:nvPr/>
        </p:nvSpPr>
        <p:spPr>
          <a:xfrm>
            <a:off x="320040" y="3611880"/>
            <a:ext cx="1371600" cy="228600"/>
          </a:xfrm>
          <a:prstGeom prst="rect">
            <a:avLst/>
          </a:prstGeom>
          <a:noFill/>
          <a:ln/>
        </p:spPr>
        <p:txBody>
          <a:bodyPr wrap="square" rtlCol="0" anchor="ctr"/>
          <a:lstStyle/>
          <a:p>
            <a:pPr marL="0" indent="0">
              <a:buNone/>
            </a:pPr>
            <a:r>
              <a:rPr lang="en-US" sz="1000" b="1" dirty="0">
                <a:solidFill>
                  <a:srgbClr val="D97706"/>
                </a:solidFill>
                <a:latin typeface="Calibri" pitchFamily="34" charset="0"/>
                <a:ea typeface="Calibri" pitchFamily="34" charset="-122"/>
                <a:cs typeface="Calibri" pitchFamily="34" charset="-120"/>
              </a:rPr>
              <a:t>Dec 5, 2025</a:t>
            </a:r>
            <a:endParaRPr lang="en-US" sz="1000" dirty="0"/>
          </a:p>
        </p:txBody>
      </p:sp>
      <p:sp>
        <p:nvSpPr>
          <p:cNvPr id="41" name="Text 39"/>
          <p:cNvSpPr/>
          <p:nvPr/>
        </p:nvSpPr>
        <p:spPr>
          <a:xfrm>
            <a:off x="320040" y="3849624"/>
            <a:ext cx="1371600" cy="201168"/>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back_spine</a:t>
            </a:r>
            <a:endParaRPr lang="en-US" sz="950" dirty="0"/>
          </a:p>
        </p:txBody>
      </p:sp>
      <p:sp>
        <p:nvSpPr>
          <p:cNvPr id="42" name="Shape 40"/>
          <p:cNvSpPr/>
          <p:nvPr/>
        </p:nvSpPr>
        <p:spPr>
          <a:xfrm>
            <a:off x="1783080" y="3648456"/>
            <a:ext cx="0" cy="402336"/>
          </a:xfrm>
          <a:prstGeom prst="line">
            <a:avLst/>
          </a:prstGeom>
          <a:noFill/>
          <a:ln w="6350">
            <a:solidFill>
              <a:srgbClr val="CBD5E1"/>
            </a:solidFill>
            <a:prstDash val="solid"/>
          </a:ln>
        </p:spPr>
        <p:txBody>
          <a:bodyPr/>
          <a:lstStyle/>
          <a:p>
            <a:endParaRPr lang="en-US"/>
          </a:p>
        </p:txBody>
      </p:sp>
      <p:sp>
        <p:nvSpPr>
          <p:cNvPr id="43" name="Text 41"/>
          <p:cNvSpPr/>
          <p:nvPr/>
        </p:nvSpPr>
        <p:spPr>
          <a:xfrm>
            <a:off x="1874520" y="3611880"/>
            <a:ext cx="1828800" cy="228600"/>
          </a:xfrm>
          <a:prstGeom prst="rect">
            <a:avLst/>
          </a:prstGeom>
          <a:noFill/>
          <a:ln/>
        </p:spPr>
        <p:txBody>
          <a:bodyPr wrap="square" rtlCol="0" anchor="ctr"/>
          <a:lstStyle/>
          <a:p>
            <a:pPr marL="0" indent="0">
              <a:buNone/>
            </a:pPr>
            <a:r>
              <a:rPr lang="en-US" sz="1000" dirty="0">
                <a:solidFill>
                  <a:srgbClr val="111827"/>
                </a:solidFill>
                <a:latin typeface="Calibri" pitchFamily="34" charset="0"/>
                <a:ea typeface="Calibri" pitchFamily="34" charset="-122"/>
                <a:cs typeface="Calibri" pitchFamily="34" charset="-120"/>
              </a:rPr>
              <a:t>ACWR: 2.05 HIGH RISK</a:t>
            </a:r>
            <a:endParaRPr lang="en-US" sz="1000" dirty="0"/>
          </a:p>
        </p:txBody>
      </p:sp>
      <p:sp>
        <p:nvSpPr>
          <p:cNvPr id="44" name="Text 42"/>
          <p:cNvSpPr/>
          <p:nvPr/>
        </p:nvSpPr>
        <p:spPr>
          <a:xfrm>
            <a:off x="1874520" y="3849624"/>
            <a:ext cx="1828800" cy="201168"/>
          </a:xfrm>
          <a:prstGeom prst="rect">
            <a:avLst/>
          </a:prstGeom>
          <a:noFill/>
          <a:ln/>
        </p:spPr>
        <p:txBody>
          <a:bodyPr wrap="square" rtlCol="0" anchor="ctr"/>
          <a:lstStyle/>
          <a:p>
            <a:pPr marL="0" indent="0">
              <a:buNone/>
            </a:pPr>
            <a:r>
              <a:rPr lang="en-US" sz="950" b="1" dirty="0">
                <a:solidFill>
                  <a:srgbClr val="D97706"/>
                </a:solidFill>
                <a:latin typeface="Calibri" pitchFamily="34" charset="0"/>
                <a:ea typeface="Calibri" pitchFamily="34" charset="-122"/>
                <a:cs typeface="Calibri" pitchFamily="34" charset="-120"/>
              </a:rPr>
              <a:t>IS_REAGGRAVATION</a:t>
            </a:r>
            <a:endParaRPr lang="en-US" sz="950" dirty="0"/>
          </a:p>
        </p:txBody>
      </p:sp>
      <p:sp>
        <p:nvSpPr>
          <p:cNvPr id="45" name="Shape 43"/>
          <p:cNvSpPr/>
          <p:nvPr/>
        </p:nvSpPr>
        <p:spPr>
          <a:xfrm>
            <a:off x="3794760" y="3648456"/>
            <a:ext cx="0" cy="402336"/>
          </a:xfrm>
          <a:prstGeom prst="line">
            <a:avLst/>
          </a:prstGeom>
          <a:noFill/>
          <a:ln w="6350">
            <a:solidFill>
              <a:srgbClr val="CBD5E1"/>
            </a:solidFill>
            <a:prstDash val="solid"/>
          </a:ln>
        </p:spPr>
        <p:txBody>
          <a:bodyPr/>
          <a:lstStyle/>
          <a:p>
            <a:endParaRPr lang="en-US"/>
          </a:p>
        </p:txBody>
      </p:sp>
      <p:sp>
        <p:nvSpPr>
          <p:cNvPr id="46" name="Text 44"/>
          <p:cNvSpPr/>
          <p:nvPr/>
        </p:nvSpPr>
        <p:spPr>
          <a:xfrm>
            <a:off x="3886200" y="3666744"/>
            <a:ext cx="4983480" cy="411480"/>
          </a:xfrm>
          <a:prstGeom prst="rect">
            <a:avLst/>
          </a:prstGeom>
          <a:noFill/>
          <a:ln/>
        </p:spPr>
        <p:txBody>
          <a:bodyPr wrap="square" rtlCol="0" anchor="ctr"/>
          <a:lstStyle/>
          <a:p>
            <a:pPr marL="0" indent="0">
              <a:buNone/>
            </a:pPr>
            <a:r>
              <a:rPr lang="en-US" sz="1050" dirty="0">
                <a:solidFill>
                  <a:srgbClr val="111827"/>
                </a:solidFill>
                <a:latin typeface="Calibri" pitchFamily="34" charset="0"/>
                <a:ea typeface="Calibri" pitchFamily="34" charset="-122"/>
                <a:cs typeface="Calibri" pitchFamily="34" charset="-120"/>
              </a:rPr>
              <a:t>Back returns within 90 days of first back episode</a:t>
            </a:r>
            <a:endParaRPr lang="en-US" sz="1050" dirty="0"/>
          </a:p>
        </p:txBody>
      </p:sp>
      <p:sp>
        <p:nvSpPr>
          <p:cNvPr id="47" name="Shape 45"/>
          <p:cNvSpPr/>
          <p:nvPr/>
        </p:nvSpPr>
        <p:spPr>
          <a:xfrm>
            <a:off x="201168" y="4197096"/>
            <a:ext cx="8741664" cy="548640"/>
          </a:xfrm>
          <a:prstGeom prst="rect">
            <a:avLst/>
          </a:prstGeom>
          <a:solidFill>
            <a:srgbClr val="F4F7FB"/>
          </a:solidFill>
          <a:ln w="12700">
            <a:solidFill>
              <a:srgbClr val="E2E8F0"/>
            </a:solidFill>
            <a:prstDash val="solid"/>
          </a:ln>
        </p:spPr>
        <p:txBody>
          <a:bodyPr/>
          <a:lstStyle/>
          <a:p>
            <a:endParaRPr lang="en-US"/>
          </a:p>
        </p:txBody>
      </p:sp>
      <p:sp>
        <p:nvSpPr>
          <p:cNvPr id="48" name="Shape 46"/>
          <p:cNvSpPr/>
          <p:nvPr/>
        </p:nvSpPr>
        <p:spPr>
          <a:xfrm>
            <a:off x="201168" y="4197096"/>
            <a:ext cx="54864" cy="548640"/>
          </a:xfrm>
          <a:prstGeom prst="rect">
            <a:avLst/>
          </a:prstGeom>
          <a:solidFill>
            <a:srgbClr val="1A3A5C"/>
          </a:solidFill>
          <a:ln w="12700">
            <a:solidFill>
              <a:srgbClr val="1A3A5C"/>
            </a:solidFill>
            <a:prstDash val="solid"/>
          </a:ln>
        </p:spPr>
        <p:txBody>
          <a:bodyPr/>
          <a:lstStyle/>
          <a:p>
            <a:endParaRPr lang="en-US"/>
          </a:p>
        </p:txBody>
      </p:sp>
      <p:sp>
        <p:nvSpPr>
          <p:cNvPr id="49" name="Text 47"/>
          <p:cNvSpPr/>
          <p:nvPr/>
        </p:nvSpPr>
        <p:spPr>
          <a:xfrm>
            <a:off x="320040" y="4233672"/>
            <a:ext cx="1371600" cy="228600"/>
          </a:xfrm>
          <a:prstGeom prst="rect">
            <a:avLst/>
          </a:prstGeom>
          <a:noFill/>
          <a:ln/>
        </p:spPr>
        <p:txBody>
          <a:bodyPr wrap="square" rtlCol="0" anchor="ctr"/>
          <a:lstStyle/>
          <a:p>
            <a:pPr marL="0" indent="0">
              <a:buNone/>
            </a:pPr>
            <a:r>
              <a:rPr lang="en-US" sz="1000" b="1" dirty="0">
                <a:solidFill>
                  <a:srgbClr val="1A3A5C"/>
                </a:solidFill>
                <a:latin typeface="Calibri" pitchFamily="34" charset="0"/>
                <a:ea typeface="Calibri" pitchFamily="34" charset="-122"/>
                <a:cs typeface="Calibri" pitchFamily="34" charset="-120"/>
              </a:rPr>
              <a:t>Mar 6, 2026</a:t>
            </a:r>
            <a:endParaRPr lang="en-US" sz="1000" dirty="0"/>
          </a:p>
        </p:txBody>
      </p:sp>
      <p:sp>
        <p:nvSpPr>
          <p:cNvPr id="50" name="Text 48"/>
          <p:cNvSpPr/>
          <p:nvPr/>
        </p:nvSpPr>
        <p:spPr>
          <a:xfrm>
            <a:off x="320040" y="4471416"/>
            <a:ext cx="1371600" cy="201168"/>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elbow_wrist</a:t>
            </a:r>
            <a:endParaRPr lang="en-US" sz="950" dirty="0"/>
          </a:p>
        </p:txBody>
      </p:sp>
      <p:sp>
        <p:nvSpPr>
          <p:cNvPr id="51" name="Shape 49"/>
          <p:cNvSpPr/>
          <p:nvPr/>
        </p:nvSpPr>
        <p:spPr>
          <a:xfrm>
            <a:off x="1783080" y="4270248"/>
            <a:ext cx="0" cy="402336"/>
          </a:xfrm>
          <a:prstGeom prst="line">
            <a:avLst/>
          </a:prstGeom>
          <a:noFill/>
          <a:ln w="6350">
            <a:solidFill>
              <a:srgbClr val="CBD5E1"/>
            </a:solidFill>
            <a:prstDash val="solid"/>
          </a:ln>
        </p:spPr>
        <p:txBody>
          <a:bodyPr/>
          <a:lstStyle/>
          <a:p>
            <a:endParaRPr lang="en-US"/>
          </a:p>
        </p:txBody>
      </p:sp>
      <p:sp>
        <p:nvSpPr>
          <p:cNvPr id="52" name="Text 50"/>
          <p:cNvSpPr/>
          <p:nvPr/>
        </p:nvSpPr>
        <p:spPr>
          <a:xfrm>
            <a:off x="1874520" y="4233672"/>
            <a:ext cx="1828800" cy="228600"/>
          </a:xfrm>
          <a:prstGeom prst="rect">
            <a:avLst/>
          </a:prstGeom>
          <a:noFill/>
          <a:ln/>
        </p:spPr>
        <p:txBody>
          <a:bodyPr wrap="square" rtlCol="0" anchor="ctr"/>
          <a:lstStyle/>
          <a:p>
            <a:pPr marL="0" indent="0">
              <a:buNone/>
            </a:pPr>
            <a:r>
              <a:rPr lang="en-US" sz="1000" dirty="0">
                <a:solidFill>
                  <a:srgbClr val="111827"/>
                </a:solidFill>
                <a:latin typeface="Calibri" pitchFamily="34" charset="0"/>
                <a:ea typeface="Calibri" pitchFamily="34" charset="-122"/>
                <a:cs typeface="Calibri" pitchFamily="34" charset="-120"/>
              </a:rPr>
              <a:t>ACWR: 1.57 HIGH RISK</a:t>
            </a:r>
            <a:endParaRPr lang="en-US" sz="1000" dirty="0"/>
          </a:p>
        </p:txBody>
      </p:sp>
      <p:sp>
        <p:nvSpPr>
          <p:cNvPr id="53" name="Text 51"/>
          <p:cNvSpPr/>
          <p:nvPr/>
        </p:nvSpPr>
        <p:spPr>
          <a:xfrm>
            <a:off x="1874520" y="4471416"/>
            <a:ext cx="1828800" cy="201168"/>
          </a:xfrm>
          <a:prstGeom prst="rect">
            <a:avLst/>
          </a:prstGeom>
          <a:noFill/>
          <a:ln/>
        </p:spPr>
        <p:txBody>
          <a:bodyPr wrap="square" rtlCol="0" anchor="ctr"/>
          <a:lstStyle/>
          <a:p>
            <a:pPr marL="0" indent="0">
              <a:buNone/>
            </a:pPr>
            <a:r>
              <a:rPr lang="en-US" sz="950" b="1" dirty="0">
                <a:solidFill>
                  <a:srgbClr val="1A3A5C"/>
                </a:solidFill>
                <a:latin typeface="Calibri" pitchFamily="34" charset="0"/>
                <a:ea typeface="Calibri" pitchFamily="34" charset="-122"/>
                <a:cs typeface="Calibri" pitchFamily="34" charset="-120"/>
              </a:rPr>
              <a:t>IS_NEW_INJURY</a:t>
            </a:r>
            <a:endParaRPr lang="en-US" sz="950" dirty="0"/>
          </a:p>
        </p:txBody>
      </p:sp>
      <p:sp>
        <p:nvSpPr>
          <p:cNvPr id="54" name="Shape 52"/>
          <p:cNvSpPr/>
          <p:nvPr/>
        </p:nvSpPr>
        <p:spPr>
          <a:xfrm>
            <a:off x="3794760" y="4270248"/>
            <a:ext cx="0" cy="402336"/>
          </a:xfrm>
          <a:prstGeom prst="line">
            <a:avLst/>
          </a:prstGeom>
          <a:noFill/>
          <a:ln w="6350">
            <a:solidFill>
              <a:srgbClr val="CBD5E1"/>
            </a:solidFill>
            <a:prstDash val="solid"/>
          </a:ln>
        </p:spPr>
        <p:txBody>
          <a:bodyPr/>
          <a:lstStyle/>
          <a:p>
            <a:endParaRPr lang="en-US"/>
          </a:p>
        </p:txBody>
      </p:sp>
      <p:sp>
        <p:nvSpPr>
          <p:cNvPr id="55" name="Text 53"/>
          <p:cNvSpPr/>
          <p:nvPr/>
        </p:nvSpPr>
        <p:spPr>
          <a:xfrm>
            <a:off x="3886200" y="4288536"/>
            <a:ext cx="4983480" cy="411480"/>
          </a:xfrm>
          <a:prstGeom prst="rect">
            <a:avLst/>
          </a:prstGeom>
          <a:noFill/>
          <a:ln/>
        </p:spPr>
        <p:txBody>
          <a:bodyPr wrap="square" rtlCol="0" anchor="ctr"/>
          <a:lstStyle/>
          <a:p>
            <a:pPr marL="0" indent="0">
              <a:buNone/>
            </a:pPr>
            <a:r>
              <a:rPr lang="en-US" sz="1050" dirty="0">
                <a:solidFill>
                  <a:srgbClr val="111827"/>
                </a:solidFill>
                <a:latin typeface="Calibri" pitchFamily="34" charset="0"/>
                <a:ea typeface="Calibri" pitchFamily="34" charset="-122"/>
                <a:cs typeface="Calibri" pitchFamily="34" charset="-120"/>
              </a:rPr>
              <a:t>Different region; different episode. B2B game on this date.</a:t>
            </a:r>
            <a:endParaRPr lang="en-US" sz="1050" dirty="0"/>
          </a:p>
        </p:txBody>
      </p:sp>
      <p:grpSp>
        <p:nvGrpSpPr>
          <p:cNvPr id="56" name="Group 55">
            <a:extLst>
              <a:ext uri="{FF2B5EF4-FFF2-40B4-BE49-F238E27FC236}">
                <a16:creationId xmlns:a16="http://schemas.microsoft.com/office/drawing/2014/main" id="{5672FEF9-6E7C-052B-4AB7-B9C2817240D7}"/>
              </a:ext>
            </a:extLst>
          </p:cNvPr>
          <p:cNvGrpSpPr/>
          <p:nvPr/>
        </p:nvGrpSpPr>
        <p:grpSpPr>
          <a:xfrm>
            <a:off x="8569076" y="52588"/>
            <a:ext cx="509767" cy="509767"/>
            <a:chOff x="7241964" y="2782711"/>
            <a:chExt cx="828823" cy="828823"/>
          </a:xfrm>
        </p:grpSpPr>
        <p:sp>
          <p:nvSpPr>
            <p:cNvPr id="57" name="Shape 2">
              <a:extLst>
                <a:ext uri="{FF2B5EF4-FFF2-40B4-BE49-F238E27FC236}">
                  <a16:creationId xmlns:a16="http://schemas.microsoft.com/office/drawing/2014/main" id="{4BB311BC-30CC-F24B-A1EC-788CB2CD96F3}"/>
                </a:ext>
              </a:extLst>
            </p:cNvPr>
            <p:cNvSpPr/>
            <p:nvPr/>
          </p:nvSpPr>
          <p:spPr>
            <a:xfrm flipV="1">
              <a:off x="7288447" y="2820973"/>
              <a:ext cx="739305" cy="739305"/>
            </a:xfrm>
            <a:prstGeom prst="ellipse">
              <a:avLst/>
            </a:prstGeom>
            <a:solidFill>
              <a:schemeClr val="accent2">
                <a:alpha val="35000"/>
              </a:schemeClr>
            </a:solidFill>
            <a:ln w="12700">
              <a:noFill/>
              <a:prstDash val="solid"/>
            </a:ln>
          </p:spPr>
          <p:txBody>
            <a:bodyPr/>
            <a:lstStyle/>
            <a:p>
              <a:endParaRPr lang="en-US"/>
            </a:p>
          </p:txBody>
        </p:sp>
        <p:pic>
          <p:nvPicPr>
            <p:cNvPr id="58" name="Picture 6" descr="Basketball Generic Detailed Outline icon | Magnific (formerly Magnific)">
              <a:extLst>
                <a:ext uri="{FF2B5EF4-FFF2-40B4-BE49-F238E27FC236}">
                  <a16:creationId xmlns:a16="http://schemas.microsoft.com/office/drawing/2014/main" id="{5310A6E2-5612-AA08-2300-BB7FF0EE26A7}"/>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a:stretch>
              <a:fillRect/>
            </a:stretch>
          </p:blipFill>
          <p:spPr bwMode="auto">
            <a:xfrm>
              <a:off x="7241964" y="2782711"/>
              <a:ext cx="828823" cy="828823"/>
            </a:xfrm>
            <a:prstGeom prst="rect">
              <a:avLst/>
            </a:prstGeom>
            <a:noFill/>
            <a:extLst>
              <a:ext uri="{909E8E84-426E-40DD-AFC4-6F175D3DCCD1}">
                <a14:hiddenFill xmlns:a14="http://schemas.microsoft.com/office/drawing/2010/main">
                  <a:solidFill>
                    <a:srgbClr val="FFFFFF"/>
                  </a:solidFill>
                </a14:hiddenFill>
              </a:ext>
            </a:extLst>
          </p:spPr>
        </p:pic>
      </p:grpSp>
      <p:sp>
        <p:nvSpPr>
          <p:cNvPr id="59" name="Shape 5">
            <a:extLst>
              <a:ext uri="{FF2B5EF4-FFF2-40B4-BE49-F238E27FC236}">
                <a16:creationId xmlns:a16="http://schemas.microsoft.com/office/drawing/2014/main" id="{587FB636-98DE-4BCA-273C-9CA45BDE2086}"/>
              </a:ext>
            </a:extLst>
          </p:cNvPr>
          <p:cNvSpPr/>
          <p:nvPr/>
        </p:nvSpPr>
        <p:spPr>
          <a:xfrm>
            <a:off x="0" y="608076"/>
            <a:ext cx="9144000" cy="45719"/>
          </a:xfrm>
          <a:prstGeom prst="rect">
            <a:avLst/>
          </a:prstGeom>
          <a:solidFill>
            <a:schemeClr val="accent2"/>
          </a:solidFill>
          <a:ln w="12700">
            <a:noFill/>
            <a:prstDash val="solid"/>
          </a:ln>
        </p:spPr>
        <p:txBody>
          <a:bodyPr/>
          <a:lstStyle/>
          <a:p>
            <a:endParaRPr lang="en-US"/>
          </a:p>
        </p:txBody>
      </p:sp>
      <p:pic>
        <p:nvPicPr>
          <p:cNvPr id="60" name="Picture 2" descr="LeBron James | Stats, Son, Bronny, Wife, Biography, Championships, &amp; Facts  | Britannica">
            <a:extLst>
              <a:ext uri="{FF2B5EF4-FFF2-40B4-BE49-F238E27FC236}">
                <a16:creationId xmlns:a16="http://schemas.microsoft.com/office/drawing/2014/main" id="{D336C480-E62C-A024-E8F6-68B5BC618E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36849" y="767159"/>
            <a:ext cx="1005983" cy="1451196"/>
          </a:xfrm>
          <a:prstGeom prst="rect">
            <a:avLst/>
          </a:prstGeom>
          <a:noFill/>
          <a:ln w="38100">
            <a:solidFill>
              <a:schemeClr val="accent2"/>
            </a:solidFill>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txBody>
          <a:bodyPr/>
          <a:lstStyle/>
          <a:p>
            <a:endParaRPr lang="en-US"/>
          </a:p>
        </p:txBody>
      </p:sp>
      <p:sp>
        <p:nvSpPr>
          <p:cNvPr id="3" name="Text 1"/>
          <p:cNvSpPr/>
          <p:nvPr/>
        </p:nvSpPr>
        <p:spPr>
          <a:xfrm>
            <a:off x="320040" y="0"/>
            <a:ext cx="850392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Progress, Challenges, and What's Next</a:t>
            </a:r>
            <a:endParaRPr lang="en-US" sz="2200" dirty="0"/>
          </a:p>
        </p:txBody>
      </p:sp>
      <p:sp>
        <p:nvSpPr>
          <p:cNvPr id="4" name="Shape 2"/>
          <p:cNvSpPr/>
          <p:nvPr/>
        </p:nvSpPr>
        <p:spPr>
          <a:xfrm>
            <a:off x="201168" y="768096"/>
            <a:ext cx="3261699" cy="292608"/>
          </a:xfrm>
          <a:prstGeom prst="rect">
            <a:avLst/>
          </a:prstGeom>
          <a:solidFill>
            <a:srgbClr val="16A34A"/>
          </a:solidFill>
          <a:ln w="12700">
            <a:solidFill>
              <a:srgbClr val="16A34A"/>
            </a:solidFill>
            <a:prstDash val="solid"/>
          </a:ln>
        </p:spPr>
        <p:txBody>
          <a:bodyPr/>
          <a:lstStyle/>
          <a:p>
            <a:endParaRPr lang="en-US"/>
          </a:p>
        </p:txBody>
      </p:sp>
      <p:sp>
        <p:nvSpPr>
          <p:cNvPr id="5" name="Text 3"/>
          <p:cNvSpPr/>
          <p:nvPr/>
        </p:nvSpPr>
        <p:spPr>
          <a:xfrm>
            <a:off x="201168" y="768096"/>
            <a:ext cx="3261699" cy="2926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Completed</a:t>
            </a:r>
            <a:endParaRPr lang="en-US" sz="1300" dirty="0"/>
          </a:p>
        </p:txBody>
      </p:sp>
      <p:sp>
        <p:nvSpPr>
          <p:cNvPr id="6" name="Shape 4"/>
          <p:cNvSpPr/>
          <p:nvPr/>
        </p:nvSpPr>
        <p:spPr>
          <a:xfrm>
            <a:off x="256032" y="1133856"/>
            <a:ext cx="164592" cy="164592"/>
          </a:xfrm>
          <a:prstGeom prst="ellipse">
            <a:avLst/>
          </a:prstGeom>
          <a:solidFill>
            <a:srgbClr val="16A34A"/>
          </a:solidFill>
          <a:ln w="12700">
            <a:solidFill>
              <a:srgbClr val="16A34A"/>
            </a:solidFill>
            <a:prstDash val="solid"/>
          </a:ln>
        </p:spPr>
        <p:txBody>
          <a:bodyPr/>
          <a:lstStyle/>
          <a:p>
            <a:endParaRPr lang="en-US"/>
          </a:p>
        </p:txBody>
      </p:sp>
      <p:sp>
        <p:nvSpPr>
          <p:cNvPr id="7" name="Text 5"/>
          <p:cNvSpPr/>
          <p:nvPr/>
        </p:nvSpPr>
        <p:spPr>
          <a:xfrm>
            <a:off x="475488" y="1115568"/>
            <a:ext cx="2987379" cy="347472"/>
          </a:xfrm>
          <a:prstGeom prst="rect">
            <a:avLst/>
          </a:prstGeom>
          <a:noFill/>
          <a:ln/>
        </p:spPr>
        <p:txBody>
          <a:bodyPr wrap="square" rtlCol="0" anchor="ctr"/>
          <a:lstStyle/>
          <a:p>
            <a:pPr marL="0" indent="0">
              <a:buNone/>
            </a:pPr>
            <a:r>
              <a:rPr lang="en-US" sz="1050" dirty="0">
                <a:solidFill>
                  <a:srgbClr val="111827"/>
                </a:solidFill>
                <a:latin typeface="Calibri" pitchFamily="34" charset="0"/>
                <a:ea typeface="Calibri" pitchFamily="34" charset="-122"/>
                <a:cs typeface="Calibri" pitchFamily="34" charset="-120"/>
              </a:rPr>
              <a:t>Area of opportunity confirmed through literature review - 13 studies, central gap confirmed</a:t>
            </a:r>
            <a:endParaRPr lang="en-US" sz="1050" dirty="0"/>
          </a:p>
        </p:txBody>
      </p:sp>
      <p:sp>
        <p:nvSpPr>
          <p:cNvPr id="8" name="Shape 6"/>
          <p:cNvSpPr/>
          <p:nvPr/>
        </p:nvSpPr>
        <p:spPr>
          <a:xfrm>
            <a:off x="256032" y="1536192"/>
            <a:ext cx="164592" cy="164592"/>
          </a:xfrm>
          <a:prstGeom prst="ellipse">
            <a:avLst/>
          </a:prstGeom>
          <a:solidFill>
            <a:srgbClr val="16A34A"/>
          </a:solidFill>
          <a:ln w="12700">
            <a:solidFill>
              <a:srgbClr val="16A34A"/>
            </a:solidFill>
            <a:prstDash val="solid"/>
          </a:ln>
        </p:spPr>
        <p:txBody>
          <a:bodyPr/>
          <a:lstStyle/>
          <a:p>
            <a:endParaRPr lang="en-US"/>
          </a:p>
        </p:txBody>
      </p:sp>
      <p:sp>
        <p:nvSpPr>
          <p:cNvPr id="9" name="Text 7"/>
          <p:cNvSpPr/>
          <p:nvPr/>
        </p:nvSpPr>
        <p:spPr>
          <a:xfrm>
            <a:off x="475488" y="1517904"/>
            <a:ext cx="2987379" cy="347472"/>
          </a:xfrm>
          <a:prstGeom prst="rect">
            <a:avLst/>
          </a:prstGeom>
          <a:noFill/>
          <a:ln/>
        </p:spPr>
        <p:txBody>
          <a:bodyPr wrap="square" rtlCol="0" anchor="ctr"/>
          <a:lstStyle/>
          <a:p>
            <a:pPr marL="0" indent="0">
              <a:buNone/>
            </a:pPr>
            <a:r>
              <a:rPr lang="en-US" sz="1050" dirty="0">
                <a:solidFill>
                  <a:srgbClr val="111827"/>
                </a:solidFill>
                <a:latin typeface="Calibri" pitchFamily="34" charset="0"/>
                <a:ea typeface="Calibri" pitchFamily="34" charset="-122"/>
                <a:cs typeface="Calibri" pitchFamily="34" charset="-120"/>
              </a:rPr>
              <a:t>4 Python scrapers built &amp; used (2021-26)</a:t>
            </a:r>
            <a:endParaRPr lang="en-US" sz="1050" dirty="0"/>
          </a:p>
        </p:txBody>
      </p:sp>
      <p:sp>
        <p:nvSpPr>
          <p:cNvPr id="10" name="Shape 8"/>
          <p:cNvSpPr/>
          <p:nvPr/>
        </p:nvSpPr>
        <p:spPr>
          <a:xfrm>
            <a:off x="256032" y="1938528"/>
            <a:ext cx="164592" cy="164592"/>
          </a:xfrm>
          <a:prstGeom prst="ellipse">
            <a:avLst/>
          </a:prstGeom>
          <a:solidFill>
            <a:srgbClr val="16A34A"/>
          </a:solidFill>
          <a:ln w="12700">
            <a:solidFill>
              <a:srgbClr val="16A34A"/>
            </a:solidFill>
            <a:prstDash val="solid"/>
          </a:ln>
        </p:spPr>
        <p:txBody>
          <a:bodyPr/>
          <a:lstStyle/>
          <a:p>
            <a:endParaRPr lang="en-US"/>
          </a:p>
        </p:txBody>
      </p:sp>
      <p:sp>
        <p:nvSpPr>
          <p:cNvPr id="11" name="Text 9"/>
          <p:cNvSpPr/>
          <p:nvPr/>
        </p:nvSpPr>
        <p:spPr>
          <a:xfrm>
            <a:off x="475488" y="2661581"/>
            <a:ext cx="2987379" cy="347472"/>
          </a:xfrm>
          <a:prstGeom prst="rect">
            <a:avLst/>
          </a:prstGeom>
          <a:noFill/>
          <a:ln/>
        </p:spPr>
        <p:txBody>
          <a:bodyPr wrap="square" rtlCol="0" anchor="ctr"/>
          <a:lstStyle/>
          <a:p>
            <a:pPr marL="0" indent="0">
              <a:buNone/>
            </a:pPr>
            <a:r>
              <a:rPr lang="en-US" sz="1050" dirty="0">
                <a:solidFill>
                  <a:srgbClr val="111827"/>
                </a:solidFill>
                <a:latin typeface="Calibri" pitchFamily="34" charset="0"/>
                <a:ea typeface="Calibri" pitchFamily="34" charset="-122"/>
                <a:cs typeface="Calibri" pitchFamily="34" charset="-120"/>
              </a:rPr>
              <a:t>5 R scripts: raw → Cox-ready pipeline complete</a:t>
            </a:r>
            <a:endParaRPr lang="en-US" sz="1050" dirty="0"/>
          </a:p>
        </p:txBody>
      </p:sp>
      <p:sp>
        <p:nvSpPr>
          <p:cNvPr id="12" name="Shape 10"/>
          <p:cNvSpPr/>
          <p:nvPr/>
        </p:nvSpPr>
        <p:spPr>
          <a:xfrm>
            <a:off x="256032" y="2340864"/>
            <a:ext cx="164592" cy="164592"/>
          </a:xfrm>
          <a:prstGeom prst="ellipse">
            <a:avLst/>
          </a:prstGeom>
          <a:solidFill>
            <a:srgbClr val="16A34A"/>
          </a:solidFill>
          <a:ln w="12700">
            <a:solidFill>
              <a:srgbClr val="16A34A"/>
            </a:solidFill>
            <a:prstDash val="solid"/>
          </a:ln>
        </p:spPr>
        <p:txBody>
          <a:bodyPr/>
          <a:lstStyle/>
          <a:p>
            <a:endParaRPr lang="en-US"/>
          </a:p>
        </p:txBody>
      </p:sp>
      <p:sp>
        <p:nvSpPr>
          <p:cNvPr id="13" name="Text 11"/>
          <p:cNvSpPr/>
          <p:nvPr/>
        </p:nvSpPr>
        <p:spPr>
          <a:xfrm>
            <a:off x="475488" y="2256875"/>
            <a:ext cx="2987379" cy="347472"/>
          </a:xfrm>
          <a:prstGeom prst="rect">
            <a:avLst/>
          </a:prstGeom>
          <a:noFill/>
          <a:ln/>
        </p:spPr>
        <p:txBody>
          <a:bodyPr wrap="square" rtlCol="0" anchor="ctr"/>
          <a:lstStyle/>
          <a:p>
            <a:pPr marL="0" indent="0">
              <a:buNone/>
            </a:pPr>
            <a:r>
              <a:rPr lang="en-US" sz="1050" dirty="0">
                <a:solidFill>
                  <a:srgbClr val="111827"/>
                </a:solidFill>
                <a:latin typeface="Calibri" pitchFamily="34" charset="0"/>
                <a:ea typeface="Calibri" pitchFamily="34" charset="-122"/>
                <a:cs typeface="Calibri" pitchFamily="34" charset="-120"/>
              </a:rPr>
              <a:t>2,500+ injury strings classified into 24 categories</a:t>
            </a:r>
            <a:endParaRPr lang="en-US" sz="1050" dirty="0"/>
          </a:p>
        </p:txBody>
      </p:sp>
      <p:sp>
        <p:nvSpPr>
          <p:cNvPr id="14" name="Shape 12"/>
          <p:cNvSpPr/>
          <p:nvPr/>
        </p:nvSpPr>
        <p:spPr>
          <a:xfrm>
            <a:off x="256032" y="2743200"/>
            <a:ext cx="164592" cy="164592"/>
          </a:xfrm>
          <a:prstGeom prst="ellipse">
            <a:avLst/>
          </a:prstGeom>
          <a:solidFill>
            <a:srgbClr val="16A34A"/>
          </a:solidFill>
          <a:ln w="12700">
            <a:solidFill>
              <a:srgbClr val="16A34A"/>
            </a:solidFill>
            <a:prstDash val="solid"/>
          </a:ln>
        </p:spPr>
        <p:txBody>
          <a:bodyPr/>
          <a:lstStyle/>
          <a:p>
            <a:endParaRPr lang="en-US"/>
          </a:p>
        </p:txBody>
      </p:sp>
      <p:sp>
        <p:nvSpPr>
          <p:cNvPr id="19" name="Text 17"/>
          <p:cNvSpPr/>
          <p:nvPr/>
        </p:nvSpPr>
        <p:spPr>
          <a:xfrm>
            <a:off x="475488" y="1874520"/>
            <a:ext cx="2987379" cy="347472"/>
          </a:xfrm>
          <a:prstGeom prst="rect">
            <a:avLst/>
          </a:prstGeom>
          <a:noFill/>
          <a:ln/>
        </p:spPr>
        <p:txBody>
          <a:bodyPr wrap="square" rtlCol="0" anchor="ctr"/>
          <a:lstStyle/>
          <a:p>
            <a:pPr marL="0" indent="0">
              <a:buNone/>
            </a:pPr>
            <a:r>
              <a:rPr lang="en-US" sz="1050" dirty="0">
                <a:solidFill>
                  <a:srgbClr val="111827"/>
                </a:solidFill>
                <a:latin typeface="Calibri" pitchFamily="34" charset="0"/>
                <a:ea typeface="Calibri" pitchFamily="34" charset="-122"/>
                <a:cs typeface="Calibri" pitchFamily="34" charset="-120"/>
              </a:rPr>
              <a:t>EDA completed across all 4 datasets</a:t>
            </a:r>
            <a:endParaRPr lang="en-US" sz="1050" dirty="0"/>
          </a:p>
        </p:txBody>
      </p:sp>
      <p:sp>
        <p:nvSpPr>
          <p:cNvPr id="20" name="Shape 18"/>
          <p:cNvSpPr/>
          <p:nvPr/>
        </p:nvSpPr>
        <p:spPr>
          <a:xfrm>
            <a:off x="3627459" y="768096"/>
            <a:ext cx="2773341" cy="292608"/>
          </a:xfrm>
          <a:prstGeom prst="rect">
            <a:avLst/>
          </a:prstGeom>
          <a:solidFill>
            <a:srgbClr val="D97706"/>
          </a:solidFill>
          <a:ln w="12700">
            <a:solidFill>
              <a:srgbClr val="D97706"/>
            </a:solidFill>
            <a:prstDash val="solid"/>
          </a:ln>
        </p:spPr>
        <p:txBody>
          <a:bodyPr/>
          <a:lstStyle/>
          <a:p>
            <a:endParaRPr lang="en-US"/>
          </a:p>
        </p:txBody>
      </p:sp>
      <p:sp>
        <p:nvSpPr>
          <p:cNvPr id="21" name="Text 19"/>
          <p:cNvSpPr/>
          <p:nvPr/>
        </p:nvSpPr>
        <p:spPr>
          <a:xfrm>
            <a:off x="3627459" y="768096"/>
            <a:ext cx="2773341" cy="2926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Challenges</a:t>
            </a:r>
            <a:endParaRPr lang="en-US" sz="1300" dirty="0"/>
          </a:p>
        </p:txBody>
      </p:sp>
      <p:sp>
        <p:nvSpPr>
          <p:cNvPr id="22" name="Shape 20"/>
          <p:cNvSpPr/>
          <p:nvPr/>
        </p:nvSpPr>
        <p:spPr>
          <a:xfrm>
            <a:off x="3673179" y="1403942"/>
            <a:ext cx="164592" cy="164592"/>
          </a:xfrm>
          <a:prstGeom prst="ellipse">
            <a:avLst/>
          </a:prstGeom>
          <a:solidFill>
            <a:srgbClr val="D97706"/>
          </a:solidFill>
          <a:ln w="12700">
            <a:solidFill>
              <a:srgbClr val="D97706"/>
            </a:solidFill>
            <a:prstDash val="solid"/>
          </a:ln>
        </p:spPr>
        <p:txBody>
          <a:bodyPr/>
          <a:lstStyle/>
          <a:p>
            <a:endParaRPr lang="en-US"/>
          </a:p>
        </p:txBody>
      </p:sp>
      <p:sp>
        <p:nvSpPr>
          <p:cNvPr id="23" name="Text 21"/>
          <p:cNvSpPr/>
          <p:nvPr/>
        </p:nvSpPr>
        <p:spPr>
          <a:xfrm>
            <a:off x="3837771" y="1115568"/>
            <a:ext cx="2517309" cy="758952"/>
          </a:xfrm>
          <a:prstGeom prst="rect">
            <a:avLst/>
          </a:prstGeom>
          <a:noFill/>
          <a:ln/>
        </p:spPr>
        <p:txBody>
          <a:bodyPr wrap="square" rtlCol="0" anchor="ctr"/>
          <a:lstStyle/>
          <a:p>
            <a:pPr marL="0" indent="0">
              <a:buNone/>
            </a:pPr>
            <a:r>
              <a:rPr lang="en-US" sz="950" dirty="0">
                <a:solidFill>
                  <a:srgbClr val="111827"/>
                </a:solidFill>
                <a:latin typeface="Calibri" pitchFamily="34" charset="0"/>
                <a:ea typeface="Calibri" pitchFamily="34" charset="-122"/>
                <a:cs typeface="Calibri" pitchFamily="34" charset="-120"/>
              </a:rPr>
              <a:t>Injury report prefix ('Injury/Illness -') caused misclassification → fixed by stripping prefix before classification. Overall fuzzy matches between injuries from NBA reports and the NBA </a:t>
            </a:r>
            <a:r>
              <a:rPr lang="en-US" sz="950" dirty="0" err="1">
                <a:solidFill>
                  <a:srgbClr val="111827"/>
                </a:solidFill>
                <a:latin typeface="Calibri" pitchFamily="34" charset="0"/>
                <a:ea typeface="Calibri" pitchFamily="34" charset="-122"/>
                <a:cs typeface="Calibri" pitchFamily="34" charset="-120"/>
              </a:rPr>
              <a:t>api</a:t>
            </a:r>
            <a:endParaRPr lang="en-US" sz="950" dirty="0"/>
          </a:p>
        </p:txBody>
      </p:sp>
      <p:sp>
        <p:nvSpPr>
          <p:cNvPr id="24" name="Shape 22"/>
          <p:cNvSpPr/>
          <p:nvPr/>
        </p:nvSpPr>
        <p:spPr>
          <a:xfrm>
            <a:off x="3673179" y="2080598"/>
            <a:ext cx="164592" cy="164592"/>
          </a:xfrm>
          <a:prstGeom prst="ellipse">
            <a:avLst/>
          </a:prstGeom>
          <a:solidFill>
            <a:srgbClr val="D97706"/>
          </a:solidFill>
          <a:ln w="12700">
            <a:solidFill>
              <a:srgbClr val="D97706"/>
            </a:solidFill>
            <a:prstDash val="solid"/>
          </a:ln>
        </p:spPr>
        <p:txBody>
          <a:bodyPr/>
          <a:lstStyle/>
          <a:p>
            <a:endParaRPr lang="en-US"/>
          </a:p>
        </p:txBody>
      </p:sp>
      <p:sp>
        <p:nvSpPr>
          <p:cNvPr id="25" name="Text 23"/>
          <p:cNvSpPr/>
          <p:nvPr/>
        </p:nvSpPr>
        <p:spPr>
          <a:xfrm>
            <a:off x="3840480" y="1938528"/>
            <a:ext cx="2560320" cy="566928"/>
          </a:xfrm>
          <a:prstGeom prst="rect">
            <a:avLst/>
          </a:prstGeom>
          <a:noFill/>
          <a:ln/>
        </p:spPr>
        <p:txBody>
          <a:bodyPr wrap="square" rtlCol="0" anchor="ctr"/>
          <a:lstStyle/>
          <a:p>
            <a:pPr marL="0" indent="0">
              <a:buNone/>
            </a:pPr>
            <a:r>
              <a:rPr lang="en-US" sz="950" dirty="0">
                <a:solidFill>
                  <a:srgbClr val="111827"/>
                </a:solidFill>
                <a:latin typeface="Calibri" pitchFamily="34" charset="0"/>
                <a:ea typeface="Calibri" pitchFamily="34" charset="-122"/>
                <a:cs typeface="Calibri" pitchFamily="34" charset="-120"/>
              </a:rPr>
              <a:t>ACWR = 4.0 artefact on return from long absence → fixed with 4-game minimum window guard</a:t>
            </a:r>
            <a:endParaRPr lang="en-US" sz="950" dirty="0"/>
          </a:p>
        </p:txBody>
      </p:sp>
      <p:sp>
        <p:nvSpPr>
          <p:cNvPr id="28" name="Shape 26"/>
          <p:cNvSpPr/>
          <p:nvPr/>
        </p:nvSpPr>
        <p:spPr>
          <a:xfrm>
            <a:off x="3647101" y="2749635"/>
            <a:ext cx="164592" cy="164592"/>
          </a:xfrm>
          <a:prstGeom prst="ellipse">
            <a:avLst/>
          </a:prstGeom>
          <a:solidFill>
            <a:srgbClr val="D97706"/>
          </a:solidFill>
          <a:ln w="12700">
            <a:solidFill>
              <a:srgbClr val="D97706"/>
            </a:solidFill>
            <a:prstDash val="solid"/>
          </a:ln>
        </p:spPr>
        <p:txBody>
          <a:bodyPr/>
          <a:lstStyle/>
          <a:p>
            <a:endParaRPr lang="en-US"/>
          </a:p>
        </p:txBody>
      </p:sp>
      <p:sp>
        <p:nvSpPr>
          <p:cNvPr id="29" name="Text 27"/>
          <p:cNvSpPr/>
          <p:nvPr/>
        </p:nvSpPr>
        <p:spPr>
          <a:xfrm>
            <a:off x="3820837" y="2523744"/>
            <a:ext cx="2560320" cy="566928"/>
          </a:xfrm>
          <a:prstGeom prst="rect">
            <a:avLst/>
          </a:prstGeom>
          <a:noFill/>
          <a:ln/>
        </p:spPr>
        <p:txBody>
          <a:bodyPr wrap="square" rtlCol="0" anchor="ctr"/>
          <a:lstStyle/>
          <a:p>
            <a:pPr marL="0" indent="0">
              <a:buNone/>
            </a:pPr>
            <a:r>
              <a:rPr lang="en-US" sz="950" dirty="0">
                <a:solidFill>
                  <a:srgbClr val="111827"/>
                </a:solidFill>
                <a:latin typeface="Calibri" pitchFamily="34" charset="0"/>
                <a:ea typeface="Calibri" pitchFamily="34" charset="-122"/>
                <a:cs typeface="Calibri" pitchFamily="34" charset="-120"/>
              </a:rPr>
              <a:t>Reaggravation matching only vs immediately prior episode → upgraded to any prior same-region episode scan</a:t>
            </a:r>
            <a:endParaRPr lang="en-US" sz="950" dirty="0"/>
          </a:p>
        </p:txBody>
      </p:sp>
      <p:sp>
        <p:nvSpPr>
          <p:cNvPr id="30" name="Shape 28"/>
          <p:cNvSpPr/>
          <p:nvPr/>
        </p:nvSpPr>
        <p:spPr>
          <a:xfrm>
            <a:off x="3664712" y="3252893"/>
            <a:ext cx="164592" cy="164592"/>
          </a:xfrm>
          <a:prstGeom prst="ellipse">
            <a:avLst/>
          </a:prstGeom>
          <a:solidFill>
            <a:srgbClr val="D97706"/>
          </a:solidFill>
          <a:ln w="12700">
            <a:solidFill>
              <a:srgbClr val="D97706"/>
            </a:solidFill>
            <a:prstDash val="solid"/>
          </a:ln>
        </p:spPr>
        <p:txBody>
          <a:bodyPr/>
          <a:lstStyle/>
          <a:p>
            <a:endParaRPr lang="en-US"/>
          </a:p>
        </p:txBody>
      </p:sp>
      <p:sp>
        <p:nvSpPr>
          <p:cNvPr id="31" name="Text 29"/>
          <p:cNvSpPr/>
          <p:nvPr/>
        </p:nvSpPr>
        <p:spPr>
          <a:xfrm>
            <a:off x="3820836" y="3048677"/>
            <a:ext cx="2560320" cy="566928"/>
          </a:xfrm>
          <a:prstGeom prst="rect">
            <a:avLst/>
          </a:prstGeom>
          <a:noFill/>
          <a:ln/>
        </p:spPr>
        <p:txBody>
          <a:bodyPr wrap="square" rtlCol="0" anchor="ctr"/>
          <a:lstStyle/>
          <a:p>
            <a:pPr marL="0" indent="0">
              <a:buNone/>
            </a:pPr>
            <a:r>
              <a:rPr lang="en-US" sz="950" dirty="0">
                <a:solidFill>
                  <a:srgbClr val="111827"/>
                </a:solidFill>
                <a:latin typeface="Calibri" pitchFamily="34" charset="0"/>
                <a:ea typeface="Calibri" pitchFamily="34" charset="-122"/>
                <a:cs typeface="Calibri" pitchFamily="34" charset="-120"/>
              </a:rPr>
              <a:t>Training load absent from public data - game exposure only (structural limitation of field)</a:t>
            </a:r>
            <a:endParaRPr lang="en-US" sz="950" dirty="0"/>
          </a:p>
        </p:txBody>
      </p:sp>
      <p:sp>
        <p:nvSpPr>
          <p:cNvPr id="32" name="Shape 30"/>
          <p:cNvSpPr/>
          <p:nvPr/>
        </p:nvSpPr>
        <p:spPr>
          <a:xfrm>
            <a:off x="6565392" y="768096"/>
            <a:ext cx="2377440" cy="292608"/>
          </a:xfrm>
          <a:prstGeom prst="rect">
            <a:avLst/>
          </a:prstGeom>
          <a:solidFill>
            <a:srgbClr val="1A3A5C"/>
          </a:solidFill>
          <a:ln w="12700">
            <a:solidFill>
              <a:srgbClr val="1A3A5C"/>
            </a:solidFill>
            <a:prstDash val="solid"/>
          </a:ln>
        </p:spPr>
        <p:txBody>
          <a:bodyPr/>
          <a:lstStyle/>
          <a:p>
            <a:endParaRPr lang="en-US"/>
          </a:p>
        </p:txBody>
      </p:sp>
      <p:sp>
        <p:nvSpPr>
          <p:cNvPr id="33" name="Text 31"/>
          <p:cNvSpPr/>
          <p:nvPr/>
        </p:nvSpPr>
        <p:spPr>
          <a:xfrm>
            <a:off x="6565392" y="768096"/>
            <a:ext cx="2377440" cy="2926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Next Steps</a:t>
            </a:r>
            <a:endParaRPr lang="en-US" sz="1300" dirty="0"/>
          </a:p>
        </p:txBody>
      </p:sp>
      <p:sp>
        <p:nvSpPr>
          <p:cNvPr id="34" name="Shape 32"/>
          <p:cNvSpPr/>
          <p:nvPr/>
        </p:nvSpPr>
        <p:spPr>
          <a:xfrm>
            <a:off x="6565392" y="1701124"/>
            <a:ext cx="2377440" cy="502920"/>
          </a:xfrm>
          <a:prstGeom prst="rect">
            <a:avLst/>
          </a:prstGeom>
          <a:solidFill>
            <a:srgbClr val="F4F7FB"/>
          </a:solidFill>
          <a:ln w="12700">
            <a:solidFill>
              <a:srgbClr val="D1D5DB"/>
            </a:solidFill>
            <a:prstDash val="solid"/>
          </a:ln>
        </p:spPr>
        <p:txBody>
          <a:bodyPr/>
          <a:lstStyle/>
          <a:p>
            <a:endParaRPr lang="en-US"/>
          </a:p>
        </p:txBody>
      </p:sp>
      <p:sp>
        <p:nvSpPr>
          <p:cNvPr id="35" name="Text 33"/>
          <p:cNvSpPr/>
          <p:nvPr/>
        </p:nvSpPr>
        <p:spPr>
          <a:xfrm>
            <a:off x="6638544" y="1737700"/>
            <a:ext cx="1737360" cy="256032"/>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Model 1 fitting</a:t>
            </a:r>
            <a:endParaRPr lang="en-US" sz="1100" dirty="0"/>
          </a:p>
        </p:txBody>
      </p:sp>
      <p:sp>
        <p:nvSpPr>
          <p:cNvPr id="36" name="Text 34"/>
          <p:cNvSpPr/>
          <p:nvPr/>
        </p:nvSpPr>
        <p:spPr>
          <a:xfrm>
            <a:off x="6638544" y="1957156"/>
            <a:ext cx="2194560" cy="18288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June 2026</a:t>
            </a:r>
            <a:endParaRPr lang="en-US" sz="950" dirty="0"/>
          </a:p>
        </p:txBody>
      </p:sp>
      <p:sp>
        <p:nvSpPr>
          <p:cNvPr id="37" name="Shape 35"/>
          <p:cNvSpPr/>
          <p:nvPr/>
        </p:nvSpPr>
        <p:spPr>
          <a:xfrm>
            <a:off x="6565392" y="2268052"/>
            <a:ext cx="2377440" cy="502920"/>
          </a:xfrm>
          <a:prstGeom prst="rect">
            <a:avLst/>
          </a:prstGeom>
          <a:solidFill>
            <a:srgbClr val="F4F7FB"/>
          </a:solidFill>
          <a:ln w="12700">
            <a:solidFill>
              <a:srgbClr val="D1D5DB"/>
            </a:solidFill>
            <a:prstDash val="solid"/>
          </a:ln>
        </p:spPr>
        <p:txBody>
          <a:bodyPr/>
          <a:lstStyle/>
          <a:p>
            <a:endParaRPr lang="en-US"/>
          </a:p>
        </p:txBody>
      </p:sp>
      <p:sp>
        <p:nvSpPr>
          <p:cNvPr id="38" name="Text 36"/>
          <p:cNvSpPr/>
          <p:nvPr/>
        </p:nvSpPr>
        <p:spPr>
          <a:xfrm>
            <a:off x="6638544" y="2304628"/>
            <a:ext cx="1737360" cy="256032"/>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Models 2 &amp; 3 + LRT</a:t>
            </a:r>
            <a:endParaRPr lang="en-US" sz="1100" dirty="0"/>
          </a:p>
        </p:txBody>
      </p:sp>
      <p:sp>
        <p:nvSpPr>
          <p:cNvPr id="39" name="Text 37"/>
          <p:cNvSpPr/>
          <p:nvPr/>
        </p:nvSpPr>
        <p:spPr>
          <a:xfrm>
            <a:off x="6638544" y="2524084"/>
            <a:ext cx="2194560" cy="18288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June 2026</a:t>
            </a:r>
            <a:endParaRPr lang="en-US" sz="950" dirty="0"/>
          </a:p>
        </p:txBody>
      </p:sp>
      <p:sp>
        <p:nvSpPr>
          <p:cNvPr id="43" name="Shape 41"/>
          <p:cNvSpPr/>
          <p:nvPr/>
        </p:nvSpPr>
        <p:spPr>
          <a:xfrm>
            <a:off x="6565392" y="2834980"/>
            <a:ext cx="2377440" cy="502920"/>
          </a:xfrm>
          <a:prstGeom prst="rect">
            <a:avLst/>
          </a:prstGeom>
          <a:solidFill>
            <a:srgbClr val="F4F7FB"/>
          </a:solidFill>
          <a:ln w="12700">
            <a:solidFill>
              <a:srgbClr val="D1D5DB"/>
            </a:solidFill>
            <a:prstDash val="solid"/>
          </a:ln>
        </p:spPr>
        <p:txBody>
          <a:bodyPr/>
          <a:lstStyle/>
          <a:p>
            <a:endParaRPr lang="en-US"/>
          </a:p>
        </p:txBody>
      </p:sp>
      <p:sp>
        <p:nvSpPr>
          <p:cNvPr id="44" name="Text 42"/>
          <p:cNvSpPr/>
          <p:nvPr/>
        </p:nvSpPr>
        <p:spPr>
          <a:xfrm>
            <a:off x="6638544" y="2871556"/>
            <a:ext cx="1737360" cy="256032"/>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Rolling risk profile output</a:t>
            </a:r>
            <a:endParaRPr lang="en-US" sz="1100" dirty="0"/>
          </a:p>
        </p:txBody>
      </p:sp>
      <p:sp>
        <p:nvSpPr>
          <p:cNvPr id="45" name="Text 43"/>
          <p:cNvSpPr/>
          <p:nvPr/>
        </p:nvSpPr>
        <p:spPr>
          <a:xfrm>
            <a:off x="6638544" y="3091012"/>
            <a:ext cx="2194560" cy="18288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July 2026</a:t>
            </a:r>
            <a:endParaRPr lang="en-US" sz="950" dirty="0"/>
          </a:p>
        </p:txBody>
      </p:sp>
      <p:sp>
        <p:nvSpPr>
          <p:cNvPr id="49" name="Shape 47"/>
          <p:cNvSpPr/>
          <p:nvPr/>
        </p:nvSpPr>
        <p:spPr>
          <a:xfrm>
            <a:off x="6565392" y="3406480"/>
            <a:ext cx="2377440" cy="502920"/>
          </a:xfrm>
          <a:prstGeom prst="rect">
            <a:avLst/>
          </a:prstGeom>
          <a:solidFill>
            <a:srgbClr val="F4F7FB"/>
          </a:solidFill>
          <a:ln w="12700">
            <a:solidFill>
              <a:srgbClr val="D1D5DB"/>
            </a:solidFill>
            <a:prstDash val="solid"/>
          </a:ln>
        </p:spPr>
        <p:txBody>
          <a:bodyPr/>
          <a:lstStyle/>
          <a:p>
            <a:endParaRPr lang="en-US"/>
          </a:p>
        </p:txBody>
      </p:sp>
      <p:sp>
        <p:nvSpPr>
          <p:cNvPr id="50" name="Text 48"/>
          <p:cNvSpPr/>
          <p:nvPr/>
        </p:nvSpPr>
        <p:spPr>
          <a:xfrm>
            <a:off x="6638544" y="3443056"/>
            <a:ext cx="1737360" cy="256032"/>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Final submission</a:t>
            </a:r>
            <a:endParaRPr lang="en-US" sz="1100" dirty="0"/>
          </a:p>
        </p:txBody>
      </p:sp>
      <p:sp>
        <p:nvSpPr>
          <p:cNvPr id="51" name="Text 49"/>
          <p:cNvSpPr/>
          <p:nvPr/>
        </p:nvSpPr>
        <p:spPr>
          <a:xfrm>
            <a:off x="6638544" y="3662512"/>
            <a:ext cx="2194560" cy="18288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Oct 2026</a:t>
            </a:r>
            <a:endParaRPr lang="en-US" sz="950" dirty="0"/>
          </a:p>
        </p:txBody>
      </p:sp>
      <p:sp>
        <p:nvSpPr>
          <p:cNvPr id="52" name="Shape 41">
            <a:extLst>
              <a:ext uri="{FF2B5EF4-FFF2-40B4-BE49-F238E27FC236}">
                <a16:creationId xmlns:a16="http://schemas.microsoft.com/office/drawing/2014/main" id="{88C87E21-2622-75DF-CBA4-27A57FED3DCB}"/>
              </a:ext>
            </a:extLst>
          </p:cNvPr>
          <p:cNvSpPr/>
          <p:nvPr/>
        </p:nvSpPr>
        <p:spPr>
          <a:xfrm>
            <a:off x="3547533" y="3108960"/>
            <a:ext cx="2700867" cy="454491"/>
          </a:xfrm>
          <a:prstGeom prst="rect">
            <a:avLst/>
          </a:prstGeom>
          <a:noFill/>
          <a:ln w="19050">
            <a:solidFill>
              <a:srgbClr val="C00000"/>
            </a:solidFill>
            <a:prstDash val="solid"/>
          </a:ln>
        </p:spPr>
        <p:txBody>
          <a:bodyPr/>
          <a:lstStyle/>
          <a:p>
            <a:endParaRPr lang="en-US"/>
          </a:p>
        </p:txBody>
      </p:sp>
      <p:sp>
        <p:nvSpPr>
          <p:cNvPr id="54" name="Shape 32">
            <a:extLst>
              <a:ext uri="{FF2B5EF4-FFF2-40B4-BE49-F238E27FC236}">
                <a16:creationId xmlns:a16="http://schemas.microsoft.com/office/drawing/2014/main" id="{6C3AE91A-0D26-59DE-9700-D4A0DEF6E782}"/>
              </a:ext>
            </a:extLst>
          </p:cNvPr>
          <p:cNvSpPr/>
          <p:nvPr/>
        </p:nvSpPr>
        <p:spPr>
          <a:xfrm>
            <a:off x="6565392" y="1133011"/>
            <a:ext cx="2377440" cy="502920"/>
          </a:xfrm>
          <a:prstGeom prst="rect">
            <a:avLst/>
          </a:prstGeom>
          <a:solidFill>
            <a:srgbClr val="F4F7FB"/>
          </a:solidFill>
          <a:ln w="12700">
            <a:solidFill>
              <a:srgbClr val="C00000"/>
            </a:solidFill>
            <a:prstDash val="solid"/>
          </a:ln>
        </p:spPr>
        <p:txBody>
          <a:bodyPr/>
          <a:lstStyle/>
          <a:p>
            <a:endParaRPr lang="en-US"/>
          </a:p>
        </p:txBody>
      </p:sp>
      <p:sp>
        <p:nvSpPr>
          <p:cNvPr id="55" name="Text 33">
            <a:extLst>
              <a:ext uri="{FF2B5EF4-FFF2-40B4-BE49-F238E27FC236}">
                <a16:creationId xmlns:a16="http://schemas.microsoft.com/office/drawing/2014/main" id="{0DC7B4CE-D667-32AF-6769-356C4723FEA4}"/>
              </a:ext>
            </a:extLst>
          </p:cNvPr>
          <p:cNvSpPr/>
          <p:nvPr/>
        </p:nvSpPr>
        <p:spPr>
          <a:xfrm>
            <a:off x="6638544" y="1169587"/>
            <a:ext cx="2377440" cy="256032"/>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Training Load: CBA + Public Domain</a:t>
            </a:r>
            <a:endParaRPr lang="en-US" sz="1100" dirty="0"/>
          </a:p>
        </p:txBody>
      </p:sp>
      <p:sp>
        <p:nvSpPr>
          <p:cNvPr id="56" name="Text 34">
            <a:extLst>
              <a:ext uri="{FF2B5EF4-FFF2-40B4-BE49-F238E27FC236}">
                <a16:creationId xmlns:a16="http://schemas.microsoft.com/office/drawing/2014/main" id="{0F23415D-39BB-7243-487D-2F66BA7A6E2C}"/>
              </a:ext>
            </a:extLst>
          </p:cNvPr>
          <p:cNvSpPr/>
          <p:nvPr/>
        </p:nvSpPr>
        <p:spPr>
          <a:xfrm>
            <a:off x="6638544" y="1389043"/>
            <a:ext cx="2194560" cy="182880"/>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June 2026</a:t>
            </a:r>
            <a:endParaRPr lang="en-US" sz="950" dirty="0"/>
          </a:p>
        </p:txBody>
      </p:sp>
      <p:cxnSp>
        <p:nvCxnSpPr>
          <p:cNvPr id="58" name="Elbow Connector 57">
            <a:extLst>
              <a:ext uri="{FF2B5EF4-FFF2-40B4-BE49-F238E27FC236}">
                <a16:creationId xmlns:a16="http://schemas.microsoft.com/office/drawing/2014/main" id="{6BFE5905-F78E-D3D0-84A7-286917E0F843}"/>
              </a:ext>
            </a:extLst>
          </p:cNvPr>
          <p:cNvCxnSpPr>
            <a:cxnSpLocks/>
            <a:stCxn id="52" idx="3"/>
            <a:endCxn id="54" idx="1"/>
          </p:cNvCxnSpPr>
          <p:nvPr/>
        </p:nvCxnSpPr>
        <p:spPr>
          <a:xfrm flipV="1">
            <a:off x="6248400" y="1384471"/>
            <a:ext cx="316992" cy="1951735"/>
          </a:xfrm>
          <a:prstGeom prst="bentConnector3">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60" name="Group 59">
            <a:extLst>
              <a:ext uri="{FF2B5EF4-FFF2-40B4-BE49-F238E27FC236}">
                <a16:creationId xmlns:a16="http://schemas.microsoft.com/office/drawing/2014/main" id="{7AFD15F1-F318-0724-7383-21D437B649D7}"/>
              </a:ext>
            </a:extLst>
          </p:cNvPr>
          <p:cNvGrpSpPr/>
          <p:nvPr/>
        </p:nvGrpSpPr>
        <p:grpSpPr>
          <a:xfrm>
            <a:off x="8569076" y="52588"/>
            <a:ext cx="509767" cy="509767"/>
            <a:chOff x="7241964" y="2782711"/>
            <a:chExt cx="828823" cy="828823"/>
          </a:xfrm>
        </p:grpSpPr>
        <p:sp>
          <p:nvSpPr>
            <p:cNvPr id="61" name="Shape 2">
              <a:extLst>
                <a:ext uri="{FF2B5EF4-FFF2-40B4-BE49-F238E27FC236}">
                  <a16:creationId xmlns:a16="http://schemas.microsoft.com/office/drawing/2014/main" id="{A0F75564-779C-CC5D-C008-51D87AEC25E8}"/>
                </a:ext>
              </a:extLst>
            </p:cNvPr>
            <p:cNvSpPr/>
            <p:nvPr/>
          </p:nvSpPr>
          <p:spPr>
            <a:xfrm flipV="1">
              <a:off x="7288447" y="2820973"/>
              <a:ext cx="739305" cy="739305"/>
            </a:xfrm>
            <a:prstGeom prst="ellipse">
              <a:avLst/>
            </a:prstGeom>
            <a:solidFill>
              <a:schemeClr val="accent2">
                <a:alpha val="35000"/>
              </a:schemeClr>
            </a:solidFill>
            <a:ln w="12700">
              <a:noFill/>
              <a:prstDash val="solid"/>
            </a:ln>
          </p:spPr>
          <p:txBody>
            <a:bodyPr/>
            <a:lstStyle/>
            <a:p>
              <a:endParaRPr lang="en-US"/>
            </a:p>
          </p:txBody>
        </p:sp>
        <p:pic>
          <p:nvPicPr>
            <p:cNvPr id="62" name="Picture 6" descr="Basketball Generic Detailed Outline icon | Magnific (formerly Magnific)">
              <a:extLst>
                <a:ext uri="{FF2B5EF4-FFF2-40B4-BE49-F238E27FC236}">
                  <a16:creationId xmlns:a16="http://schemas.microsoft.com/office/drawing/2014/main" id="{F13FFB71-B0EC-41D5-933C-727959683777}"/>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a:stretch>
              <a:fillRect/>
            </a:stretch>
          </p:blipFill>
          <p:spPr bwMode="auto">
            <a:xfrm>
              <a:off x="7241964" y="2782711"/>
              <a:ext cx="828823" cy="828823"/>
            </a:xfrm>
            <a:prstGeom prst="rect">
              <a:avLst/>
            </a:prstGeom>
            <a:noFill/>
            <a:extLst>
              <a:ext uri="{909E8E84-426E-40DD-AFC4-6F175D3DCCD1}">
                <a14:hiddenFill xmlns:a14="http://schemas.microsoft.com/office/drawing/2010/main">
                  <a:solidFill>
                    <a:srgbClr val="FFFFFF"/>
                  </a:solidFill>
                </a14:hiddenFill>
              </a:ext>
            </a:extLst>
          </p:spPr>
        </p:pic>
      </p:grpSp>
      <p:sp>
        <p:nvSpPr>
          <p:cNvPr id="63" name="Shape 5">
            <a:extLst>
              <a:ext uri="{FF2B5EF4-FFF2-40B4-BE49-F238E27FC236}">
                <a16:creationId xmlns:a16="http://schemas.microsoft.com/office/drawing/2014/main" id="{094BC5FD-B435-24B4-3F5B-561DF4C2959E}"/>
              </a:ext>
            </a:extLst>
          </p:cNvPr>
          <p:cNvSpPr/>
          <p:nvPr/>
        </p:nvSpPr>
        <p:spPr>
          <a:xfrm>
            <a:off x="0" y="608076"/>
            <a:ext cx="9144000" cy="45719"/>
          </a:xfrm>
          <a:prstGeom prst="rect">
            <a:avLst/>
          </a:prstGeom>
          <a:solidFill>
            <a:schemeClr val="accent2"/>
          </a:solidFill>
          <a:ln w="12700">
            <a:noFill/>
            <a:prstDash val="solid"/>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1A3A5C"/>
        </a:solidFill>
        <a:effectLst/>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chemeClr val="accent2"/>
          </a:solidFill>
          <a:ln w="12700">
            <a:noFill/>
            <a:prstDash val="solid"/>
          </a:ln>
        </p:spPr>
        <p:txBody>
          <a:bodyPr/>
          <a:lstStyle/>
          <a:p>
            <a:endParaRPr lang="en-US"/>
          </a:p>
        </p:txBody>
      </p:sp>
      <p:sp>
        <p:nvSpPr>
          <p:cNvPr id="3" name="Text 1"/>
          <p:cNvSpPr/>
          <p:nvPr/>
        </p:nvSpPr>
        <p:spPr>
          <a:xfrm>
            <a:off x="320040" y="548640"/>
            <a:ext cx="8229600" cy="45720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Summary</a:t>
            </a:r>
            <a:endParaRPr lang="en-US" sz="2800" dirty="0"/>
          </a:p>
        </p:txBody>
      </p:sp>
      <p:sp>
        <p:nvSpPr>
          <p:cNvPr id="4" name="Shape 2"/>
          <p:cNvSpPr/>
          <p:nvPr/>
        </p:nvSpPr>
        <p:spPr>
          <a:xfrm>
            <a:off x="320040" y="1097280"/>
            <a:ext cx="5029200" cy="36576"/>
          </a:xfrm>
          <a:prstGeom prst="rect">
            <a:avLst/>
          </a:prstGeom>
          <a:solidFill>
            <a:schemeClr val="accent2"/>
          </a:solidFill>
          <a:ln w="12700">
            <a:noFill/>
            <a:prstDash val="solid"/>
          </a:ln>
        </p:spPr>
        <p:txBody>
          <a:bodyPr/>
          <a:lstStyle/>
          <a:p>
            <a:endParaRPr lang="en-US"/>
          </a:p>
        </p:txBody>
      </p:sp>
      <p:sp>
        <p:nvSpPr>
          <p:cNvPr id="5" name="Text 3"/>
          <p:cNvSpPr/>
          <p:nvPr/>
        </p:nvSpPr>
        <p:spPr>
          <a:xfrm>
            <a:off x="320040" y="1261872"/>
            <a:ext cx="8503920" cy="566928"/>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The problem:  </a:t>
            </a:r>
            <a:r>
              <a:rPr lang="en-US" sz="1300" dirty="0">
                <a:solidFill>
                  <a:srgbClr val="CBD5E1"/>
                </a:solidFill>
                <a:latin typeface="Calibri" pitchFamily="34" charset="0"/>
                <a:ea typeface="Calibri" pitchFamily="34" charset="-122"/>
                <a:cs typeface="Calibri" pitchFamily="34" charset="-120"/>
              </a:rPr>
              <a:t>No basketball study has used time-to-event modelling. Injury treated as binary outcome misses when and why hazard elevates.</a:t>
            </a:r>
            <a:endParaRPr lang="en-US" sz="1300" dirty="0"/>
          </a:p>
        </p:txBody>
      </p:sp>
      <p:sp>
        <p:nvSpPr>
          <p:cNvPr id="6" name="Text 4"/>
          <p:cNvSpPr/>
          <p:nvPr/>
        </p:nvSpPr>
        <p:spPr>
          <a:xfrm>
            <a:off x="320040" y="1920240"/>
            <a:ext cx="8503920" cy="566928"/>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The data:  </a:t>
            </a:r>
            <a:r>
              <a:rPr lang="en-US" sz="1300" dirty="0">
                <a:solidFill>
                  <a:srgbClr val="CBD5E1"/>
                </a:solidFill>
                <a:latin typeface="Calibri" pitchFamily="34" charset="0"/>
                <a:ea typeface="Calibri" pitchFamily="34" charset="-122"/>
                <a:cs typeface="Calibri" pitchFamily="34" charset="-120"/>
              </a:rPr>
              <a:t>5 seasons of NBA data (2021-26) - game logs, schedules, tracking, official injury reports - all publicly available.</a:t>
            </a:r>
            <a:endParaRPr lang="en-US" sz="1300" dirty="0"/>
          </a:p>
        </p:txBody>
      </p:sp>
      <p:sp>
        <p:nvSpPr>
          <p:cNvPr id="7" name="Text 5"/>
          <p:cNvSpPr/>
          <p:nvPr/>
        </p:nvSpPr>
        <p:spPr>
          <a:xfrm>
            <a:off x="320040" y="2578608"/>
            <a:ext cx="8503920" cy="566928"/>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The pipeline:  </a:t>
            </a:r>
            <a:r>
              <a:rPr lang="en-US" sz="1300" dirty="0">
                <a:solidFill>
                  <a:srgbClr val="CBD5E1"/>
                </a:solidFill>
                <a:latin typeface="Calibri" pitchFamily="34" charset="0"/>
                <a:ea typeface="Calibri" pitchFamily="34" charset="-122"/>
                <a:cs typeface="Calibri" pitchFamily="34" charset="-120"/>
              </a:rPr>
              <a:t>4 Python scrapers → 5 R scripts → Cox-ready panel in counting process format, validated on LeBron James.</a:t>
            </a:r>
            <a:endParaRPr lang="en-US" sz="1300" dirty="0"/>
          </a:p>
        </p:txBody>
      </p:sp>
      <p:sp>
        <p:nvSpPr>
          <p:cNvPr id="8" name="Text 6"/>
          <p:cNvSpPr/>
          <p:nvPr/>
        </p:nvSpPr>
        <p:spPr>
          <a:xfrm>
            <a:off x="320040" y="3236976"/>
            <a:ext cx="8503920" cy="566928"/>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The model:  </a:t>
            </a:r>
            <a:r>
              <a:rPr lang="en-US" sz="1300" dirty="0">
                <a:solidFill>
                  <a:srgbClr val="CBD5E1"/>
                </a:solidFill>
                <a:latin typeface="Calibri" pitchFamily="34" charset="0"/>
                <a:ea typeface="Calibri" pitchFamily="34" charset="-122"/>
                <a:cs typeface="Calibri" pitchFamily="34" charset="-120"/>
              </a:rPr>
              <a:t>Cox PH with time-varying covariates (ACWR, rolling windows, B2B, road trips, prior injury). Sequential models</a:t>
            </a:r>
            <a:endParaRPr lang="en-US" sz="1300" dirty="0"/>
          </a:p>
        </p:txBody>
      </p:sp>
      <p:sp>
        <p:nvSpPr>
          <p:cNvPr id="9" name="Text 7"/>
          <p:cNvSpPr/>
          <p:nvPr/>
        </p:nvSpPr>
        <p:spPr>
          <a:xfrm>
            <a:off x="320040" y="3895344"/>
            <a:ext cx="8503920" cy="566928"/>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The output:  </a:t>
            </a:r>
            <a:r>
              <a:rPr lang="en-US" sz="1300" dirty="0">
                <a:solidFill>
                  <a:srgbClr val="CBD5E1"/>
                </a:solidFill>
                <a:latin typeface="Calibri" pitchFamily="34" charset="0"/>
                <a:ea typeface="Calibri" pitchFamily="34" charset="-122"/>
                <a:cs typeface="Calibri" pitchFamily="34" charset="-120"/>
              </a:rPr>
              <a:t>Per-player per-game rolling injury hazard profile - a practical tool for real-time load management decisions.</a:t>
            </a:r>
            <a:endParaRPr lang="en-US" sz="1300" dirty="0"/>
          </a:p>
        </p:txBody>
      </p:sp>
      <p:sp>
        <p:nvSpPr>
          <p:cNvPr id="10" name="Text 8"/>
          <p:cNvSpPr/>
          <p:nvPr/>
        </p:nvSpPr>
        <p:spPr>
          <a:xfrm>
            <a:off x="320040" y="4663440"/>
            <a:ext cx="8229600" cy="347472"/>
          </a:xfrm>
          <a:prstGeom prst="rect">
            <a:avLst/>
          </a:prstGeom>
          <a:noFill/>
          <a:ln/>
        </p:spPr>
        <p:txBody>
          <a:bodyPr wrap="square" rtlCol="0" anchor="ctr"/>
          <a:lstStyle/>
          <a:p>
            <a:pPr marL="0" indent="0">
              <a:buNone/>
            </a:pPr>
            <a:r>
              <a:rPr lang="en-US" sz="1600" b="1" i="1" dirty="0">
                <a:solidFill>
                  <a:schemeClr val="accent2"/>
                </a:solidFill>
                <a:latin typeface="Calibri" pitchFamily="34" charset="0"/>
                <a:ea typeface="Calibri" pitchFamily="34" charset="-122"/>
                <a:cs typeface="Calibri" pitchFamily="34" charset="-120"/>
              </a:rPr>
              <a:t>Questions?</a:t>
            </a:r>
            <a:endParaRPr lang="en-US" sz="1600" b="1" dirty="0">
              <a:solidFill>
                <a:schemeClr val="accent2"/>
              </a:solidFill>
            </a:endParaRPr>
          </a:p>
        </p:txBody>
      </p:sp>
      <p:grpSp>
        <p:nvGrpSpPr>
          <p:cNvPr id="11" name="Group 10">
            <a:extLst>
              <a:ext uri="{FF2B5EF4-FFF2-40B4-BE49-F238E27FC236}">
                <a16:creationId xmlns:a16="http://schemas.microsoft.com/office/drawing/2014/main" id="{D9737337-338A-43C7-2A8B-9C02A9DE29F9}"/>
              </a:ext>
            </a:extLst>
          </p:cNvPr>
          <p:cNvGrpSpPr/>
          <p:nvPr/>
        </p:nvGrpSpPr>
        <p:grpSpPr>
          <a:xfrm>
            <a:off x="7792904" y="76586"/>
            <a:ext cx="1209284" cy="1209284"/>
            <a:chOff x="7241964" y="2782711"/>
            <a:chExt cx="828823" cy="828823"/>
          </a:xfrm>
        </p:grpSpPr>
        <p:sp>
          <p:nvSpPr>
            <p:cNvPr id="12" name="Shape 2">
              <a:extLst>
                <a:ext uri="{FF2B5EF4-FFF2-40B4-BE49-F238E27FC236}">
                  <a16:creationId xmlns:a16="http://schemas.microsoft.com/office/drawing/2014/main" id="{7F590C58-DBB6-4311-A1C4-399E5601D85E}"/>
                </a:ext>
              </a:extLst>
            </p:cNvPr>
            <p:cNvSpPr/>
            <p:nvPr/>
          </p:nvSpPr>
          <p:spPr>
            <a:xfrm flipV="1">
              <a:off x="7288447" y="2820973"/>
              <a:ext cx="739305" cy="739305"/>
            </a:xfrm>
            <a:prstGeom prst="ellipse">
              <a:avLst/>
            </a:prstGeom>
            <a:solidFill>
              <a:schemeClr val="accent2">
                <a:alpha val="35000"/>
              </a:schemeClr>
            </a:solidFill>
            <a:ln w="12700">
              <a:noFill/>
              <a:prstDash val="solid"/>
            </a:ln>
          </p:spPr>
          <p:txBody>
            <a:bodyPr/>
            <a:lstStyle/>
            <a:p>
              <a:endParaRPr lang="en-US"/>
            </a:p>
          </p:txBody>
        </p:sp>
        <p:pic>
          <p:nvPicPr>
            <p:cNvPr id="13" name="Picture 6" descr="Basketball Generic Detailed Outline icon | Magnific (formerly Magnific)">
              <a:extLst>
                <a:ext uri="{FF2B5EF4-FFF2-40B4-BE49-F238E27FC236}">
                  <a16:creationId xmlns:a16="http://schemas.microsoft.com/office/drawing/2014/main" id="{336B4F28-68DB-ADD6-6D84-52E1B3837C86}"/>
                </a:ext>
              </a:extLst>
            </p:cNvPr>
            <p:cNvPicPr>
              <a:picLocks noChangeAspect="1" noChangeArrowheads="1"/>
            </p:cNvPicPr>
            <p:nvPr/>
          </p:nvPicPr>
          <p:blipFill>
            <a:blip r:embed="rId3">
              <a:alphaModFix amt="50000"/>
              <a:extLst>
                <a:ext uri="{28A0092B-C50C-407E-A947-70E740481C1C}">
                  <a14:useLocalDpi xmlns:a14="http://schemas.microsoft.com/office/drawing/2010/main" val="0"/>
                </a:ext>
              </a:extLst>
            </a:blip>
            <a:srcRect/>
            <a:stretch>
              <a:fillRect/>
            </a:stretch>
          </p:blipFill>
          <p:spPr bwMode="auto">
            <a:xfrm>
              <a:off x="7241964" y="2782711"/>
              <a:ext cx="828823" cy="828823"/>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13880</TotalTime>
  <Words>1785</Words>
  <Application>Microsoft Macintosh PowerPoint</Application>
  <PresentationFormat>On-screen Show (16:9)</PresentationFormat>
  <Paragraphs>238</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NBA Injury Risk — Progress Presentation</dc:title>
  <dc:subject>PptxGenJS Presentation</dc:subject>
  <dc:creator>Alex Martin</dc:creator>
  <cp:lastModifiedBy>ALEXANDER MARTIN</cp:lastModifiedBy>
  <cp:revision>7</cp:revision>
  <dcterms:created xsi:type="dcterms:W3CDTF">2026-05-16T07:32:05Z</dcterms:created>
  <dcterms:modified xsi:type="dcterms:W3CDTF">2026-05-26T21:50:16Z</dcterms:modified>
</cp:coreProperties>
</file>