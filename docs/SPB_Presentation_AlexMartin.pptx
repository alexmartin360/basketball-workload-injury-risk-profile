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100"/>
    <a:srgbClr val="FFFCDC"/>
    <a:srgbClr val="FFFABF"/>
    <a:srgbClr val="ECED11"/>
    <a:srgbClr val="B2182B"/>
    <a:srgbClr val="90B14A"/>
    <a:srgbClr val="ADBF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/>
    <p:restoredTop sz="54017"/>
  </p:normalViewPr>
  <p:slideViewPr>
    <p:cSldViewPr snapToGrid="0" snapToObjects="1">
      <p:cViewPr>
        <p:scale>
          <a:sx n="87" d="100"/>
          <a:sy n="87" d="100"/>
        </p:scale>
        <p:origin x="144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88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Good morning</a:t>
            </a:r>
            <a:r>
              <a:rPr lang="en-AU" b="1" dirty="0"/>
              <a:t>, my name is Alex</a:t>
            </a:r>
            <a:r>
              <a:rPr b="1" dirty="0"/>
              <a:t>. Over the next twenty minutes I want to take you through a project</a:t>
            </a:r>
          </a:p>
          <a:p>
            <a:r>
              <a:rPr b="1" dirty="0"/>
              <a:t>about when NBA players get injured,</a:t>
            </a:r>
            <a:r>
              <a:rPr lang="en-AU" b="1" dirty="0"/>
              <a:t> and how we can measure that risk.</a:t>
            </a:r>
            <a:endParaRPr b="1" dirty="0"/>
          </a:p>
          <a:p>
            <a:endParaRPr dirty="0"/>
          </a:p>
          <a:p>
            <a:r>
              <a:rPr b="1" dirty="0"/>
              <a:t>I went in expecting to show that workload causes injury</a:t>
            </a:r>
          </a:p>
          <a:p>
            <a:r>
              <a:rPr b="1" dirty="0"/>
              <a:t>through fatigue. The </a:t>
            </a:r>
            <a:r>
              <a:rPr lang="en-AU" b="1" dirty="0"/>
              <a:t>results both agreed and </a:t>
            </a:r>
            <a:r>
              <a:rPr b="1" dirty="0"/>
              <a:t>disagreed with me, and the interesting part of</a:t>
            </a:r>
            <a:r>
              <a:rPr lang="en-AU" b="1" dirty="0"/>
              <a:t> </a:t>
            </a:r>
            <a:r>
              <a:rPr b="1" dirty="0"/>
              <a:t>this talk is how I found that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Read each point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b="1" dirty="0"/>
              <a:t>The research presented here and used in the study, does not disagree about whether load matters.</a:t>
            </a:r>
          </a:p>
          <a:p>
            <a:endParaRPr lang="en-AU" b="1" dirty="0"/>
          </a:p>
          <a:p>
            <a:r>
              <a:rPr lang="en-AU" b="1" dirty="0"/>
              <a:t>Lewis found load through increased acute load minutes increased injury</a:t>
            </a:r>
          </a:p>
          <a:p>
            <a:r>
              <a:rPr lang="en-AU" b="1" dirty="0"/>
              <a:t>Morikawa found that a tighter schedule increased injury rates by 42%</a:t>
            </a:r>
          </a:p>
          <a:p>
            <a:r>
              <a:rPr lang="en-AU" b="1" dirty="0"/>
              <a:t>Fulton found recurrence </a:t>
            </a:r>
            <a:r>
              <a:rPr lang="en-AU" b="1"/>
              <a:t>and proneness of </a:t>
            </a:r>
            <a:r>
              <a:rPr lang="en-AU" b="1" dirty="0"/>
              <a:t>injuries to increase </a:t>
            </a:r>
            <a:r>
              <a:rPr lang="en-AU" b="1" dirty="0" err="1"/>
              <a:t>timeloss</a:t>
            </a:r>
            <a:r>
              <a:rPr lang="en-AU" b="1" dirty="0"/>
              <a:t> significantly </a:t>
            </a:r>
          </a:p>
          <a:p>
            <a:endParaRPr lang="en-AU" b="1" dirty="0"/>
          </a:p>
          <a:p>
            <a:r>
              <a:rPr lang="en-AU" b="1" dirty="0"/>
              <a:t>It disagrees about the shape of the relationship, many forms of research not containing all the required context required to appropriately attribute context effects to injury.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i="1" dirty="0"/>
              <a:t>Read Gap 1</a:t>
            </a:r>
            <a:endParaRPr i="1" dirty="0"/>
          </a:p>
          <a:p>
            <a:r>
              <a:rPr b="1" dirty="0"/>
              <a:t>Gap 1 is methodological and comes out of the systematic review literature. </a:t>
            </a:r>
            <a:endParaRPr lang="en-AU" b="1" dirty="0"/>
          </a:p>
          <a:p>
            <a:br>
              <a:rPr lang="en-AU" dirty="0"/>
            </a:br>
            <a:r>
              <a:rPr lang="en-AU" i="1" dirty="0"/>
              <a:t>Read Gap 2</a:t>
            </a:r>
          </a:p>
          <a:p>
            <a:r>
              <a:rPr b="1" dirty="0"/>
              <a:t>No amount of covariate adjustment on public data separates those two stories.</a:t>
            </a:r>
          </a:p>
          <a:p>
            <a:endParaRPr lang="en-AU" dirty="0"/>
          </a:p>
          <a:p>
            <a:r>
              <a:rPr lang="en-AU" i="1" dirty="0"/>
              <a:t>Read Aims</a:t>
            </a:r>
            <a:endParaRPr lang="en-AU" dirty="0"/>
          </a:p>
          <a:p>
            <a:r>
              <a:rPr lang="en-AU" b="1" dirty="0"/>
              <a:t>I</a:t>
            </a:r>
            <a:r>
              <a:rPr b="1" dirty="0"/>
              <a:t>f workload acts through fatigue, the effect must be strongest for overuse injury and weakest for injuries load cannot plausibly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b="0" i="1" dirty="0"/>
              <a:t>Read headline numbers</a:t>
            </a:r>
          </a:p>
          <a:p>
            <a:endParaRPr lang="en-AU" b="1" dirty="0"/>
          </a:p>
          <a:p>
            <a:r>
              <a:rPr b="1" dirty="0"/>
              <a:t>Everything here is public. No team data, no medical records. </a:t>
            </a:r>
            <a:endParaRPr lang="en-AU" b="1" dirty="0"/>
          </a:p>
          <a:p>
            <a:endParaRPr lang="en-AU" b="1" dirty="0"/>
          </a:p>
          <a:p>
            <a:r>
              <a:rPr b="1" dirty="0"/>
              <a:t>That is a limitation,</a:t>
            </a:r>
            <a:r>
              <a:rPr lang="en-AU" b="1" dirty="0"/>
              <a:t> </a:t>
            </a:r>
            <a:r>
              <a:rPr b="1" dirty="0"/>
              <a:t>but it is also the point: if this works on public data, any team can do it</a:t>
            </a:r>
            <a:r>
              <a:rPr lang="en-AU" b="1" dirty="0"/>
              <a:t>.</a:t>
            </a:r>
            <a:r>
              <a:rPr b="1" dirty="0"/>
              <a:t> </a:t>
            </a:r>
            <a:endParaRPr lang="en-AU" b="1" dirty="0"/>
          </a:p>
          <a:p>
            <a:endParaRPr lang="en-AU" b="1" dirty="0"/>
          </a:p>
          <a:p>
            <a:r>
              <a:rPr lang="en-AU" b="1" dirty="0"/>
              <a:t>I</a:t>
            </a:r>
            <a:r>
              <a:rPr b="1" dirty="0"/>
              <a:t>f</a:t>
            </a:r>
            <a:r>
              <a:rPr lang="en-AU" b="1" dirty="0"/>
              <a:t> </a:t>
            </a:r>
            <a:r>
              <a:rPr b="1" dirty="0"/>
              <a:t>it does not, that tells you what private data is actually worth.</a:t>
            </a:r>
            <a:endParaRPr lang="en-AU" b="1" dirty="0"/>
          </a:p>
          <a:p>
            <a:endParaRPr lang="en-AU" b="1" dirty="0"/>
          </a:p>
          <a:p>
            <a:r>
              <a:rPr lang="en-AU" b="1" dirty="0"/>
              <a:t>The key is </a:t>
            </a:r>
            <a:r>
              <a:rPr lang="en-AU" b="0" i="1" dirty="0"/>
              <a:t>Read last point</a:t>
            </a:r>
            <a:endParaRPr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i="1" dirty="0"/>
              <a:t>Read 1</a:t>
            </a:r>
          </a:p>
          <a:p>
            <a:endParaRPr lang="en-AU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/>
              <a:t>The reports are written as "Injury/Illness - SITE; PATHOLOGY", so site and pathology already arrive as separate fields. </a:t>
            </a:r>
            <a:endParaRPr lang="en-AU" i="1" dirty="0"/>
          </a:p>
          <a:p>
            <a:endParaRPr lang="en-AU" dirty="0"/>
          </a:p>
          <a:p>
            <a:r>
              <a:rPr b="1" dirty="0"/>
              <a:t>The outcome is an availability signal, not a diagnosis. </a:t>
            </a:r>
            <a:endParaRPr lang="en-AU" b="1" dirty="0"/>
          </a:p>
          <a:p>
            <a:endParaRPr lang="en-AU" b="1" dirty="0"/>
          </a:p>
          <a:p>
            <a:r>
              <a:rPr b="1" dirty="0"/>
              <a:t>What I observe is that a</a:t>
            </a:r>
            <a:r>
              <a:rPr lang="en-AU" b="1" dirty="0"/>
              <a:t> </a:t>
            </a:r>
            <a:r>
              <a:rPr b="1" dirty="0"/>
              <a:t>player was listed Out with a stated reason. </a:t>
            </a:r>
            <a:endParaRPr lang="en-AU" b="1" dirty="0"/>
          </a:p>
          <a:p>
            <a:endParaRPr lang="en-AU" b="1" dirty="0"/>
          </a:p>
          <a:p>
            <a:r>
              <a:rPr b="1" dirty="0"/>
              <a:t>I never see a clinician's assessment.</a:t>
            </a:r>
          </a:p>
          <a:p>
            <a:endParaRPr lang="en-AU" dirty="0"/>
          </a:p>
          <a:p>
            <a:r>
              <a:rPr lang="en-AU" dirty="0"/>
              <a:t>Read 2, 3</a:t>
            </a:r>
            <a:endParaRPr dirty="0"/>
          </a:p>
          <a:p>
            <a:endParaRPr b="1" dirty="0"/>
          </a:p>
          <a:p>
            <a:r>
              <a:rPr lang="en-AU" b="0" i="1" dirty="0"/>
              <a:t>Read last line</a:t>
            </a:r>
            <a:endParaRPr b="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i="1" dirty="0"/>
              <a:t>Read bottom line</a:t>
            </a:r>
            <a:endParaRPr i="1" dirty="0"/>
          </a:p>
          <a:p>
            <a:endParaRPr dirty="0"/>
          </a:p>
          <a:p>
            <a:r>
              <a:rPr lang="en-AU" i="1" dirty="0"/>
              <a:t>Read the usual approach</a:t>
            </a:r>
          </a:p>
          <a:p>
            <a:endParaRPr lang="en-AU" i="1" dirty="0"/>
          </a:p>
          <a:p>
            <a:r>
              <a:rPr lang="en-AU" i="1" dirty="0"/>
              <a:t>Read this study</a:t>
            </a:r>
          </a:p>
          <a:p>
            <a:endParaRPr lang="en-AU" i="1" dirty="0"/>
          </a:p>
          <a:p>
            <a:r>
              <a:rPr lang="en-AU" b="1" dirty="0"/>
              <a:t>A binary seasonal outcome throws away the timing, and timing is exactly what a team needs.</a:t>
            </a:r>
          </a:p>
          <a:p>
            <a:endParaRPr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This is the at-risk set, drawn for LeBron in 2025-26 because that one season contains</a:t>
            </a:r>
            <a:r>
              <a:rPr lang="en-AU" b="1" dirty="0"/>
              <a:t> </a:t>
            </a:r>
            <a:r>
              <a:rPr b="1" dirty="0"/>
              <a:t>every case I have to handle. </a:t>
            </a:r>
            <a:endParaRPr lang="en-AU" b="1" dirty="0"/>
          </a:p>
          <a:p>
            <a:endParaRPr lang="en-AU" b="1" dirty="0"/>
          </a:p>
          <a:p>
            <a:r>
              <a:rPr lang="en-AU" b="1" dirty="0"/>
              <a:t>H</a:t>
            </a:r>
            <a:r>
              <a:rPr b="1" dirty="0"/>
              <a:t>e starts the season injured, so</a:t>
            </a:r>
            <a:r>
              <a:rPr lang="en-AU" b="1" dirty="0"/>
              <a:t> </a:t>
            </a:r>
            <a:r>
              <a:rPr b="1" dirty="0"/>
              <a:t>those games are dropped. </a:t>
            </a:r>
            <a:endParaRPr lang="en-AU" b="1" dirty="0"/>
          </a:p>
          <a:p>
            <a:r>
              <a:rPr b="1" dirty="0"/>
              <a:t>The rest day around game 53 stays in,</a:t>
            </a:r>
            <a:r>
              <a:rPr lang="en-AU" b="1" dirty="0"/>
              <a:t> </a:t>
            </a:r>
            <a:r>
              <a:rPr b="1" dirty="0"/>
              <a:t>because a rested player can still get hurt tomorrow.</a:t>
            </a:r>
          </a:p>
          <a:p>
            <a:endParaRPr dirty="0"/>
          </a:p>
          <a:p>
            <a:r>
              <a:rPr lang="en-AU" b="1" dirty="0"/>
              <a:t>Expanding the beyond LeBron to the whole league correctly </a:t>
            </a:r>
            <a:r>
              <a:rPr b="1" dirty="0"/>
              <a:t>is</a:t>
            </a:r>
            <a:r>
              <a:rPr lang="en-AU" b="1" dirty="0"/>
              <a:t> a </a:t>
            </a:r>
            <a:r>
              <a:rPr b="1" dirty="0"/>
              <a:t>consequential decision in the whole design. </a:t>
            </a:r>
            <a:endParaRPr lang="en-AU" b="1" dirty="0"/>
          </a:p>
          <a:p>
            <a:r>
              <a:rPr lang="en-AU" b="1" dirty="0"/>
              <a:t>The model is built of on the comparison group of the entire league not just one player</a:t>
            </a:r>
            <a:endParaRPr b="1" dirty="0"/>
          </a:p>
          <a:p>
            <a:endParaRPr b="1" dirty="0"/>
          </a:p>
          <a:p>
            <a:r>
              <a:rPr b="1" dirty="0"/>
              <a:t>Drawing this actually caught a bug</a:t>
            </a:r>
            <a:r>
              <a:rPr lang="en-AU" b="1" dirty="0"/>
              <a:t>,</a:t>
            </a:r>
            <a:r>
              <a:rPr b="1" dirty="0"/>
              <a:t> the original </a:t>
            </a:r>
            <a:r>
              <a:rPr lang="en-AU" b="1" dirty="0"/>
              <a:t>logic</a:t>
            </a:r>
            <a:r>
              <a:rPr b="1" dirty="0"/>
              <a:t> was silently deleting every</a:t>
            </a:r>
            <a:r>
              <a:rPr lang="en-AU" b="1" dirty="0"/>
              <a:t> f</a:t>
            </a:r>
            <a:r>
              <a:rPr b="1" dirty="0" err="1"/>
              <a:t>irst</a:t>
            </a:r>
            <a:r>
              <a:rPr b="1" dirty="0"/>
              <a:t> game back from injury, 3.6 per cent of all appearances. </a:t>
            </a:r>
            <a:endParaRPr lang="en-AU" dirty="0"/>
          </a:p>
          <a:p>
            <a:r>
              <a:rPr b="1" dirty="0"/>
              <a:t>Fixing it </a:t>
            </a:r>
            <a:r>
              <a:rPr lang="en-AU" b="1" dirty="0"/>
              <a:t>has a significant effect on one of our covariates</a:t>
            </a:r>
            <a:r>
              <a:rPr b="1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b="1" dirty="0"/>
              <a:t>T</a:t>
            </a:r>
            <a:r>
              <a:rPr b="1" dirty="0"/>
              <a:t>he baseline is unspecified so I am not</a:t>
            </a:r>
            <a:r>
              <a:rPr lang="en-AU" b="1" dirty="0"/>
              <a:t> f</a:t>
            </a:r>
            <a:r>
              <a:rPr b="1" dirty="0" err="1"/>
              <a:t>orced</a:t>
            </a:r>
            <a:r>
              <a:rPr b="1" dirty="0"/>
              <a:t> to assume a shape</a:t>
            </a:r>
            <a:r>
              <a:rPr lang="en-AU" b="1" dirty="0"/>
              <a:t>.</a:t>
            </a:r>
          </a:p>
          <a:p>
            <a:r>
              <a:rPr lang="en-AU" b="1" dirty="0"/>
              <a:t>S</a:t>
            </a:r>
            <a:r>
              <a:rPr b="1" dirty="0" err="1"/>
              <a:t>trata</a:t>
            </a:r>
            <a:r>
              <a:rPr b="1" dirty="0"/>
              <a:t> let each season have its own </a:t>
            </a:r>
            <a:r>
              <a:rPr b="1" dirty="0" err="1"/>
              <a:t>baselin</a:t>
            </a:r>
            <a:r>
              <a:rPr lang="en-AU" b="1" dirty="0"/>
              <a:t>e.</a:t>
            </a:r>
          </a:p>
          <a:p>
            <a:r>
              <a:rPr lang="en-AU" b="1" dirty="0"/>
              <a:t>C</a:t>
            </a:r>
            <a:r>
              <a:rPr b="1" dirty="0"/>
              <a:t>lustering</a:t>
            </a:r>
            <a:r>
              <a:rPr lang="en-AU" b="1" dirty="0"/>
              <a:t> </a:t>
            </a:r>
            <a:r>
              <a:rPr b="1" dirty="0"/>
              <a:t>fixes the standard errors for repeated measures on the same player.</a:t>
            </a:r>
          </a:p>
          <a:p>
            <a:endParaRPr b="1" dirty="0"/>
          </a:p>
          <a:p>
            <a:r>
              <a:rPr b="1" dirty="0"/>
              <a:t>This model ranks</a:t>
            </a:r>
            <a:r>
              <a:rPr lang="en-AU" b="1" dirty="0"/>
              <a:t>,</a:t>
            </a:r>
            <a:r>
              <a:rPr b="1" dirty="0"/>
              <a:t> It</a:t>
            </a:r>
            <a:r>
              <a:rPr lang="en-AU" b="1" dirty="0"/>
              <a:t> </a:t>
            </a:r>
            <a:r>
              <a:rPr b="1" dirty="0"/>
              <a:t>does not predict whether a given player will be injured</a:t>
            </a:r>
            <a:r>
              <a:rPr lang="en-AU" b="1" dirty="0"/>
              <a:t>.</a:t>
            </a:r>
            <a:endParaRPr b="1" dirty="0"/>
          </a:p>
          <a:p>
            <a:r>
              <a:rPr lang="en-AU" b="1" dirty="0"/>
              <a:t>This </a:t>
            </a:r>
            <a:r>
              <a:rPr b="1" dirty="0"/>
              <a:t>is what a team actually needs, because you cannot rest everyone and the schedule</a:t>
            </a:r>
            <a:r>
              <a:rPr lang="en-AU" b="1" dirty="0"/>
              <a:t> </a:t>
            </a:r>
            <a:r>
              <a:rPr b="1" dirty="0"/>
              <a:t>imposes load regardless. </a:t>
            </a:r>
            <a:endParaRPr lang="en-AU" b="1" dirty="0"/>
          </a:p>
          <a:p>
            <a:r>
              <a:rPr b="1" dirty="0"/>
              <a:t>The question is always who to manage relative to whom.</a:t>
            </a:r>
          </a:p>
          <a:p>
            <a:endParaRPr dirty="0"/>
          </a:p>
          <a:p>
            <a:r>
              <a:rPr lang="en-AU" u="sng" dirty="0"/>
              <a:t>W</a:t>
            </a:r>
            <a:r>
              <a:rPr u="sng" dirty="0"/>
              <a:t>hy not logistic regression? Because it cannot use time-varying</a:t>
            </a:r>
          </a:p>
          <a:p>
            <a:r>
              <a:rPr u="sng" dirty="0"/>
              <a:t>covariates or tell you when risk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u="sng" dirty="0"/>
              <a:t>This is the pivot of the talk. Slow down.</a:t>
            </a:r>
            <a:endParaRPr lang="en-AU" u="sng" dirty="0"/>
          </a:p>
          <a:p>
            <a:endParaRPr lang="en-AU" u="sng" dirty="0"/>
          </a:p>
          <a:p>
            <a:r>
              <a:rPr lang="en-AU" i="1" u="none" dirty="0"/>
              <a:t>Read first point</a:t>
            </a:r>
            <a:endParaRPr i="1" u="none" dirty="0"/>
          </a:p>
          <a:p>
            <a:endParaRPr dirty="0"/>
          </a:p>
          <a:p>
            <a:r>
              <a:rPr b="1" dirty="0"/>
              <a:t>Every study in my literature review reports a workload-injury association and reads</a:t>
            </a:r>
            <a:r>
              <a:rPr lang="en-AU" b="1" dirty="0"/>
              <a:t> </a:t>
            </a:r>
            <a:r>
              <a:rPr b="1" dirty="0"/>
              <a:t>it causally</a:t>
            </a:r>
            <a:r>
              <a:rPr lang="en-AU" b="1" dirty="0"/>
              <a:t> as per the first explanation</a:t>
            </a:r>
          </a:p>
          <a:p>
            <a:endParaRPr lang="en-AU" b="1" dirty="0"/>
          </a:p>
          <a:p>
            <a:r>
              <a:rPr lang="en-AU" b="1" dirty="0"/>
              <a:t>Explanation 2 is just as important, </a:t>
            </a:r>
            <a:r>
              <a:rPr b="1" dirty="0"/>
              <a:t>high-load players are simply on court more, and they are on court more because</a:t>
            </a:r>
            <a:r>
              <a:rPr lang="en-AU" b="1" dirty="0"/>
              <a:t> </a:t>
            </a:r>
            <a:r>
              <a:rPr b="1" dirty="0"/>
              <a:t>they were fit.</a:t>
            </a:r>
          </a:p>
          <a:p>
            <a:endParaRPr lang="en-AU" b="1" dirty="0"/>
          </a:p>
          <a:p>
            <a:r>
              <a:rPr lang="en-AU" b="1" dirty="0"/>
              <a:t>Y</a:t>
            </a:r>
            <a:r>
              <a:rPr b="1" dirty="0" err="1"/>
              <a:t>ou</a:t>
            </a:r>
            <a:r>
              <a:rPr b="1" dirty="0"/>
              <a:t> cannot adjust your way out of this, because the thing that</a:t>
            </a:r>
            <a:r>
              <a:rPr lang="en-AU" b="1" dirty="0"/>
              <a:t> </a:t>
            </a:r>
            <a:r>
              <a:rPr b="1" dirty="0"/>
              <a:t>confounds IS the exposure. </a:t>
            </a:r>
            <a:endParaRPr lang="en-AU" b="1" dirty="0"/>
          </a:p>
          <a:p>
            <a:r>
              <a:rPr b="1" dirty="0"/>
              <a:t>Adding covariates does not help.</a:t>
            </a:r>
          </a:p>
          <a:p>
            <a:endParaRPr b="1" dirty="0"/>
          </a:p>
          <a:p>
            <a:r>
              <a:rPr lang="en-AU" b="1" dirty="0"/>
              <a:t>W</a:t>
            </a:r>
            <a:r>
              <a:rPr b="1" dirty="0"/>
              <a:t>hat would you need to tell</a:t>
            </a:r>
            <a:r>
              <a:rPr lang="en-AU" b="1" dirty="0"/>
              <a:t> </a:t>
            </a:r>
            <a:r>
              <a:rPr b="1" dirty="0"/>
              <a:t>them apart?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b="1" dirty="0"/>
              <a:t>A negative control across our 4 IOC mechanisms </a:t>
            </a:r>
          </a:p>
          <a:p>
            <a:endParaRPr lang="en-AU" dirty="0"/>
          </a:p>
          <a:p>
            <a:r>
              <a:rPr b="1" dirty="0"/>
              <a:t>It is</a:t>
            </a:r>
            <a:r>
              <a:rPr lang="en-AU" b="1" dirty="0"/>
              <a:t> </a:t>
            </a:r>
            <a:r>
              <a:rPr b="1" dirty="0"/>
              <a:t>standard in epidemiology and, as far as I can find, has not been applied to basketball</a:t>
            </a:r>
            <a:r>
              <a:rPr lang="en-AU" b="1" dirty="0"/>
              <a:t> </a:t>
            </a:r>
            <a:r>
              <a:rPr b="1" dirty="0"/>
              <a:t>workload data before.</a:t>
            </a:r>
          </a:p>
          <a:p>
            <a:endParaRPr dirty="0"/>
          </a:p>
          <a:p>
            <a:r>
              <a:rPr lang="en-AU" i="1" dirty="0"/>
              <a:t>Read point 1 and 2</a:t>
            </a:r>
          </a:p>
          <a:p>
            <a:endParaRPr lang="en-AU" i="1" dirty="0"/>
          </a:p>
          <a:p>
            <a:r>
              <a:rPr lang="en-AU" b="1" dirty="0"/>
              <a:t>Three quarters of the repetitive tier records only that something was sore, with no diagnosis attached. </a:t>
            </a:r>
          </a:p>
          <a:p>
            <a:endParaRPr lang="en-AU" b="1" dirty="0"/>
          </a:p>
          <a:p>
            <a:r>
              <a:rPr lang="en-AU" b="1" dirty="0"/>
              <a:t>That is not a different injury mechanism, it is a different quality of observation, and I keep it separate rather than pooling it.</a:t>
            </a:r>
          </a:p>
          <a:p>
            <a:endParaRPr lang="en-AU" i="1" dirty="0"/>
          </a:p>
          <a:p>
            <a:r>
              <a:rPr lang="en-AU" i="1" dirty="0"/>
              <a:t>Read point 3 then 4</a:t>
            </a:r>
          </a:p>
          <a:p>
            <a:endParaRPr lang="en-AU" i="1" dirty="0"/>
          </a:p>
          <a:p>
            <a:r>
              <a:rPr b="1" dirty="0"/>
              <a:t>Accumulated load</a:t>
            </a:r>
            <a:r>
              <a:rPr lang="en-AU" b="1" dirty="0"/>
              <a:t> </a:t>
            </a:r>
            <a:r>
              <a:rPr b="1" dirty="0"/>
              <a:t>cannot cause a jammed finger or a poke in the eye.</a:t>
            </a:r>
            <a:endParaRPr lang="en-AU" dirty="0"/>
          </a:p>
          <a:p>
            <a:endParaRPr lang="en-AU" dirty="0"/>
          </a:p>
          <a:p>
            <a:r>
              <a:rPr lang="en-AU" b="1" dirty="0"/>
              <a:t>I</a:t>
            </a:r>
            <a:r>
              <a:rPr b="1" dirty="0"/>
              <a:t>f fatigue is doing the work, the effect should fade</a:t>
            </a:r>
            <a:r>
              <a:rPr lang="en-AU" b="1" dirty="0"/>
              <a:t> </a:t>
            </a:r>
            <a:r>
              <a:rPr b="1" dirty="0"/>
              <a:t>from left to right. If it does not fade, the effect </a:t>
            </a:r>
            <a:r>
              <a:rPr lang="en-AU" b="1" dirty="0"/>
              <a:t>leans to</a:t>
            </a:r>
            <a:r>
              <a:rPr b="1" dirty="0"/>
              <a:t>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b="1" dirty="0"/>
              <a:t>We start with 1 model and build to 3 adding a domain at each point</a:t>
            </a:r>
          </a:p>
          <a:p>
            <a:endParaRPr lang="en-AU" b="1" dirty="0"/>
          </a:p>
          <a:p>
            <a:r>
              <a:rPr b="1" dirty="0"/>
              <a:t>Concordance is the ranking accuracy</a:t>
            </a:r>
            <a:r>
              <a:rPr lang="en-AU" b="1" dirty="0"/>
              <a:t>.</a:t>
            </a:r>
          </a:p>
          <a:p>
            <a:endParaRPr lang="en-AU" b="1" dirty="0"/>
          </a:p>
          <a:p>
            <a:r>
              <a:rPr lang="en-AU" b="1" dirty="0"/>
              <a:t>T</a:t>
            </a:r>
            <a:r>
              <a:rPr b="1" dirty="0" err="1"/>
              <a:t>ake</a:t>
            </a:r>
            <a:r>
              <a:rPr b="1" dirty="0"/>
              <a:t> any two player-games</a:t>
            </a:r>
            <a:r>
              <a:rPr lang="en-AU" b="1" dirty="0"/>
              <a:t>, if the model orders the player game with an injury, higher than without, it did</a:t>
            </a:r>
            <a:r>
              <a:rPr b="1" dirty="0"/>
              <a:t> correctly. </a:t>
            </a:r>
            <a:endParaRPr lang="en-AU" b="1" dirty="0"/>
          </a:p>
          <a:p>
            <a:r>
              <a:rPr b="1" dirty="0"/>
              <a:t>It</a:t>
            </a:r>
            <a:r>
              <a:rPr lang="en-AU" b="1" dirty="0"/>
              <a:t> </a:t>
            </a:r>
            <a:r>
              <a:rPr b="1" dirty="0"/>
              <a:t>gets about 71 out of every 100 right. Chance is 50.</a:t>
            </a:r>
          </a:p>
          <a:p>
            <a:endParaRPr dirty="0"/>
          </a:p>
          <a:p>
            <a:r>
              <a:rPr b="1" dirty="0"/>
              <a:t>For a model with no GPS, no medical screening and no training load, that is</a:t>
            </a:r>
            <a:r>
              <a:rPr lang="en-AU" b="1" dirty="0"/>
              <a:t> </a:t>
            </a:r>
            <a:r>
              <a:rPr b="1" dirty="0"/>
              <a:t>roughly the ceiling</a:t>
            </a:r>
            <a:r>
              <a:rPr lang="en-AU" b="1" dirty="0"/>
              <a:t>.</a:t>
            </a:r>
          </a:p>
          <a:p>
            <a:r>
              <a:rPr lang="en-AU" b="1" dirty="0"/>
              <a:t>K</a:t>
            </a:r>
            <a:r>
              <a:rPr b="1" dirty="0" err="1"/>
              <a:t>nowing</a:t>
            </a:r>
            <a:r>
              <a:rPr b="1" dirty="0"/>
              <a:t> the ceiling is a finding for anyone deciding</a:t>
            </a:r>
            <a:r>
              <a:rPr lang="en-AU" b="1" dirty="0"/>
              <a:t> </a:t>
            </a:r>
            <a:r>
              <a:rPr b="1" dirty="0"/>
              <a:t>whether public data is worth buying past.</a:t>
            </a:r>
          </a:p>
          <a:p>
            <a:endParaRPr dirty="0"/>
          </a:p>
          <a:p>
            <a:r>
              <a:rPr u="sng" dirty="0"/>
              <a:t>Likely question: is 0.71 any good? Answer: for ranking who to manage this week, yes.</a:t>
            </a:r>
          </a:p>
          <a:p>
            <a:r>
              <a:rPr u="sng" dirty="0"/>
              <a:t>For calling an individual player on a given night, no</a:t>
            </a:r>
            <a:r>
              <a:rPr lang="en-AU" u="sng" dirty="0"/>
              <a:t>, </a:t>
            </a:r>
            <a:r>
              <a:rPr u="sng" dirty="0"/>
              <a:t>it is a statement about</a:t>
            </a:r>
          </a:p>
          <a:p>
            <a:r>
              <a:rPr u="sng" dirty="0"/>
              <a:t>populations of pairs, and I will come back to that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Chronic load is the largest effect in the model at 1.76 per standard deviation. </a:t>
            </a:r>
            <a:endParaRPr lang="en-AU" b="1" dirty="0"/>
          </a:p>
          <a:p>
            <a:endParaRPr lang="en-AU" b="1" dirty="0"/>
          </a:p>
          <a:p>
            <a:r>
              <a:rPr lang="en-AU" b="1" dirty="0"/>
              <a:t>In context Per standard deviation means about a game's worth of extra load, and that raises a player's injury rate by roughly 76 per cent relative to an otherwise identical team-mate.</a:t>
            </a:r>
          </a:p>
          <a:p>
            <a:endParaRPr lang="en-AU" b="1" dirty="0"/>
          </a:p>
          <a:p>
            <a:r>
              <a:rPr lang="en-AU" b="1" dirty="0"/>
              <a:t>T</a:t>
            </a:r>
            <a:r>
              <a:rPr b="1" dirty="0"/>
              <a:t>hat sits comfortably with Lewis and with </a:t>
            </a:r>
            <a:r>
              <a:rPr b="1" dirty="0" err="1"/>
              <a:t>Orringer</a:t>
            </a:r>
            <a:r>
              <a:rPr b="1" dirty="0"/>
              <a:t> and Pandya, and I could stop</a:t>
            </a:r>
            <a:r>
              <a:rPr lang="en-AU" b="1" dirty="0"/>
              <a:t> </a:t>
            </a:r>
            <a:r>
              <a:rPr b="1" dirty="0"/>
              <a:t>here and claim a fatigue effect. </a:t>
            </a:r>
            <a:r>
              <a:rPr lang="en-AU" b="1" dirty="0"/>
              <a:t>I will explain later why we do not.</a:t>
            </a:r>
          </a:p>
          <a:p>
            <a:endParaRPr dirty="0"/>
          </a:p>
          <a:p>
            <a:r>
              <a:rPr b="1" dirty="0"/>
              <a:t>Load in the</a:t>
            </a:r>
            <a:r>
              <a:rPr lang="en-AU" b="1" dirty="0"/>
              <a:t> </a:t>
            </a:r>
            <a:r>
              <a:rPr b="1" dirty="0"/>
              <a:t>most recent game reads protective at 0.48; load two games back reads harmful at 1.53.</a:t>
            </a:r>
          </a:p>
          <a:p>
            <a:endParaRPr lang="en-AU" b="1" dirty="0"/>
          </a:p>
          <a:p>
            <a:r>
              <a:rPr b="1" dirty="0"/>
              <a:t>The reversal across a single game is the signature of load management and early onset</a:t>
            </a:r>
            <a:r>
              <a:rPr lang="en-AU" b="1" dirty="0"/>
              <a:t>.</a:t>
            </a:r>
          </a:p>
          <a:p>
            <a:r>
              <a:rPr lang="en-AU" b="1" dirty="0"/>
              <a:t>A</a:t>
            </a:r>
            <a:r>
              <a:rPr b="1" dirty="0"/>
              <a:t> player breaking down logs a low distance in the game it happens. Lag-2 sits before</a:t>
            </a:r>
            <a:r>
              <a:rPr lang="en-AU" b="1" dirty="0"/>
              <a:t> </a:t>
            </a:r>
            <a:r>
              <a:rPr b="1" dirty="0"/>
              <a:t>that contamination, which is why it carries the fatigue-spike signal.</a:t>
            </a:r>
          </a:p>
          <a:p>
            <a:endParaRPr dirty="0"/>
          </a:p>
          <a:p>
            <a:r>
              <a:rPr lang="en-AU" b="1" dirty="0"/>
              <a:t>The estimate gives 22.3 per cent lower hazard per additional rest day. Lewis [4] reported a 15.96 per cent reduction</a:t>
            </a:r>
            <a:r>
              <a:rPr b="1" dirty="0"/>
              <a:t>, on different seasons with a different model</a:t>
            </a:r>
            <a:r>
              <a:rPr lang="en-AU" b="1" dirty="0"/>
              <a:t> </a:t>
            </a:r>
            <a:r>
              <a:rPr b="1" dirty="0"/>
              <a:t>and outcome definition. </a:t>
            </a:r>
            <a:endParaRPr lang="en-AU" b="1" dirty="0"/>
          </a:p>
          <a:p>
            <a:r>
              <a:rPr lang="en-AU" b="1" dirty="0"/>
              <a:t>That is not replication, but the two do agree on the direction of the effect.</a:t>
            </a:r>
          </a:p>
          <a:p>
            <a:endParaRPr lang="en-AU" u="sng" dirty="0"/>
          </a:p>
          <a:p>
            <a:r>
              <a:rPr lang="en-AU" u="sng" dirty="0"/>
              <a:t>If someone asks where the acute-to-chronic ratio went: it is deliberately not in the</a:t>
            </a:r>
          </a:p>
          <a:p>
            <a:r>
              <a:rPr lang="en-AU" u="sng" dirty="0"/>
              <a:t>model. It is a deterministic function of two covariates already carried separately,</a:t>
            </a:r>
          </a:p>
          <a:p>
            <a:r>
              <a:rPr lang="en-AU" u="sng" dirty="0"/>
              <a:t>so including all three over-parameterises the workload block, it inflates chronic</a:t>
            </a:r>
          </a:p>
          <a:p>
            <a:r>
              <a:rPr lang="en-AU" u="sng" dirty="0"/>
              <a:t>load and splits the acute effect across two terms that cannot be separately</a:t>
            </a:r>
          </a:p>
          <a:p>
            <a:r>
              <a:rPr lang="en-AU" u="sng" dirty="0"/>
              <a:t>identified. Carrying acute and chronic separately answers the same question.</a:t>
            </a:r>
          </a:p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b="1" dirty="0"/>
              <a:t>We then looked at </a:t>
            </a:r>
            <a:r>
              <a:rPr b="1" dirty="0"/>
              <a:t>chronic 28-day load, run on each</a:t>
            </a:r>
            <a:r>
              <a:rPr lang="en-AU" b="1" dirty="0"/>
              <a:t> mechanism</a:t>
            </a:r>
            <a:r>
              <a:rPr b="1" dirty="0"/>
              <a:t> tier </a:t>
            </a:r>
            <a:r>
              <a:rPr lang="en-AU" b="1" dirty="0"/>
              <a:t>of the test </a:t>
            </a:r>
            <a:r>
              <a:rPr b="1" dirty="0"/>
              <a:t>separately under the identical</a:t>
            </a:r>
            <a:r>
              <a:rPr lang="en-AU" b="1" dirty="0"/>
              <a:t> </a:t>
            </a:r>
            <a:r>
              <a:rPr b="1" dirty="0"/>
              <a:t>Model specification.</a:t>
            </a:r>
          </a:p>
          <a:p>
            <a:endParaRPr dirty="0"/>
          </a:p>
          <a:p>
            <a:r>
              <a:rPr b="1" dirty="0"/>
              <a:t>The CONTROL tier </a:t>
            </a:r>
            <a:r>
              <a:rPr b="0" dirty="0"/>
              <a:t>—</a:t>
            </a:r>
            <a:r>
              <a:rPr lang="en-AU" b="0" dirty="0"/>
              <a:t> </a:t>
            </a:r>
            <a:r>
              <a:rPr b="0" dirty="0"/>
              <a:t>jammed fingers, elbows to the face, concussion —</a:t>
            </a:r>
            <a:r>
              <a:rPr b="1" dirty="0"/>
              <a:t> carries 1.77. That is the second</a:t>
            </a:r>
            <a:r>
              <a:rPr lang="en-AU" b="1" dirty="0"/>
              <a:t> </a:t>
            </a:r>
            <a:r>
              <a:rPr b="1" dirty="0"/>
              <a:t>largest estimate, on injuries accumulated load</a:t>
            </a:r>
            <a:r>
              <a:rPr lang="en-AU" b="1" dirty="0"/>
              <a:t> </a:t>
            </a:r>
            <a:r>
              <a:rPr b="1" dirty="0"/>
              <a:t>cannot possibly cause.</a:t>
            </a:r>
          </a:p>
          <a:p>
            <a:endParaRPr dirty="0"/>
          </a:p>
          <a:p>
            <a:r>
              <a:rPr b="1" dirty="0"/>
              <a:t>And the diagnosed overuse tier, the one where fatigue is supposed to live, is the</a:t>
            </a:r>
            <a:r>
              <a:rPr lang="en-AU" b="1" dirty="0"/>
              <a:t> </a:t>
            </a:r>
            <a:r>
              <a:rPr b="1" dirty="0"/>
              <a:t>LOWEST at 1.40.</a:t>
            </a:r>
          </a:p>
          <a:p>
            <a:endParaRPr dirty="0"/>
          </a:p>
          <a:p>
            <a:r>
              <a:rPr b="1" dirty="0"/>
              <a:t>So chronic load is not measuring </a:t>
            </a:r>
            <a:r>
              <a:rPr lang="en-AU" b="1" dirty="0"/>
              <a:t>only </a:t>
            </a:r>
            <a:r>
              <a:rPr b="1" dirty="0"/>
              <a:t>fatigue. It is </a:t>
            </a:r>
            <a:r>
              <a:rPr lang="en-AU" b="1" dirty="0"/>
              <a:t>more </a:t>
            </a:r>
            <a:r>
              <a:rPr b="1" dirty="0"/>
              <a:t>measuring exposure</a:t>
            </a:r>
            <a:r>
              <a:rPr lang="en-AU" b="1" dirty="0"/>
              <a:t>.</a:t>
            </a:r>
          </a:p>
          <a:p>
            <a:r>
              <a:rPr lang="en-AU" b="1" dirty="0"/>
              <a:t>P</a:t>
            </a:r>
            <a:r>
              <a:rPr b="1" dirty="0"/>
              <a:t>layers carrying</a:t>
            </a:r>
            <a:r>
              <a:rPr lang="en-AU" b="1" dirty="0"/>
              <a:t> </a:t>
            </a:r>
            <a:r>
              <a:rPr b="1" dirty="0"/>
              <a:t>heavy 28-day load are the ones on the floor when a loose ball arrives, and they are</a:t>
            </a:r>
            <a:r>
              <a:rPr lang="en-AU" b="1" dirty="0"/>
              <a:t> </a:t>
            </a:r>
            <a:r>
              <a:rPr b="1" dirty="0"/>
              <a:t>on the floor because they were fit enough to keep being selected.</a:t>
            </a:r>
          </a:p>
          <a:p>
            <a:endParaRPr dirty="0"/>
          </a:p>
          <a:p>
            <a:r>
              <a:rPr lang="en-AU" b="1" dirty="0"/>
              <a:t>An </a:t>
            </a:r>
            <a:r>
              <a:rPr b="1" dirty="0"/>
              <a:t>honest conclusion </a:t>
            </a:r>
            <a:r>
              <a:rPr lang="en-AU" b="1" dirty="0"/>
              <a:t>here </a:t>
            </a:r>
            <a:r>
              <a:rPr b="1" dirty="0"/>
              <a:t>would be that the workload-injury literature is mostly</a:t>
            </a:r>
            <a:r>
              <a:rPr lang="en-AU" b="1" dirty="0"/>
              <a:t> </a:t>
            </a:r>
            <a:r>
              <a:rPr b="1" dirty="0"/>
              <a:t>measuring court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b="1" dirty="0"/>
              <a:t>We then add</a:t>
            </a:r>
            <a:r>
              <a:rPr b="1" dirty="0"/>
              <a:t> acute 7-day load. </a:t>
            </a:r>
            <a:endParaRPr lang="en-AU" b="1" dirty="0"/>
          </a:p>
          <a:p>
            <a:endParaRPr lang="en-AU" b="1" dirty="0"/>
          </a:p>
          <a:p>
            <a:r>
              <a:rPr b="1" dirty="0"/>
              <a:t>1.90 where a pathology is actually</a:t>
            </a:r>
            <a:r>
              <a:rPr lang="en-AU" b="1" dirty="0"/>
              <a:t> </a:t>
            </a:r>
            <a:r>
              <a:rPr b="1" dirty="0"/>
              <a:t>named. Then 1.00</a:t>
            </a:r>
            <a:r>
              <a:rPr lang="en-AU" b="1" dirty="0"/>
              <a:t> for symptom only</a:t>
            </a:r>
            <a:r>
              <a:rPr b="1" dirty="0"/>
              <a:t>. 1.42 on acute non-contact. And 1.22 on the control</a:t>
            </a:r>
            <a:r>
              <a:rPr lang="en-AU" b="1" dirty="0"/>
              <a:t> (not significant)</a:t>
            </a:r>
          </a:p>
          <a:p>
            <a:endParaRPr dirty="0"/>
          </a:p>
          <a:p>
            <a:r>
              <a:rPr lang="en-AU" b="1" dirty="0"/>
              <a:t>T</a:t>
            </a:r>
            <a:r>
              <a:rPr b="1" dirty="0"/>
              <a:t>he pattern is exactly</a:t>
            </a:r>
            <a:r>
              <a:rPr lang="en-AU" b="1" dirty="0"/>
              <a:t> </a:t>
            </a:r>
            <a:r>
              <a:rPr b="1" dirty="0"/>
              <a:t>what a physiological mechanism predicts and exactly what an exposure account cannot</a:t>
            </a:r>
            <a:r>
              <a:rPr lang="en-AU" b="1" dirty="0"/>
              <a:t> </a:t>
            </a:r>
            <a:r>
              <a:rPr b="1" dirty="0"/>
              <a:t>produce. </a:t>
            </a:r>
            <a:endParaRPr lang="en-AU" b="1" dirty="0"/>
          </a:p>
          <a:p>
            <a:endParaRPr lang="en-AU" b="1" dirty="0"/>
          </a:p>
          <a:p>
            <a:r>
              <a:rPr b="1" dirty="0"/>
              <a:t>If acute load were just tracking court time, it could not switch off in one</a:t>
            </a:r>
            <a:r>
              <a:rPr lang="en-AU" b="1" dirty="0"/>
              <a:t> </a:t>
            </a:r>
            <a:r>
              <a:rPr b="1" dirty="0"/>
              <a:t>column and stay on in the others.</a:t>
            </a:r>
            <a:endParaRPr lang="en-AU" b="1" dirty="0"/>
          </a:p>
          <a:p>
            <a:endParaRPr lang="en-AU" b="0" i="1" dirty="0"/>
          </a:p>
          <a:p>
            <a:r>
              <a:rPr lang="en-AU" b="1" dirty="0"/>
              <a:t>Why acute and not chronic? once chronic load is in the model, the seven-day term stops meaning "this player plays a lot" and starts meaning "this player played more than his own normal this week" and fatigue is a departure from your own baseline over days, not a description of your habitual month</a:t>
            </a:r>
          </a:p>
          <a:p>
            <a:endParaRPr b="1" dirty="0"/>
          </a:p>
          <a:p>
            <a:r>
              <a:rPr lang="en-AU" b="1" dirty="0"/>
              <a:t>If we </a:t>
            </a:r>
            <a:r>
              <a:rPr b="1" dirty="0"/>
              <a:t>Pooled</a:t>
            </a:r>
            <a:r>
              <a:rPr lang="en-AU" b="1" dirty="0"/>
              <a:t> the overuse category</a:t>
            </a:r>
            <a:r>
              <a:rPr b="1" dirty="0"/>
              <a:t>, </a:t>
            </a:r>
            <a:r>
              <a:rPr lang="en-AU" b="1" dirty="0"/>
              <a:t>it</a:t>
            </a:r>
            <a:r>
              <a:rPr b="1" dirty="0"/>
              <a:t> says</a:t>
            </a:r>
            <a:r>
              <a:rPr lang="en-AU" b="1" dirty="0"/>
              <a:t> </a:t>
            </a:r>
            <a:r>
              <a:rPr b="1" dirty="0"/>
              <a:t>nothing, because three quarters of it is undiagnosed soreness with no signal in it.</a:t>
            </a:r>
          </a:p>
          <a:p>
            <a:endParaRPr lang="en-AU" b="1" dirty="0"/>
          </a:p>
          <a:p>
            <a:r>
              <a:rPr b="1" dirty="0"/>
              <a:t>Split it, and the signal is there in the quarter that carries a diagnosis. </a:t>
            </a:r>
            <a:endParaRPr lang="en-AU" b="1" dirty="0"/>
          </a:p>
          <a:p>
            <a:endParaRPr lang="en-AU" b="1" dirty="0"/>
          </a:p>
          <a:p>
            <a:r>
              <a:rPr b="1" dirty="0"/>
              <a:t>The effect</a:t>
            </a:r>
            <a:r>
              <a:rPr lang="en-AU" b="1" dirty="0"/>
              <a:t> </a:t>
            </a:r>
            <a:r>
              <a:rPr b="1" dirty="0"/>
              <a:t>was always there; the outcome definition was hiding it.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I found two</a:t>
            </a:r>
            <a:r>
              <a:rPr lang="en-AU" b="1" dirty="0"/>
              <a:t> </a:t>
            </a:r>
            <a:r>
              <a:rPr b="1" dirty="0"/>
              <a:t>effects that the field has been </a:t>
            </a:r>
            <a:r>
              <a:rPr lang="en-AU" b="1" dirty="0"/>
              <a:t>usually </a:t>
            </a:r>
            <a:r>
              <a:rPr b="1" dirty="0"/>
              <a:t>reporting as one.</a:t>
            </a:r>
          </a:p>
          <a:p>
            <a:endParaRPr b="1" dirty="0"/>
          </a:p>
          <a:p>
            <a:r>
              <a:rPr b="1" dirty="0"/>
              <a:t>The exposure component is not a nuisance. </a:t>
            </a:r>
            <a:endParaRPr lang="en-AU" b="1" dirty="0"/>
          </a:p>
          <a:p>
            <a:r>
              <a:rPr b="1" dirty="0"/>
              <a:t>For contact injury it is the actual causal</a:t>
            </a:r>
            <a:r>
              <a:rPr lang="en-AU" b="1" dirty="0"/>
              <a:t> r</a:t>
            </a:r>
            <a:r>
              <a:rPr b="1" dirty="0" err="1"/>
              <a:t>oute</a:t>
            </a:r>
            <a:r>
              <a:rPr b="1" dirty="0"/>
              <a:t>, and it is the quantity a team controls when it decides who plays. </a:t>
            </a:r>
            <a:r>
              <a:rPr lang="en-AU" b="1" dirty="0"/>
              <a:t>I</a:t>
            </a:r>
            <a:r>
              <a:rPr b="1" dirty="0"/>
              <a:t>t is</a:t>
            </a:r>
            <a:r>
              <a:rPr lang="en-AU" b="1" dirty="0"/>
              <a:t> </a:t>
            </a:r>
            <a:r>
              <a:rPr b="1" dirty="0"/>
              <a:t>arguably the more useful of the two operationally.</a:t>
            </a:r>
          </a:p>
          <a:p>
            <a:endParaRPr lang="en-AU" dirty="0"/>
          </a:p>
          <a:p>
            <a:r>
              <a:rPr lang="en-AU" b="1" dirty="0"/>
              <a:t>M</a:t>
            </a:r>
            <a:r>
              <a:rPr b="1" dirty="0"/>
              <a:t>y hypothesis was that accumulated and spiked load work</a:t>
            </a:r>
            <a:r>
              <a:rPr lang="en-AU" b="1" dirty="0"/>
              <a:t> </a:t>
            </a:r>
            <a:r>
              <a:rPr b="1" dirty="0"/>
              <a:t>through fatigue, and that the effect would be strongest on overuse injury and weakest</a:t>
            </a:r>
            <a:r>
              <a:rPr lang="en-AU" b="1" dirty="0"/>
              <a:t> </a:t>
            </a:r>
            <a:r>
              <a:rPr b="1" dirty="0"/>
              <a:t>where load has no mechanism. </a:t>
            </a:r>
            <a:endParaRPr lang="en-AU" b="1" dirty="0"/>
          </a:p>
          <a:p>
            <a:endParaRPr lang="en-AU" b="1" dirty="0"/>
          </a:p>
          <a:p>
            <a:r>
              <a:rPr b="1" dirty="0"/>
              <a:t>Half of that survived. </a:t>
            </a:r>
            <a:endParaRPr lang="en-AU" b="1" dirty="0"/>
          </a:p>
          <a:p>
            <a:endParaRPr lang="en-AU" dirty="0"/>
          </a:p>
          <a:p>
            <a:r>
              <a:rPr b="1" dirty="0"/>
              <a:t>Chronic load, which I treated as</a:t>
            </a:r>
            <a:r>
              <a:rPr lang="en-AU" b="1" dirty="0"/>
              <a:t> </a:t>
            </a:r>
            <a:r>
              <a:rPr b="1" dirty="0"/>
              <a:t>the strongest fatigue proxy, turns out to be the exposure measure</a:t>
            </a:r>
            <a:r>
              <a:rPr lang="en-AU" b="1" dirty="0"/>
              <a:t>. </a:t>
            </a:r>
          </a:p>
          <a:p>
            <a:r>
              <a:rPr b="1" dirty="0"/>
              <a:t>Acute load is the half that held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Per-game baseline</a:t>
            </a:r>
            <a:r>
              <a:rPr lang="en-AU" b="1" dirty="0"/>
              <a:t> </a:t>
            </a:r>
            <a:r>
              <a:rPr b="1" dirty="0"/>
              <a:t>hazard in games 55 to 75 is about 1.7 times that in games 5 to 25. But every covariate</a:t>
            </a:r>
            <a:r>
              <a:rPr lang="en-AU" b="1" dirty="0"/>
              <a:t> </a:t>
            </a:r>
            <a:r>
              <a:rPr b="1" dirty="0"/>
              <a:t>effect stays proportional throughout.</a:t>
            </a:r>
          </a:p>
          <a:p>
            <a:endParaRPr dirty="0"/>
          </a:p>
          <a:p>
            <a:r>
              <a:rPr lang="en-AU" b="1" dirty="0"/>
              <a:t>B</a:t>
            </a:r>
            <a:r>
              <a:rPr b="1" dirty="0" err="1"/>
              <a:t>ackground</a:t>
            </a:r>
            <a:r>
              <a:rPr b="1" dirty="0"/>
              <a:t> risk rises for everyone. The way workload acts on that risk does not</a:t>
            </a:r>
            <a:r>
              <a:rPr lang="en-AU" b="1" dirty="0"/>
              <a:t> </a:t>
            </a:r>
            <a:r>
              <a:rPr b="1" dirty="0"/>
              <a:t>change. </a:t>
            </a:r>
            <a:endParaRPr lang="en-AU" b="1" dirty="0"/>
          </a:p>
          <a:p>
            <a:r>
              <a:rPr b="1" dirty="0"/>
              <a:t>Heavy chronic load is equally bad in October and April.</a:t>
            </a:r>
          </a:p>
          <a:p>
            <a:endParaRPr dirty="0"/>
          </a:p>
          <a:p>
            <a:r>
              <a:rPr b="1" dirty="0"/>
              <a:t>Why it matters practically. If the whole league gets more injury-prone as the season</a:t>
            </a:r>
            <a:r>
              <a:rPr lang="en-AU" b="1" dirty="0"/>
              <a:t> </a:t>
            </a:r>
            <a:r>
              <a:rPr b="1" dirty="0"/>
              <a:t>wears on, the fix belongs to the </a:t>
            </a:r>
            <a:r>
              <a:rPr lang="en-AU" b="1" dirty="0"/>
              <a:t>scheduling</a:t>
            </a:r>
          </a:p>
          <a:p>
            <a:endParaRPr lang="en-AU" b="1" dirty="0"/>
          </a:p>
          <a:p>
            <a:r>
              <a:rPr b="1" dirty="0"/>
              <a:t>If</a:t>
            </a:r>
            <a:r>
              <a:rPr lang="en-AU" b="1" dirty="0"/>
              <a:t> we found instead…</a:t>
            </a:r>
            <a:r>
              <a:rPr b="1" dirty="0"/>
              <a:t> a given workload became more harmful late on, the fix would be </a:t>
            </a:r>
            <a:r>
              <a:rPr lang="en-AU" b="1" dirty="0"/>
              <a:t>in the management of the</a:t>
            </a:r>
            <a:r>
              <a:rPr b="1" dirty="0"/>
              <a:t> specific players. The evidence points to the first.</a:t>
            </a:r>
          </a:p>
          <a:p>
            <a:endParaRPr dirty="0"/>
          </a:p>
          <a:p>
            <a:r>
              <a:rPr b="1" dirty="0"/>
              <a:t>Morikawa reported injury rates 42 per cent higher in the condensed 2020 season, but</a:t>
            </a:r>
            <a:r>
              <a:rPr lang="en-AU" b="1" dirty="0"/>
              <a:t> </a:t>
            </a:r>
            <a:r>
              <a:rPr b="1" dirty="0"/>
              <a:t>that design could not tell which of the two </a:t>
            </a:r>
            <a:r>
              <a:rPr lang="en-AU" b="1" dirty="0"/>
              <a:t>just mentioned </a:t>
            </a:r>
            <a:r>
              <a:rPr b="1" dirty="0"/>
              <a:t>was happening. </a:t>
            </a:r>
            <a:endParaRPr lang="en-AU" b="1" dirty="0"/>
          </a:p>
          <a:p>
            <a:r>
              <a:rPr b="1" dirty="0"/>
              <a:t>This </a:t>
            </a:r>
            <a:r>
              <a:rPr lang="en-AU" b="1" dirty="0"/>
              <a:t>model </a:t>
            </a:r>
            <a:r>
              <a:rPr b="1" dirty="0"/>
              <a:t>one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A frailty model gives each player a personal risk dial and reports how much those</a:t>
            </a:r>
            <a:r>
              <a:rPr lang="en-AU" b="1" dirty="0"/>
              <a:t> </a:t>
            </a:r>
            <a:r>
              <a:rPr b="1" dirty="0"/>
              <a:t>dials vary. </a:t>
            </a:r>
          </a:p>
          <a:p>
            <a:r>
              <a:rPr b="1" dirty="0"/>
              <a:t>Unadjusted, a 12-fold spread. Fully adjusted, 4-fold. The covariates absorb</a:t>
            </a:r>
            <a:r>
              <a:rPr lang="en-AU" b="1" dirty="0"/>
              <a:t> </a:t>
            </a:r>
            <a:r>
              <a:rPr b="1" dirty="0"/>
              <a:t>67 per cent of the differences between players</a:t>
            </a:r>
            <a:r>
              <a:rPr lang="en-AU" b="1" dirty="0"/>
              <a:t>. </a:t>
            </a:r>
          </a:p>
          <a:p>
            <a:r>
              <a:rPr lang="en-AU" b="1" dirty="0"/>
              <a:t>Capturing the proneness of players like studies Fulton have shown that recurrence important to adjust for.</a:t>
            </a:r>
          </a:p>
          <a:p>
            <a:endParaRPr dirty="0"/>
          </a:p>
          <a:p>
            <a:r>
              <a:rPr b="1" dirty="0"/>
              <a:t>One standard deviation of unmeasured proneness multiplies hazard by 1.75. </a:t>
            </a:r>
            <a:endParaRPr lang="en-AU" b="1" dirty="0"/>
          </a:p>
          <a:p>
            <a:r>
              <a:rPr b="1" dirty="0"/>
              <a:t>One standard</a:t>
            </a:r>
            <a:r>
              <a:rPr lang="en-AU" b="1" dirty="0"/>
              <a:t> </a:t>
            </a:r>
            <a:r>
              <a:rPr b="1" dirty="0"/>
              <a:t>deviation of chronic load multiplies it by 1.76. </a:t>
            </a:r>
            <a:endParaRPr lang="en-AU" b="1" dirty="0"/>
          </a:p>
          <a:p>
            <a:r>
              <a:rPr b="1" dirty="0"/>
              <a:t>The biggest thing I measure and the</a:t>
            </a:r>
            <a:r>
              <a:rPr lang="en-AU" b="1" dirty="0"/>
              <a:t> </a:t>
            </a:r>
            <a:r>
              <a:rPr b="1" dirty="0"/>
              <a:t>biggest thing I miss are the same size. </a:t>
            </a:r>
            <a:endParaRPr lang="en-AU" b="1" dirty="0"/>
          </a:p>
          <a:p>
            <a:r>
              <a:rPr b="1" dirty="0"/>
              <a:t>That is what the limit of public data looks</a:t>
            </a:r>
            <a:r>
              <a:rPr lang="en-AU" b="1" dirty="0"/>
              <a:t> </a:t>
            </a:r>
            <a:r>
              <a:rPr b="1" dirty="0"/>
              <a:t>like as a number.</a:t>
            </a:r>
          </a:p>
          <a:p>
            <a:endParaRPr lang="en-AU" u="sng" dirty="0"/>
          </a:p>
          <a:p>
            <a:r>
              <a:rPr lang="en-AU" u="sng" dirty="0"/>
              <a:t>Second result if there is time, and it is a strong one. The PWP model stratifies the</a:t>
            </a:r>
          </a:p>
          <a:p>
            <a:r>
              <a:rPr lang="en-AU" u="sng" dirty="0"/>
              <a:t>baseline by episode order, so the escalation sits somewhere no covariate can reach:</a:t>
            </a:r>
          </a:p>
          <a:p>
            <a:r>
              <a:rPr lang="en-AU" u="sng" dirty="0"/>
              <a:t>holding workload, schedule and context equal, a second spell carries 1.60 times the</a:t>
            </a:r>
          </a:p>
          <a:p>
            <a:r>
              <a:rPr lang="en-AU" u="sng" dirty="0"/>
              <a:t>baseline hazard of a first, and a third-or-later 2.52 times. Rates run 16.3 per 1,000</a:t>
            </a:r>
          </a:p>
          <a:p>
            <a:r>
              <a:rPr lang="en-AU" u="sng" dirty="0"/>
              <a:t>intervals in a first spell to 68.1 in a third. Martin and colleagues called explicitly</a:t>
            </a:r>
          </a:p>
          <a:p>
            <a:r>
              <a:rPr lang="en-AU" u="sng" dirty="0"/>
              <a:t>for recurrent-event survival modelling to test cumulative burden — this is that test,</a:t>
            </a:r>
          </a:p>
          <a:p>
            <a:r>
              <a:rPr lang="en-AU" u="sng" dirty="0"/>
              <a:t>and it supports them.</a:t>
            </a:r>
          </a:p>
          <a:p>
            <a:endParaRPr lang="en-AU" dirty="0"/>
          </a:p>
          <a:p>
            <a:r>
              <a:rPr lang="en-AU" u="sng" dirty="0"/>
              <a:t>If asked about prior injury: recent return is protective against a NEW injury (0.80)</a:t>
            </a:r>
          </a:p>
          <a:p>
            <a:r>
              <a:rPr lang="en-AU" u="sng" dirty="0"/>
              <a:t>but strongly predictive once reaggravation counts (1.78 under Andersen-Gill). Both are</a:t>
            </a:r>
          </a:p>
          <a:p>
            <a:r>
              <a:rPr lang="en-AU" u="sng" dirty="0"/>
              <a:t>true. Returning players are cleared, minutes-restricted and ramped, which suppresses</a:t>
            </a:r>
          </a:p>
          <a:p>
            <a:r>
              <a:rPr lang="en-AU" u="sng" dirty="0"/>
              <a:t>unrelated injury, while the original problem stays at risk of recurring.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Two hold-outs</a:t>
            </a:r>
            <a:r>
              <a:rPr lang="en-AU" b="1" dirty="0"/>
              <a:t>.</a:t>
            </a:r>
          </a:p>
          <a:p>
            <a:endParaRPr lang="en-AU" b="1" dirty="0"/>
          </a:p>
          <a:p>
            <a:r>
              <a:rPr b="1" dirty="0"/>
              <a:t>Train on four seasons and score</a:t>
            </a:r>
            <a:r>
              <a:rPr lang="en-AU" b="1" dirty="0"/>
              <a:t> </a:t>
            </a:r>
            <a:r>
              <a:rPr b="1" dirty="0"/>
              <a:t>the fifth, which is the operational question. </a:t>
            </a:r>
            <a:endParaRPr lang="en-AU" b="1" dirty="0"/>
          </a:p>
          <a:p>
            <a:endParaRPr lang="en-AU" b="1" dirty="0"/>
          </a:p>
          <a:p>
            <a:r>
              <a:rPr b="1" dirty="0"/>
              <a:t>And hold out whole players, so every</a:t>
            </a:r>
            <a:r>
              <a:rPr lang="en-AU" b="1" dirty="0"/>
              <a:t> </a:t>
            </a:r>
            <a:r>
              <a:rPr b="1" dirty="0"/>
              <a:t>interval is scored by a model that never saw that person.</a:t>
            </a:r>
            <a:endParaRPr lang="en-AU" b="1" dirty="0"/>
          </a:p>
          <a:p>
            <a:endParaRPr lang="en-AU" b="1" dirty="0"/>
          </a:p>
          <a:p>
            <a:r>
              <a:rPr lang="en-AU" b="1" dirty="0"/>
              <a:t>There is very little change. </a:t>
            </a:r>
          </a:p>
          <a:p>
            <a:endParaRPr lang="en-AU" b="1" dirty="0"/>
          </a:p>
          <a:p>
            <a:r>
              <a:rPr lang="en-AU" b="1" dirty="0"/>
              <a:t>The deliverable works then is a ranking tool, and because the score is a weighted sum you can decompose any player’s change into how much came from acute load, congestion or injury history.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The score is the linear</a:t>
            </a:r>
            <a:r>
              <a:rPr lang="en-AU" b="1" dirty="0"/>
              <a:t> </a:t>
            </a:r>
            <a:r>
              <a:rPr b="1" dirty="0"/>
              <a:t>predictor from </a:t>
            </a:r>
            <a:r>
              <a:rPr lang="en-AU" b="1" dirty="0"/>
              <a:t>our model</a:t>
            </a:r>
            <a:r>
              <a:rPr b="1" dirty="0"/>
              <a:t>, plotted per game against the league distribution that night.</a:t>
            </a:r>
          </a:p>
          <a:p>
            <a:endParaRPr dirty="0"/>
          </a:p>
          <a:p>
            <a:r>
              <a:rPr b="1" dirty="0"/>
              <a:t>All three land where the model puts them. Johnson elevated</a:t>
            </a:r>
            <a:r>
              <a:rPr lang="en-AU" b="1" dirty="0"/>
              <a:t> all season</a:t>
            </a:r>
            <a:r>
              <a:rPr b="1" dirty="0"/>
              <a:t>, LeBron upper-middle with, Shead lowest.</a:t>
            </a:r>
            <a:endParaRPr lang="en-AU" b="1" dirty="0"/>
          </a:p>
          <a:p>
            <a:endParaRPr dirty="0"/>
          </a:p>
          <a:p>
            <a:r>
              <a:rPr b="1" dirty="0"/>
              <a:t>The interesting one is Shead</a:t>
            </a:r>
            <a:r>
              <a:rPr lang="en-AU" b="1" dirty="0"/>
              <a:t>, O</a:t>
            </a:r>
            <a:r>
              <a:rPr b="1" dirty="0" err="1"/>
              <a:t>nly</a:t>
            </a:r>
            <a:r>
              <a:rPr b="1" dirty="0"/>
              <a:t> modestly below the league median. </a:t>
            </a:r>
            <a:endParaRPr lang="en-AU" b="1" dirty="0"/>
          </a:p>
          <a:p>
            <a:endParaRPr lang="en-AU" b="1" dirty="0"/>
          </a:p>
          <a:p>
            <a:r>
              <a:rPr b="1" dirty="0"/>
              <a:t>That is not a modelling artefact,</a:t>
            </a:r>
            <a:r>
              <a:rPr lang="en-AU" b="1" dirty="0"/>
              <a:t> </a:t>
            </a:r>
            <a:r>
              <a:rPr b="1" dirty="0"/>
              <a:t>it is a structural feature: a player cannot post a very low load-based score AND play a</a:t>
            </a:r>
            <a:r>
              <a:rPr lang="en-AU" b="1" dirty="0"/>
              <a:t> </a:t>
            </a:r>
            <a:r>
              <a:rPr b="1" dirty="0"/>
              <a:t>full season, </a:t>
            </a:r>
            <a:endParaRPr lang="en-AU" b="1" dirty="0"/>
          </a:p>
          <a:p>
            <a:endParaRPr lang="en-AU" b="1" dirty="0"/>
          </a:p>
          <a:p>
            <a:r>
              <a:rPr lang="en-AU" b="1" dirty="0"/>
              <a:t>Availability </a:t>
            </a:r>
            <a:r>
              <a:rPr b="1" dirty="0"/>
              <a:t>is what generates the load the score is built from.</a:t>
            </a:r>
            <a:r>
              <a:rPr lang="en-AU" b="1" dirty="0"/>
              <a:t> </a:t>
            </a:r>
            <a:r>
              <a:rPr b="1" dirty="0"/>
              <a:t>The genuinely low scores in this league belong to players barely in the rotation. </a:t>
            </a:r>
            <a:endParaRPr lang="en-AU" b="1" dirty="0"/>
          </a:p>
          <a:p>
            <a:r>
              <a:rPr b="1" dirty="0"/>
              <a:t>That</a:t>
            </a:r>
            <a:r>
              <a:rPr lang="en-AU" b="1" dirty="0"/>
              <a:t> </a:t>
            </a:r>
            <a:r>
              <a:rPr b="1" dirty="0"/>
              <a:t>is the health-selection problem showing up at the individual level.</a:t>
            </a:r>
          </a:p>
          <a:p>
            <a:endParaRPr b="1" dirty="0"/>
          </a:p>
          <a:p>
            <a:r>
              <a:rPr lang="en-AU" b="1" dirty="0"/>
              <a:t>Because </a:t>
            </a:r>
            <a:r>
              <a:rPr b="1" dirty="0"/>
              <a:t>the score is a weighted sum, any elevation decomposes into</a:t>
            </a:r>
            <a:r>
              <a:rPr lang="en-AU" b="1" dirty="0"/>
              <a:t> </a:t>
            </a:r>
            <a:r>
              <a:rPr b="1" dirty="0"/>
              <a:t>how much came from acute load, congestion or injury history. </a:t>
            </a:r>
            <a:r>
              <a:rPr lang="en-AU" b="1" dirty="0"/>
              <a:t>N</a:t>
            </a:r>
            <a:r>
              <a:rPr b="1" dirty="0" err="1"/>
              <a:t>ot</a:t>
            </a:r>
            <a:r>
              <a:rPr b="1" dirty="0"/>
              <a:t> just that a player is elevated, but which </a:t>
            </a:r>
            <a:r>
              <a:rPr lang="en-AU" b="1" dirty="0"/>
              <a:t>covariates</a:t>
            </a:r>
            <a:r>
              <a:rPr b="1" dirty="0"/>
              <a:t> put them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b="1" dirty="0"/>
              <a:t>If </a:t>
            </a:r>
            <a:r>
              <a:rPr lang="en-AU" b="1" dirty="0"/>
              <a:t>someone </a:t>
            </a:r>
            <a:r>
              <a:rPr b="1" dirty="0"/>
              <a:t>asked which limitation bothers me most</a:t>
            </a:r>
            <a:r>
              <a:rPr lang="en-AU" b="1" dirty="0"/>
              <a:t>,</a:t>
            </a:r>
            <a:r>
              <a:rPr b="1" dirty="0"/>
              <a:t> </a:t>
            </a:r>
            <a:r>
              <a:rPr lang="en-AU" b="1" dirty="0"/>
              <a:t>its </a:t>
            </a:r>
            <a:r>
              <a:rPr b="1" dirty="0"/>
              <a:t>health-gating</a:t>
            </a:r>
            <a:r>
              <a:rPr lang="en-AU" b="1" dirty="0"/>
              <a:t> &amp; training</a:t>
            </a:r>
          </a:p>
          <a:p>
            <a:endParaRPr lang="en-AU" b="1" dirty="0"/>
          </a:p>
          <a:p>
            <a:r>
              <a:rPr b="1" dirty="0"/>
              <a:t>It is not a data-volume</a:t>
            </a:r>
            <a:r>
              <a:rPr lang="en-AU" b="1" dirty="0"/>
              <a:t> </a:t>
            </a:r>
            <a:r>
              <a:rPr b="1" dirty="0"/>
              <a:t>problem and more seasons will not fix it </a:t>
            </a:r>
            <a:r>
              <a:rPr lang="en-AU" b="1" dirty="0"/>
              <a:t>.</a:t>
            </a:r>
          </a:p>
          <a:p>
            <a:endParaRPr lang="en-AU" b="1" dirty="0"/>
          </a:p>
          <a:p>
            <a:r>
              <a:rPr b="1" dirty="0"/>
              <a:t>It needs either a </a:t>
            </a:r>
            <a:r>
              <a:rPr lang="en-AU" b="1" dirty="0"/>
              <a:t>true &amp; factual source and diagnosis </a:t>
            </a:r>
            <a:r>
              <a:rPr b="1" dirty="0"/>
              <a:t>in</a:t>
            </a:r>
            <a:r>
              <a:rPr lang="en-AU" b="1" dirty="0"/>
              <a:t> </a:t>
            </a:r>
            <a:r>
              <a:rPr b="1" dirty="0"/>
              <a:t>rest allocation </a:t>
            </a:r>
            <a:r>
              <a:rPr lang="en-AU" b="1" dirty="0"/>
              <a:t>&amp; internal team information about specific training methods and plans that don’t just confound as age / tenure</a:t>
            </a:r>
            <a:r>
              <a:rPr b="1" dirty="0"/>
              <a:t>. </a:t>
            </a:r>
            <a:endParaRPr lang="en-AU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b="1" dirty="0"/>
              <a:t>In conclusion,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b="1" dirty="0"/>
              <a:t>A pooled-outcome study reports the sum of exposure and fatigue </a:t>
            </a:r>
            <a:r>
              <a:rPr lang="en-AU" b="1" dirty="0"/>
              <a:t>calling it the</a:t>
            </a:r>
            <a:r>
              <a:rPr b="1" dirty="0"/>
              <a:t> workload effect; separating them is what this design adds.</a:t>
            </a:r>
            <a:r>
              <a:rPr lang="en-AU" b="1" dirty="0"/>
              <a:t> </a:t>
            </a:r>
            <a:r>
              <a:rPr lang="en-AU" sz="1200" i="1" dirty="0">
                <a:solidFill>
                  <a:srgbClr val="333D4D"/>
                </a:solidFill>
              </a:rPr>
              <a:t>Read first point</a:t>
            </a:r>
            <a:endParaRPr dirty="0"/>
          </a:p>
          <a:p>
            <a:endParaRPr dirty="0"/>
          </a:p>
          <a:p>
            <a:r>
              <a:rPr lang="en-AU" b="1" dirty="0"/>
              <a:t>Ranking by e</a:t>
            </a:r>
            <a:r>
              <a:rPr b="1" dirty="0" err="1"/>
              <a:t>xposure</a:t>
            </a:r>
            <a:r>
              <a:rPr b="1" dirty="0"/>
              <a:t> is not a disappointing result. It is real risk, it is the </a:t>
            </a:r>
            <a:r>
              <a:rPr lang="en-AU" b="1" dirty="0"/>
              <a:t>lead</a:t>
            </a:r>
            <a:r>
              <a:rPr b="1" dirty="0"/>
              <a:t> </a:t>
            </a:r>
            <a:r>
              <a:rPr lang="en-AU" b="1" dirty="0"/>
              <a:t>to</a:t>
            </a:r>
            <a:r>
              <a:rPr b="1" dirty="0"/>
              <a:t> contact injury, and it is </a:t>
            </a:r>
            <a:r>
              <a:rPr lang="en-AU" b="1" dirty="0"/>
              <a:t>what </a:t>
            </a:r>
            <a:r>
              <a:rPr b="1" dirty="0"/>
              <a:t>load management </a:t>
            </a:r>
            <a:r>
              <a:rPr lang="en-AU" b="1" dirty="0"/>
              <a:t>needs to operate</a:t>
            </a:r>
            <a:r>
              <a:rPr b="1" dirty="0"/>
              <a:t>. </a:t>
            </a:r>
            <a:endParaRPr lang="en-AU" b="1" dirty="0"/>
          </a:p>
          <a:p>
            <a:endParaRPr dirty="0"/>
          </a:p>
          <a:p>
            <a:r>
              <a:rPr lang="en-AU" b="1" dirty="0"/>
              <a:t>One </a:t>
            </a:r>
            <a:r>
              <a:rPr b="1" dirty="0"/>
              <a:t>standard deviation of what I cannot measure moves the </a:t>
            </a:r>
            <a:r>
              <a:rPr lang="en-AU" b="1" dirty="0"/>
              <a:t>injury risk</a:t>
            </a:r>
            <a:r>
              <a:rPr b="1" dirty="0"/>
              <a:t> as much as one standard deviation of chronic load</a:t>
            </a:r>
            <a:r>
              <a:rPr lang="en-AU" dirty="0"/>
              <a:t>. </a:t>
            </a:r>
            <a:r>
              <a:rPr lang="en-AU" i="1" dirty="0"/>
              <a:t>Read last point</a:t>
            </a:r>
            <a:endParaRPr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F0AFE-CC19-9F41-8D4C-4453224975D5}" type="datetime1">
              <a:rPr lang="en-AU" smtClean="0"/>
              <a:t>12/9/2026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BEA8AE-B760-F14E-6D9D-72BFAC95549E}"/>
              </a:ext>
            </a:extLst>
          </p:cNvPr>
          <p:cNvGrpSpPr/>
          <p:nvPr userDrawn="1"/>
        </p:nvGrpSpPr>
        <p:grpSpPr>
          <a:xfrm>
            <a:off x="7620000" y="2730316"/>
            <a:ext cx="5816968" cy="5816968"/>
            <a:chOff x="7241964" y="2782711"/>
            <a:chExt cx="828823" cy="828823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ECFE1B8E-12F1-677D-F4DE-A3B516B04F97}"/>
                </a:ext>
              </a:extLst>
            </p:cNvPr>
            <p:cNvSpPr/>
            <p:nvPr/>
          </p:nvSpPr>
          <p:spPr>
            <a:xfrm flipV="1">
              <a:off x="7288447" y="2820973"/>
              <a:ext cx="739305" cy="739305"/>
            </a:xfrm>
            <a:prstGeom prst="ellipse">
              <a:avLst/>
            </a:prstGeom>
            <a:solidFill>
              <a:schemeClr val="accent2">
                <a:alpha val="3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Picture 8" descr="Basketball Generic Detailed Outline icon | Magnific (formerly Magnific)">
              <a:extLst>
                <a:ext uri="{FF2B5EF4-FFF2-40B4-BE49-F238E27FC236}">
                  <a16:creationId xmlns:a16="http://schemas.microsoft.com/office/drawing/2014/main" id="{98D97381-7D62-4BCD-0F6F-C822CD8ADB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1964" y="2782711"/>
              <a:ext cx="828823" cy="8288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47637" y="6160690"/>
            <a:ext cx="744363" cy="697310"/>
          </a:xfrm>
        </p:spPr>
        <p:txBody>
          <a:bodyPr vert="horz" lIns="91440" tIns="45720" rIns="91440" bIns="45720" rtlCol="0" anchor="ctr"/>
          <a:lstStyle>
            <a:lvl1pPr algn="ctr">
              <a:defRPr lang="en-US" sz="2800" b="1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1FF6DA9-008F-8B48-92A6-B652298478BF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48768-7800-9B48-8032-02FFEDA20D22}" type="datetime1">
              <a:rPr lang="en-AU" smtClean="0"/>
              <a:t>12/9/2026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9E3A6-BFB2-D947-8035-DA7D5A6D3FCF}" type="datetime1">
              <a:rPr lang="en-AU" smtClean="0"/>
              <a:t>12/9/2026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CA834-9FDD-5A4D-A53B-C1C355E4801B}" type="datetime1">
              <a:rPr lang="en-AU" smtClean="0"/>
              <a:t>12/9/2026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FFEA-49B0-6440-AB44-F6D61AC4E3CC}" type="datetime1">
              <a:rPr lang="en-AU" smtClean="0"/>
              <a:t>12/9/2026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590F6-1921-C840-955D-8E25AED5C2C3}" type="datetime1">
              <a:rPr lang="en-AU" smtClean="0"/>
              <a:t>12/9/2026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088E0-259B-6E4D-A718-E281BD79F598}" type="datetime1">
              <a:rPr lang="en-AU" smtClean="0"/>
              <a:t>12/9/2026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DAD5966-3916-C557-2B72-8B362ABA34F3}"/>
              </a:ext>
            </a:extLst>
          </p:cNvPr>
          <p:cNvGrpSpPr/>
          <p:nvPr userDrawn="1"/>
        </p:nvGrpSpPr>
        <p:grpSpPr>
          <a:xfrm>
            <a:off x="11342240" y="6057008"/>
            <a:ext cx="1335279" cy="1335279"/>
            <a:chOff x="7241964" y="2782711"/>
            <a:chExt cx="828823" cy="828823"/>
          </a:xfrm>
        </p:grpSpPr>
        <p:sp>
          <p:nvSpPr>
            <p:cNvPr id="6" name="Shape 2">
              <a:extLst>
                <a:ext uri="{FF2B5EF4-FFF2-40B4-BE49-F238E27FC236}">
                  <a16:creationId xmlns:a16="http://schemas.microsoft.com/office/drawing/2014/main" id="{432F31DF-FA93-7F73-F826-4D14B0D344D3}"/>
                </a:ext>
              </a:extLst>
            </p:cNvPr>
            <p:cNvSpPr/>
            <p:nvPr/>
          </p:nvSpPr>
          <p:spPr>
            <a:xfrm flipV="1">
              <a:off x="7288447" y="2820973"/>
              <a:ext cx="739305" cy="739305"/>
            </a:xfrm>
            <a:prstGeom prst="ellipse">
              <a:avLst/>
            </a:prstGeom>
            <a:solidFill>
              <a:schemeClr val="accent2">
                <a:alpha val="3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Picture 6" descr="Basketball Generic Detailed Outline icon | Magnific (formerly Magnific)">
              <a:extLst>
                <a:ext uri="{FF2B5EF4-FFF2-40B4-BE49-F238E27FC236}">
                  <a16:creationId xmlns:a16="http://schemas.microsoft.com/office/drawing/2014/main" id="{163CE036-BEBA-D75C-DA49-82FCC08122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1964" y="2782711"/>
              <a:ext cx="828823" cy="8288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>
            <a:lvl1pPr algn="ctr">
              <a:defRPr sz="28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593A-F4BA-F845-B2D0-50823751545E}" type="datetime1">
              <a:rPr lang="en-AU" smtClean="0"/>
              <a:t>12/9/2026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62369-36DE-234A-96B5-CE00A698ECDF}" type="datetime1">
              <a:rPr lang="en-AU" smtClean="0"/>
              <a:t>12/9/2026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56906-5A5C-304C-8512-E66F74D33241}" type="datetime1">
              <a:rPr lang="en-AU" smtClean="0"/>
              <a:t>12/9/2026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7B1CD-6349-074C-8626-AD07E42E1CDD}" type="datetime1">
              <a:rPr lang="en-AU" smtClean="0"/>
              <a:t>12/9/2026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0B482-33AF-0841-9A67-517C02212B0D}" type="datetime1">
              <a:rPr lang="en-AU" smtClean="0"/>
              <a:t>12/9/2026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74519"/>
            <a:ext cx="103327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lang="en-AU" sz="4400" b="1" i="0" dirty="0">
                <a:solidFill>
                  <a:srgbClr val="FFFFFF"/>
                </a:solidFill>
                <a:latin typeface="Calibri"/>
              </a:rPr>
              <a:t>Workload, Schedule Congestion,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lang="en-AU" sz="4400" b="1" i="0" dirty="0">
                <a:solidFill>
                  <a:srgbClr val="FFFFFF"/>
                </a:solidFill>
                <a:latin typeface="Calibri"/>
              </a:rPr>
              <a:t>and Injury Risk in the NBA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11880"/>
            <a:ext cx="103327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2100" b="1" i="0" dirty="0">
                <a:solidFill>
                  <a:schemeClr val="accent6"/>
                </a:solidFill>
                <a:latin typeface="Calibri"/>
              </a:rPr>
              <a:t>A time-to-event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0916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C9D4E4"/>
                </a:solidFill>
                <a:latin typeface="Calibri"/>
              </a:rPr>
              <a:t>Alex Martin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C9D4E4"/>
                </a:solidFill>
                <a:latin typeface="Calibri"/>
              </a:rPr>
              <a:t>Master of Sports Analytics  ·  La Trobe University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66EF2EC-384F-15F8-D957-3971A71F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0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Why availability is the sport's most expensive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337" y="4057650"/>
            <a:ext cx="2834642" cy="7879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00" b="0" i="1" dirty="0">
                <a:solidFill>
                  <a:srgbClr val="333D4D"/>
                </a:solidFill>
                <a:latin typeface="Calibri"/>
              </a:rPr>
              <a:t>Across five NBA seasons and 1,029 players, that is how often a new injury took someone off the floor</a:t>
            </a:r>
            <a:r>
              <a:rPr lang="en-AU" sz="1400" b="0" i="1" dirty="0">
                <a:solidFill>
                  <a:srgbClr val="333D4D"/>
                </a:solidFill>
                <a:latin typeface="Calibri"/>
              </a:rPr>
              <a:t>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868CF54-F9E4-FBDF-EEB8-ACA9266D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2931F4-C586-0458-4C0B-5F11A5399852}"/>
              </a:ext>
            </a:extLst>
          </p:cNvPr>
          <p:cNvSpPr/>
          <p:nvPr/>
        </p:nvSpPr>
        <p:spPr>
          <a:xfrm>
            <a:off x="1104618" y="2127787"/>
            <a:ext cx="2926080" cy="1572768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E4ADA7-C68A-5BFB-9553-C31FAA7D1508}"/>
              </a:ext>
            </a:extLst>
          </p:cNvPr>
          <p:cNvSpPr txBox="1"/>
          <p:nvPr/>
        </p:nvSpPr>
        <p:spPr>
          <a:xfrm>
            <a:off x="1287498" y="2292379"/>
            <a:ext cx="256032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chemeClr val="accent6"/>
                </a:solidFill>
                <a:latin typeface="Calibri"/>
              </a:rPr>
              <a:t>3,981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0C1D9-9F7E-DE05-0651-9E20433FFBB8}"/>
              </a:ext>
            </a:extLst>
          </p:cNvPr>
          <p:cNvSpPr txBox="1"/>
          <p:nvPr/>
        </p:nvSpPr>
        <p:spPr>
          <a:xfrm>
            <a:off x="1287498" y="3133627"/>
            <a:ext cx="2560320" cy="20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Injury episodes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B3458E-F028-566F-D6BC-10D75D90D757}"/>
              </a:ext>
            </a:extLst>
          </p:cNvPr>
          <p:cNvSpPr/>
          <p:nvPr/>
        </p:nvSpPr>
        <p:spPr>
          <a:xfrm>
            <a:off x="4587241" y="2127787"/>
            <a:ext cx="2926080" cy="1572768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54A26-1843-279E-78C0-F1A93385B990}"/>
              </a:ext>
            </a:extLst>
          </p:cNvPr>
          <p:cNvSpPr txBox="1"/>
          <p:nvPr/>
        </p:nvSpPr>
        <p:spPr>
          <a:xfrm>
            <a:off x="4770121" y="2292379"/>
            <a:ext cx="256032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chemeClr val="accent6"/>
                </a:solidFill>
                <a:latin typeface="Calibri"/>
              </a:rPr>
              <a:t>82 in 180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488815-7937-B74F-3BDB-B019ED5A6040}"/>
              </a:ext>
            </a:extLst>
          </p:cNvPr>
          <p:cNvSpPr txBox="1"/>
          <p:nvPr/>
        </p:nvSpPr>
        <p:spPr>
          <a:xfrm>
            <a:off x="4770121" y="3133627"/>
            <a:ext cx="2560320" cy="20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82 games in 180 days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1AD7837-D12D-3368-2536-D94BEBA58AB7}"/>
              </a:ext>
            </a:extLst>
          </p:cNvPr>
          <p:cNvSpPr/>
          <p:nvPr/>
        </p:nvSpPr>
        <p:spPr>
          <a:xfrm>
            <a:off x="8069864" y="2127787"/>
            <a:ext cx="2926080" cy="1572768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5FFB6-F7D5-E375-99B3-2997774E7239}"/>
              </a:ext>
            </a:extLst>
          </p:cNvPr>
          <p:cNvSpPr txBox="1"/>
          <p:nvPr/>
        </p:nvSpPr>
        <p:spPr>
          <a:xfrm>
            <a:off x="8252744" y="2446041"/>
            <a:ext cx="25603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400" b="1" i="0" dirty="0">
                <a:solidFill>
                  <a:schemeClr val="accent6"/>
                </a:solidFill>
                <a:latin typeface="Calibri"/>
              </a:rPr>
              <a:t>Absence != Injury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53C2D5-A9F1-FED6-AC43-0F793B765845}"/>
              </a:ext>
            </a:extLst>
          </p:cNvPr>
          <p:cNvSpPr txBox="1"/>
          <p:nvPr/>
        </p:nvSpPr>
        <p:spPr>
          <a:xfrm>
            <a:off x="8252744" y="3133627"/>
            <a:ext cx="2560320" cy="20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dirty="0">
                <a:solidFill>
                  <a:srgbClr val="6B7686"/>
                </a:solidFill>
                <a:latin typeface="Calibri"/>
              </a:rPr>
              <a:t>Teams manage it on judgement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AAE2B-8493-7FAC-46FC-94E6809D3821}"/>
              </a:ext>
            </a:extLst>
          </p:cNvPr>
          <p:cNvSpPr txBox="1"/>
          <p:nvPr/>
        </p:nvSpPr>
        <p:spPr>
          <a:xfrm>
            <a:off x="4655819" y="4057650"/>
            <a:ext cx="2834642" cy="1057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00" b="0" i="1" dirty="0">
                <a:solidFill>
                  <a:srgbClr val="333D4D"/>
                </a:solidFill>
                <a:latin typeface="Calibri"/>
              </a:rPr>
              <a:t>Eighty-two games in roughly 180 days across four time zones, with back-to-backs no team can fully avoid. The load arrives regardless.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45A11D-196C-B3DD-F121-58F913FC6B82}"/>
              </a:ext>
            </a:extLst>
          </p:cNvPr>
          <p:cNvSpPr txBox="1"/>
          <p:nvPr/>
        </p:nvSpPr>
        <p:spPr>
          <a:xfrm>
            <a:off x="8161302" y="4057650"/>
            <a:ext cx="2834642" cy="1057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00" b="0" i="1" dirty="0">
                <a:solidFill>
                  <a:srgbClr val="333D4D"/>
                </a:solidFill>
                <a:latin typeface="Calibri"/>
              </a:rPr>
              <a:t>Rest is decided nightly</a:t>
            </a:r>
            <a:r>
              <a:rPr lang="en-AU" sz="1400" b="0" i="1" dirty="0">
                <a:solidFill>
                  <a:srgbClr val="333D4D"/>
                </a:solidFill>
                <a:latin typeface="Calibri"/>
              </a:rPr>
              <a:t> based not only internal team load rules but team strategy and roster governance / politics</a:t>
            </a:r>
            <a:endParaRPr sz="1400" b="0" i="1" dirty="0">
              <a:solidFill>
                <a:srgbClr val="333D4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What we already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Three areas the field has not resolved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5604FD-4245-4D9D-98B9-405E4830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339C59-2BDE-9203-0674-F01C8037DFB9}"/>
              </a:ext>
            </a:extLst>
          </p:cNvPr>
          <p:cNvSpPr/>
          <p:nvPr/>
        </p:nvSpPr>
        <p:spPr>
          <a:xfrm>
            <a:off x="1348740" y="1805940"/>
            <a:ext cx="3123248" cy="4142232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6B3FD-B916-BDC1-52C7-36809B075B45}"/>
              </a:ext>
            </a:extLst>
          </p:cNvPr>
          <p:cNvSpPr txBox="1"/>
          <p:nvPr/>
        </p:nvSpPr>
        <p:spPr>
          <a:xfrm>
            <a:off x="1568194" y="1988820"/>
            <a:ext cx="2612171" cy="2664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Load cuts both ways.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CC81F-EC26-356E-77B7-EABAC74DEB37}"/>
              </a:ext>
            </a:extLst>
          </p:cNvPr>
          <p:cNvSpPr txBox="1"/>
          <p:nvPr/>
        </p:nvSpPr>
        <p:spPr>
          <a:xfrm>
            <a:off x="1568194" y="2968945"/>
            <a:ext cx="261217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200" b="1" i="0" dirty="0">
                <a:solidFill>
                  <a:srgbClr val="6B7686"/>
                </a:solidFill>
                <a:latin typeface="Calibri"/>
              </a:rPr>
              <a:t>Lewis, </a:t>
            </a:r>
            <a:r>
              <a:rPr lang="en-AU" sz="1200" b="1" i="0" dirty="0" err="1">
                <a:solidFill>
                  <a:srgbClr val="6B7686"/>
                </a:solidFill>
                <a:latin typeface="Calibri"/>
              </a:rPr>
              <a:t>Orringer</a:t>
            </a:r>
            <a:endParaRPr lang="en-AU" sz="1200" b="1" i="0" dirty="0">
              <a:solidFill>
                <a:srgbClr val="6B7686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A5653-3CBB-D743-7D80-0DCD62995641}"/>
              </a:ext>
            </a:extLst>
          </p:cNvPr>
          <p:cNvSpPr txBox="1"/>
          <p:nvPr/>
        </p:nvSpPr>
        <p:spPr>
          <a:xfrm>
            <a:off x="1568194" y="3405000"/>
            <a:ext cx="2612171" cy="1137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AU" sz="1200" i="1" dirty="0">
                <a:solidFill>
                  <a:srgbClr val="6B7686"/>
                </a:solidFill>
                <a:latin typeface="Calibri"/>
              </a:rPr>
              <a:t>Lewis found accumulated load raises injury odds, and </a:t>
            </a:r>
            <a:r>
              <a:rPr lang="en-AU" sz="1200" i="1" dirty="0" err="1">
                <a:solidFill>
                  <a:srgbClr val="6B7686"/>
                </a:solidFill>
                <a:latin typeface="Calibri"/>
              </a:rPr>
              <a:t>Orringer</a:t>
            </a:r>
            <a:r>
              <a:rPr lang="en-AU" sz="1200" i="1" dirty="0">
                <a:solidFill>
                  <a:srgbClr val="6B7686"/>
                </a:solidFill>
                <a:latin typeface="Calibri"/>
              </a:rPr>
              <a:t> found minutes running four to six per cent high before injury. Yet </a:t>
            </a:r>
            <a:r>
              <a:rPr lang="en-AU" sz="1200" i="1" dirty="0" err="1">
                <a:solidFill>
                  <a:srgbClr val="6B7686"/>
                </a:solidFill>
                <a:latin typeface="Calibri"/>
              </a:rPr>
              <a:t>Caparrós</a:t>
            </a:r>
            <a:r>
              <a:rPr lang="en-AU" sz="1200" i="1" dirty="0">
                <a:solidFill>
                  <a:srgbClr val="6B7686"/>
                </a:solidFill>
                <a:latin typeface="Calibri"/>
              </a:rPr>
              <a:t> found underloaded players are injured more.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F74B79D-AB85-8BDE-9F42-BE5A58C9690D}"/>
              </a:ext>
            </a:extLst>
          </p:cNvPr>
          <p:cNvSpPr/>
          <p:nvPr/>
        </p:nvSpPr>
        <p:spPr>
          <a:xfrm>
            <a:off x="4691442" y="1805940"/>
            <a:ext cx="3123248" cy="4142232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5AF15-B177-B1D5-1085-455E4BC5FABA}"/>
              </a:ext>
            </a:extLst>
          </p:cNvPr>
          <p:cNvSpPr txBox="1"/>
          <p:nvPr/>
        </p:nvSpPr>
        <p:spPr>
          <a:xfrm>
            <a:off x="4910897" y="1988820"/>
            <a:ext cx="2612171" cy="5496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Congestion is described over time, measured without 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F4B04-0875-D4A6-359C-27B0C519834D}"/>
              </a:ext>
            </a:extLst>
          </p:cNvPr>
          <p:cNvSpPr txBox="1"/>
          <p:nvPr/>
        </p:nvSpPr>
        <p:spPr>
          <a:xfrm>
            <a:off x="4910897" y="2968945"/>
            <a:ext cx="261217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200" b="1" i="0" dirty="0">
                <a:solidFill>
                  <a:srgbClr val="6B7686"/>
                </a:solidFill>
                <a:latin typeface="Calibri"/>
              </a:rPr>
              <a:t>Morikawa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0A5378-9025-2C73-8D36-28E2775902F0}"/>
              </a:ext>
            </a:extLst>
          </p:cNvPr>
          <p:cNvSpPr txBox="1"/>
          <p:nvPr/>
        </p:nvSpPr>
        <p:spPr>
          <a:xfrm>
            <a:off x="4910897" y="3405000"/>
            <a:ext cx="2612171" cy="1137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AU" sz="1200" i="1" dirty="0">
                <a:solidFill>
                  <a:srgbClr val="6B7686"/>
                </a:solidFill>
                <a:latin typeface="Calibri"/>
              </a:rPr>
              <a:t>Morikawa found a condensed season raised injury rates 42 per cent, but a binary outcome cannot say whether the background baseline increased, or the workload turned dangerous.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8747034-3BBC-B453-1D92-0AB978156C6A}"/>
              </a:ext>
            </a:extLst>
          </p:cNvPr>
          <p:cNvSpPr/>
          <p:nvPr/>
        </p:nvSpPr>
        <p:spPr>
          <a:xfrm>
            <a:off x="8034144" y="1805940"/>
            <a:ext cx="3123248" cy="4142232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8E928F-4672-C9F3-C576-50890D3CDB1F}"/>
              </a:ext>
            </a:extLst>
          </p:cNvPr>
          <p:cNvSpPr txBox="1"/>
          <p:nvPr/>
        </p:nvSpPr>
        <p:spPr>
          <a:xfrm>
            <a:off x="8253599" y="1988820"/>
            <a:ext cx="2612171" cy="8328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AU" sz="1600" b="1" dirty="0"/>
              <a:t>Prior injury is the strongest known factor, and the least decomposed</a:t>
            </a:r>
            <a:endParaRPr lang="en-AU" sz="1600" b="1" i="0" dirty="0">
              <a:solidFill>
                <a:schemeClr val="tx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FF4D52-DA16-4584-1603-988DE0A829FB}"/>
              </a:ext>
            </a:extLst>
          </p:cNvPr>
          <p:cNvSpPr txBox="1"/>
          <p:nvPr/>
        </p:nvSpPr>
        <p:spPr>
          <a:xfrm>
            <a:off x="8253599" y="2968945"/>
            <a:ext cx="261217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200" b="1" i="0">
                <a:solidFill>
                  <a:srgbClr val="6B7686"/>
                </a:solidFill>
                <a:latin typeface="Calibri"/>
              </a:defRPr>
            </a:lvl1pPr>
          </a:lstStyle>
          <a:p>
            <a:r>
              <a:rPr lang="en-AU" dirty="0"/>
              <a:t>Fulton and Hägglund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B616A4-F62C-2403-E193-A037952A1295}"/>
              </a:ext>
            </a:extLst>
          </p:cNvPr>
          <p:cNvSpPr txBox="1"/>
          <p:nvPr/>
        </p:nvSpPr>
        <p:spPr>
          <a:xfrm>
            <a:off x="8253599" y="3405000"/>
            <a:ext cx="2612171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ct val="125000"/>
              </a:lnSpc>
              <a:spcAft>
                <a:spcPts val="1400"/>
              </a:spcAft>
              <a:defRPr sz="1200" i="1">
                <a:solidFill>
                  <a:srgbClr val="6B7686"/>
                </a:solidFill>
                <a:latin typeface="Calibri"/>
              </a:defRPr>
            </a:lvl1pPr>
          </a:lstStyle>
          <a:p>
            <a:r>
              <a:rPr lang="en-AU" dirty="0"/>
              <a:t>Reported everywhere as a risk factor, rarely modelled as a repeatable event.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5D1DF0-38F5-A84E-B45F-B8A82A9F8975}"/>
              </a:ext>
            </a:extLst>
          </p:cNvPr>
          <p:cNvSpPr txBox="1"/>
          <p:nvPr/>
        </p:nvSpPr>
        <p:spPr>
          <a:xfrm>
            <a:off x="1568194" y="4898890"/>
            <a:ext cx="2560320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600" b="1" i="0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Load </a:t>
            </a:r>
            <a:r>
              <a:rPr lang="en-AU" sz="1600" b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↑ Injury</a:t>
            </a:r>
          </a:p>
          <a:p>
            <a:pPr>
              <a:spcAft>
                <a:spcPts val="600"/>
              </a:spcAft>
            </a:pPr>
            <a:r>
              <a:rPr lang="en-AU" sz="1600" b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Mins 4-6% Higher 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D7B488-4087-5634-3D62-22E8D1E68CD3}"/>
              </a:ext>
            </a:extLst>
          </p:cNvPr>
          <p:cNvSpPr txBox="1"/>
          <p:nvPr/>
        </p:nvSpPr>
        <p:spPr>
          <a:xfrm>
            <a:off x="4936822" y="4898889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600" b="1" dirty="0">
                <a:solidFill>
                  <a:schemeClr val="tx2">
                    <a:lumMod val="50000"/>
                  </a:schemeClr>
                </a:solidFill>
                <a:latin typeface="Calibri"/>
              </a:rPr>
              <a:t>Tight schedule = Injury rates </a:t>
            </a:r>
            <a:r>
              <a:rPr lang="en-AU" sz="1600" b="1" dirty="0">
                <a:solidFill>
                  <a:schemeClr val="tx2">
                    <a:lumMod val="50000"/>
                  </a:schemeClr>
                </a:solidFill>
              </a:rPr>
              <a:t>↑ 42%</a:t>
            </a:r>
            <a:endParaRPr lang="en-AU" sz="1600" b="1" dirty="0">
              <a:solidFill>
                <a:schemeClr val="tx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D77ACD-6D63-60A2-DB64-FE04A5886FA6}"/>
              </a:ext>
            </a:extLst>
          </p:cNvPr>
          <p:cNvSpPr txBox="1"/>
          <p:nvPr/>
        </p:nvSpPr>
        <p:spPr>
          <a:xfrm>
            <a:off x="8253599" y="4898888"/>
            <a:ext cx="256032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600" b="1" dirty="0"/>
              <a:t>81.4% reinjured within the same or following season </a:t>
            </a:r>
            <a:r>
              <a:rPr lang="en-AU" sz="1600" dirty="0"/>
              <a:t> (NBA hamstrings)</a:t>
            </a:r>
            <a:endParaRPr lang="en-AU" sz="1600" b="1" dirty="0">
              <a:solidFill>
                <a:schemeClr val="tx2">
                  <a:lumMod val="50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1417A5-04E2-CA98-DB53-9B68D74579CB}"/>
              </a:ext>
            </a:extLst>
          </p:cNvPr>
          <p:cNvSpPr/>
          <p:nvPr/>
        </p:nvSpPr>
        <p:spPr>
          <a:xfrm>
            <a:off x="777240" y="1891662"/>
            <a:ext cx="5120640" cy="1894523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D57C5-8A3F-2F7C-D284-5FE8C3382256}"/>
              </a:ext>
            </a:extLst>
          </p:cNvPr>
          <p:cNvSpPr txBox="1"/>
          <p:nvPr/>
        </p:nvSpPr>
        <p:spPr>
          <a:xfrm>
            <a:off x="1051560" y="2120262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200" b="1" i="0" dirty="0">
                <a:solidFill>
                  <a:srgbClr val="B2182B"/>
                </a:solidFill>
                <a:latin typeface="Calibri"/>
              </a:rPr>
              <a:t>GAP 1</a:t>
            </a:r>
            <a:endParaRPr lang="en-AU" sz="1200" b="1" i="0" dirty="0">
              <a:solidFill>
                <a:srgbClr val="6B7686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3C405-CC32-6148-B309-6A64C2BAB5D2}"/>
              </a:ext>
            </a:extLst>
          </p:cNvPr>
          <p:cNvSpPr txBox="1"/>
          <p:nvPr/>
        </p:nvSpPr>
        <p:spPr>
          <a:xfrm>
            <a:off x="1051560" y="2577462"/>
            <a:ext cx="4572000" cy="8760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AU" sz="1500" dirty="0">
                <a:solidFill>
                  <a:srgbClr val="333D4D"/>
                </a:solidFill>
              </a:rPr>
              <a:t>Injury is a timing problem modelled as a yes-or-no season outcome. A season average cannot say when risk moved, or what moved it.</a:t>
            </a:r>
            <a:endParaRPr lang="en-AU" sz="1500" b="0" i="0" dirty="0">
              <a:solidFill>
                <a:srgbClr val="333D4D"/>
              </a:solidFill>
              <a:latin typeface="Calibr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AEA08F-1B57-B2A7-3E76-FF878A3C9071}"/>
              </a:ext>
            </a:extLst>
          </p:cNvPr>
          <p:cNvSpPr/>
          <p:nvPr/>
        </p:nvSpPr>
        <p:spPr>
          <a:xfrm>
            <a:off x="6263640" y="1891662"/>
            <a:ext cx="5120640" cy="1894523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A74C71-0CDD-EFAD-E773-0E2E39DCB356}"/>
              </a:ext>
            </a:extLst>
          </p:cNvPr>
          <p:cNvSpPr txBox="1"/>
          <p:nvPr/>
        </p:nvSpPr>
        <p:spPr>
          <a:xfrm>
            <a:off x="6537960" y="2120262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200" b="1" dirty="0">
                <a:solidFill>
                  <a:srgbClr val="B2182B"/>
                </a:solidFill>
              </a:rPr>
              <a:t>GAP 2</a:t>
            </a:r>
            <a:endParaRPr lang="en-AU" sz="1200" b="1" dirty="0">
              <a:solidFill>
                <a:srgbClr val="6B768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EEF813-C6D3-BB6D-B185-0F8310AF2378}"/>
              </a:ext>
            </a:extLst>
          </p:cNvPr>
          <p:cNvSpPr txBox="1"/>
          <p:nvPr/>
        </p:nvSpPr>
        <p:spPr>
          <a:xfrm>
            <a:off x="6537960" y="2577462"/>
            <a:ext cx="4572000" cy="844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AU" sz="1500" dirty="0">
                <a:solidFill>
                  <a:srgbClr val="333D4D"/>
                </a:solidFill>
              </a:rPr>
              <a:t>Under a pooled outcome, fatigue and exposure are indistinguishable. Heavy load means more court time, and court time was earned by being fit enough to play.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gap, and what I set out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Two gaps, and the aims that follow from them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39C92-790B-9620-A3F5-21972EAF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2B2A03-50BF-39CA-E6BB-5F4D7A857201}"/>
              </a:ext>
            </a:extLst>
          </p:cNvPr>
          <p:cNvSpPr/>
          <p:nvPr/>
        </p:nvSpPr>
        <p:spPr>
          <a:xfrm>
            <a:off x="2941319" y="4014785"/>
            <a:ext cx="6309361" cy="2500315"/>
          </a:xfrm>
          <a:prstGeom prst="roundRect">
            <a:avLst>
              <a:gd name="adj" fmla="val 6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20BD9F-89DC-F380-EA6E-BC3E9ADE3CB7}"/>
              </a:ext>
            </a:extLst>
          </p:cNvPr>
          <p:cNvSpPr txBox="1"/>
          <p:nvPr/>
        </p:nvSpPr>
        <p:spPr>
          <a:xfrm>
            <a:off x="3215640" y="4204785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200" b="1" dirty="0">
                <a:solidFill>
                  <a:srgbClr val="00B050"/>
                </a:solidFill>
              </a:rPr>
              <a:t>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5640" y="4579451"/>
            <a:ext cx="5863590" cy="16714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AU" sz="1500" b="0" dirty="0">
                <a:solidFill>
                  <a:srgbClr val="333D4D"/>
                </a:solidFill>
                <a:latin typeface="Calibri"/>
              </a:rPr>
              <a:t>Model</a:t>
            </a:r>
            <a:r>
              <a:rPr sz="1500" b="0" dirty="0">
                <a:solidFill>
                  <a:srgbClr val="333D4D"/>
                </a:solidFill>
                <a:latin typeface="Calibri"/>
              </a:rPr>
              <a:t> injury as a hazard that evolves game by game</a:t>
            </a:r>
            <a:endParaRPr lang="en-AU" sz="1500" b="0" dirty="0">
              <a:solidFill>
                <a:srgbClr val="333D4D"/>
              </a:solidFill>
              <a:latin typeface="Calibri"/>
            </a:endParaRPr>
          </a:p>
          <a:p>
            <a:pPr marL="285750" indent="-285750">
              <a:lnSpc>
                <a:spcPct val="12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AU" sz="1500" b="0" dirty="0">
                <a:solidFill>
                  <a:srgbClr val="333D4D"/>
                </a:solidFill>
                <a:latin typeface="Calibri"/>
              </a:rPr>
              <a:t>Separate</a:t>
            </a:r>
            <a:r>
              <a:rPr sz="1500" b="0" dirty="0">
                <a:solidFill>
                  <a:srgbClr val="333D4D"/>
                </a:solidFill>
                <a:latin typeface="Calibri"/>
              </a:rPr>
              <a:t> fatigue from exposure using an outcome load cannot cause</a:t>
            </a:r>
            <a:endParaRPr lang="en-AU" sz="1500" dirty="0">
              <a:solidFill>
                <a:srgbClr val="333D4D"/>
              </a:solidFill>
              <a:latin typeface="Calibri"/>
            </a:endParaRPr>
          </a:p>
          <a:p>
            <a:pPr marL="285750" indent="-285750">
              <a:lnSpc>
                <a:spcPct val="12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AU" sz="1500" dirty="0">
                <a:solidFill>
                  <a:srgbClr val="333D4D"/>
                </a:solidFill>
                <a:latin typeface="Calibri"/>
              </a:rPr>
              <a:t>Test</a:t>
            </a:r>
            <a:r>
              <a:rPr sz="1500" b="0" dirty="0">
                <a:solidFill>
                  <a:srgbClr val="333D4D"/>
                </a:solidFill>
                <a:latin typeface="Calibri"/>
              </a:rPr>
              <a:t> whether risk escalates with each episode</a:t>
            </a:r>
            <a:endParaRPr lang="en-AU" sz="1500" dirty="0">
              <a:solidFill>
                <a:srgbClr val="333D4D"/>
              </a:solidFill>
              <a:latin typeface="Calibri"/>
            </a:endParaRPr>
          </a:p>
          <a:p>
            <a:pPr marL="285750" indent="-285750">
              <a:lnSpc>
                <a:spcPct val="125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AU" sz="1500" b="0" dirty="0">
                <a:solidFill>
                  <a:srgbClr val="333D4D"/>
                </a:solidFill>
                <a:latin typeface="Calibri"/>
              </a:rPr>
              <a:t>E</a:t>
            </a:r>
            <a:r>
              <a:rPr sz="1500" b="0" dirty="0">
                <a:solidFill>
                  <a:srgbClr val="333D4D"/>
                </a:solidFill>
                <a:latin typeface="Calibri"/>
              </a:rPr>
              <a:t>stablish what public data can and cannot identify.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" y="2331720"/>
            <a:ext cx="868680" cy="86868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2487168"/>
            <a:ext cx="868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30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40280"/>
            <a:ext cx="8686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500" b="1" i="0" dirty="0">
                <a:solidFill>
                  <a:schemeClr val="accent6"/>
                </a:solidFill>
                <a:latin typeface="Calibri"/>
              </a:rPr>
              <a:t>PART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2606040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4000" b="1" i="0" dirty="0">
                <a:solidFill>
                  <a:srgbClr val="FFFFFF"/>
                </a:solidFill>
                <a:latin typeface="Calibri"/>
              </a:rPr>
              <a:t>How the model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429000"/>
            <a:ext cx="89611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C9D4E4"/>
                </a:solidFill>
                <a:latin typeface="Calibri"/>
              </a:rPr>
              <a:t>Five seasons of public data, and the design decisions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C2D74-57F5-2340-600B-7AF812F6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0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Five NBA seasons, 2021-22 to 2025-26, entirely public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9684" y="2114169"/>
            <a:ext cx="2926080" cy="1572768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032564" y="2278761"/>
            <a:ext cx="256032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chemeClr val="accent6"/>
                </a:solidFill>
                <a:latin typeface="Calibri"/>
              </a:rPr>
              <a:t>176,202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2564" y="3120009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player-game intervals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8644" y="2114169"/>
            <a:ext cx="2423160" cy="1572768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141524" y="2278761"/>
            <a:ext cx="205740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chemeClr val="accent6"/>
                </a:solidFill>
                <a:latin typeface="Calibri"/>
              </a:rPr>
              <a:t>1,029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1524" y="3120009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players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64684" y="2114169"/>
            <a:ext cx="2423160" cy="1572768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7747564" y="2278761"/>
            <a:ext cx="205740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rgbClr val="B2182B"/>
                </a:solidFill>
                <a:latin typeface="Calibri"/>
              </a:rPr>
              <a:t>3,981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7564" y="3120009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new injury episodes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NBA Stats API —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game logs, rosters, careers, schedule, travel, player tracking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Official injury reports —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filed every 30 minutes pre-game, ~3,000 filings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The unit of analysis is the player-game,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not the player and not the season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D70F304-3D8E-ACAB-CA26-C6C0B6F1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What counts as an injury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Free text on an official form, turned into an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3383280" cy="242316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28346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4000" b="1" i="0" dirty="0">
                <a:solidFill>
                  <a:schemeClr val="accent6"/>
                </a:solidFill>
                <a:latin typeface="Calibri"/>
              </a:rPr>
              <a:t>2,500+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4436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500" b="1" i="0" dirty="0">
                <a:solidFill>
                  <a:srgbClr val="1B2A4A"/>
                </a:solidFill>
                <a:latin typeface="Calibri"/>
              </a:rPr>
              <a:t>distinct reason strings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11296"/>
            <a:ext cx="2834640" cy="464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Rough template: "Injury/Illness - Left Ankle; Sprain"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03120"/>
            <a:ext cx="3383280" cy="242316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4709159" y="2286000"/>
            <a:ext cx="28346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4000" b="1" i="0" dirty="0">
                <a:solidFill>
                  <a:schemeClr val="accent6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94436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500" b="1" i="0" dirty="0">
                <a:solidFill>
                  <a:srgbClr val="1B2A4A"/>
                </a:solidFill>
                <a:latin typeface="Calibri"/>
              </a:rPr>
              <a:t>IOC axes, kept separate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511296"/>
            <a:ext cx="2834640" cy="464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Body region, tissue type, mechanism, severity.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03120"/>
            <a:ext cx="3383280" cy="242316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366760" y="2286000"/>
            <a:ext cx="28346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4000" b="1" i="0" dirty="0">
                <a:solidFill>
                  <a:schemeClr val="accent6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94436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500" b="1" i="0" dirty="0">
                <a:solidFill>
                  <a:srgbClr val="1B2A4A"/>
                </a:solidFill>
                <a:latin typeface="Calibri"/>
              </a:rPr>
              <a:t>mechanism 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11296"/>
            <a:ext cx="2834640" cy="781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Cut on the IOC mechanism axis</a:t>
            </a:r>
            <a:r>
              <a:rPr lang="en-AU" sz="1300" dirty="0">
                <a:solidFill>
                  <a:srgbClr val="6B7686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AU" sz="1300" b="0" i="1" dirty="0">
                <a:solidFill>
                  <a:srgbClr val="6B7686"/>
                </a:solidFill>
                <a:latin typeface="Calibri"/>
              </a:rPr>
              <a:t>(Overuse Symptom</a:t>
            </a:r>
            <a:r>
              <a:rPr lang="en-AU" sz="1300" i="1" dirty="0">
                <a:solidFill>
                  <a:srgbClr val="6B7686"/>
                </a:solidFill>
                <a:latin typeface="Calibri"/>
              </a:rPr>
              <a:t>, Overuse Pathology, Acute noncontact, Acute Impact)</a:t>
            </a:r>
            <a:endParaRPr lang="en-AU" sz="1300" b="0" i="1" dirty="0">
              <a:solidFill>
                <a:srgbClr val="6B7686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709160"/>
            <a:ext cx="10607040" cy="67564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1051560" y="4892040"/>
            <a:ext cx="10058400" cy="284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rgbClr val="B2182B"/>
                </a:solidFill>
                <a:latin typeface="Calibri"/>
              </a:rPr>
              <a:t>The tiers follow the IOC consensus, therefore variations in the second and third step of classification can affect results.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8EBF835-3747-388E-5C02-BDAC5D500533}"/>
              </a:ext>
            </a:extLst>
          </p:cNvPr>
          <p:cNvSpPr/>
          <p:nvPr/>
        </p:nvSpPr>
        <p:spPr>
          <a:xfrm>
            <a:off x="549027" y="1857798"/>
            <a:ext cx="456424" cy="45642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C39FD-B382-BF50-79D1-F259FC26DD61}"/>
              </a:ext>
            </a:extLst>
          </p:cNvPr>
          <p:cNvSpPr txBox="1"/>
          <p:nvPr/>
        </p:nvSpPr>
        <p:spPr>
          <a:xfrm>
            <a:off x="549027" y="1930728"/>
            <a:ext cx="4564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D6030D-02FB-B9DF-994B-DEC67DE1BDF1}"/>
              </a:ext>
            </a:extLst>
          </p:cNvPr>
          <p:cNvSpPr/>
          <p:nvPr/>
        </p:nvSpPr>
        <p:spPr>
          <a:xfrm>
            <a:off x="4218657" y="1861284"/>
            <a:ext cx="456424" cy="45642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259A0-6A07-19EB-99A9-BA1EB11D563A}"/>
              </a:ext>
            </a:extLst>
          </p:cNvPr>
          <p:cNvSpPr txBox="1"/>
          <p:nvPr/>
        </p:nvSpPr>
        <p:spPr>
          <a:xfrm>
            <a:off x="4218657" y="1934214"/>
            <a:ext cx="4564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5EB9EC8-6EB8-B58C-FE5B-1EC91C2286FC}"/>
              </a:ext>
            </a:extLst>
          </p:cNvPr>
          <p:cNvSpPr/>
          <p:nvPr/>
        </p:nvSpPr>
        <p:spPr>
          <a:xfrm>
            <a:off x="7889451" y="1857798"/>
            <a:ext cx="456424" cy="45642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27BB0A-12C9-E62E-A913-8717456F117F}"/>
              </a:ext>
            </a:extLst>
          </p:cNvPr>
          <p:cNvSpPr txBox="1"/>
          <p:nvPr/>
        </p:nvSpPr>
        <p:spPr>
          <a:xfrm>
            <a:off x="7889451" y="1930728"/>
            <a:ext cx="45642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b="1" dirty="0">
                <a:solidFill>
                  <a:srgbClr val="FFFFFF"/>
                </a:solidFill>
                <a:latin typeface="Calibri"/>
              </a:rPr>
              <a:t>3</a:t>
            </a:r>
            <a:endParaRPr lang="en-AU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8FD0F3F-126B-5200-DBDF-1554A50F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Why survival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A binary outcome cannot answer when, or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5120640" cy="2987604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" y="2377440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200" b="1" i="0" dirty="0">
                <a:solidFill>
                  <a:srgbClr val="B2182B"/>
                </a:solidFill>
                <a:latin typeface="Calibri"/>
              </a:rPr>
              <a:t>THE USUAL APPROACH</a:t>
            </a:r>
            <a:endParaRPr lang="en-AU" sz="1200" b="1" i="0" dirty="0">
              <a:solidFill>
                <a:srgbClr val="6B768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1560" y="2834640"/>
            <a:ext cx="45720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Injured this season, yes or no.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5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One row per player per season.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5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Collapses a whole year of exposure into a single number, so it cannot say when risk moved or what moved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148840"/>
            <a:ext cx="5120640" cy="2987604"/>
          </a:xfrm>
          <a:prstGeom prst="roundRect">
            <a:avLst>
              <a:gd name="adj" fmla="val 6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537960" y="2377440"/>
            <a:ext cx="4572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200" b="1" i="0" dirty="0">
                <a:solidFill>
                  <a:srgbClr val="00B050"/>
                </a:solidFill>
                <a:latin typeface="Calibri"/>
              </a:rPr>
              <a:t>THIS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834640"/>
            <a:ext cx="457200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Hazard that moves game by game.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5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One row per player per game.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5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Covariates update at every fixture, so the model can locate risk in time and attribute it to what 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10607040" cy="652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700" b="1" i="0" dirty="0">
                <a:solidFill>
                  <a:srgbClr val="1B2A4A"/>
                </a:solidFill>
                <a:latin typeface="Calibri"/>
              </a:rPr>
              <a:t>The question changes from “did this player get injured” to “how high is their risk currently?</a:t>
            </a:r>
            <a:r>
              <a:rPr lang="en-AU" sz="1700" b="1" dirty="0">
                <a:solidFill>
                  <a:srgbClr val="1B2A4A"/>
                </a:solidFill>
                <a:latin typeface="Calibri"/>
              </a:rPr>
              <a:t> </a:t>
            </a:r>
            <a:r>
              <a:rPr lang="en-AU" sz="1700" b="1" i="0" dirty="0">
                <a:solidFill>
                  <a:srgbClr val="1B2A4A"/>
                </a:solidFill>
                <a:latin typeface="Calibri"/>
              </a:rPr>
              <a:t>what was happening right before it?”.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1C6F0C9-44D2-C5DB-2246-436B5CB0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Who is in the comparison pool, and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Every injured player leaves the risk set, then rejoins it</a:t>
            </a:r>
          </a:p>
        </p:txBody>
      </p:sp>
      <p:pic>
        <p:nvPicPr>
          <p:cNvPr id="4" name="Picture 3" descr="P6_risk_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198" y="1704594"/>
            <a:ext cx="10063298" cy="469620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1D33D-FCC3-CBA2-E99A-25057994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Cox proportional hazards, in counting-process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10607040" cy="109728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51560" y="2304288"/>
            <a:ext cx="100584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2800" b="1" i="0" dirty="0">
                <a:solidFill>
                  <a:schemeClr val="accent6"/>
                </a:solidFill>
                <a:latin typeface="Calibri"/>
              </a:rPr>
              <a:t>h(t | X)  =  h₀ₛ(t) · exp(β′X(t))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01568"/>
            <a:ext cx="1060704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Baseline hazard h₀ₛ(t) is left unspecified —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no assumption about the shape of risk across a season, which suits a calendar nothing standard describes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Stratified by season —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the COVID-affected seasons had a different shape; I assume workload acts the same way each year, not that each year is equally dangerous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Clustered on player —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LeBron's 300+ rows are one body observed repeatedly, not 300 independent 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577840"/>
            <a:ext cx="10607040" cy="82296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051560" y="577900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500" b="1" i="0" dirty="0">
                <a:solidFill>
                  <a:srgbClr val="B2182B"/>
                </a:solidFill>
                <a:latin typeface="Calibri"/>
              </a:rPr>
              <a:t>Because the baseline cancels from a ratio, the model identifies relative risk between players — not anyone's absolute probability.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6391D2-DEF9-C3A6-F2AA-A65D318B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problem with every workload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Including, at first, mine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10607040" cy="137160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8447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2200" b="1" i="0" dirty="0">
                <a:solidFill>
                  <a:srgbClr val="B2182B"/>
                </a:solidFill>
                <a:latin typeface="Calibri"/>
              </a:rPr>
              <a:t>A player carrying heavy load is on court more… was picked to be on court because he was fit enough to sustain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94760"/>
            <a:ext cx="10607040" cy="19186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Explanation 1 -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fatigue. Load accumulates; tissue fails. The causal story.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Explanation 2 -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exposure and selection. More court time means more of everything happens to you, and healthy players get more court time.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Both produce the same hazard ratio.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No amount of covariate adjustment separates them, because the confounder is the exposure itself.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2ACB6-C241-779C-EB42-3274F71F7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test: an outcome load cannot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If fatigue is real, the effect must depend on injury 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2514600" cy="288036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96695" y="2331720"/>
            <a:ext cx="2103120" cy="626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chemeClr val="accent6"/>
                </a:solidFill>
                <a:latin typeface="Calibri"/>
              </a:rPr>
              <a:t>Overuse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chemeClr val="accent6"/>
                </a:solidFill>
                <a:latin typeface="Calibri"/>
              </a:rPr>
              <a:t>diagnosed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5" y="3154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200" b="1" i="0" dirty="0">
                <a:solidFill>
                  <a:srgbClr val="6B7686"/>
                </a:solidFill>
                <a:latin typeface="Calibri"/>
              </a:rPr>
              <a:t>429 episodes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54787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AU" sz="1200" b="0" i="1" dirty="0">
                <a:solidFill>
                  <a:srgbClr val="6B7686"/>
                </a:solidFill>
                <a:latin typeface="Calibri"/>
              </a:rPr>
              <a:t>Tendinopathy, stress fracture, </a:t>
            </a:r>
            <a:r>
              <a:rPr lang="en-AU" sz="1200" b="0" i="1" dirty="0" err="1">
                <a:solidFill>
                  <a:srgbClr val="6B7686"/>
                </a:solidFill>
                <a:latin typeface="Calibri"/>
              </a:rPr>
              <a:t>fasciopathy</a:t>
            </a:r>
            <a:endParaRPr lang="en-AU" sz="1200" b="0" i="1" dirty="0">
              <a:solidFill>
                <a:srgbClr val="6B768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5" y="438912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333D4D"/>
                </a:solidFill>
                <a:latin typeface="Calibri"/>
              </a:rPr>
              <a:t>A named pathology. Load should drive this hardest.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48840"/>
            <a:ext cx="2514600" cy="288036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3694176" y="2331720"/>
            <a:ext cx="2103120" cy="626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chemeClr val="accent6"/>
                </a:solidFill>
                <a:latin typeface="Calibri"/>
              </a:rPr>
              <a:t>Overuse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chemeClr val="accent6"/>
                </a:solidFill>
                <a:latin typeface="Calibri"/>
              </a:rPr>
              <a:t>symptom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3154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200" b="1" i="0" dirty="0">
                <a:solidFill>
                  <a:srgbClr val="6B7686"/>
                </a:solidFill>
                <a:latin typeface="Calibri"/>
              </a:rPr>
              <a:t>1,351 episodes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354787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AU" sz="1200" b="0" i="1" dirty="0">
                <a:solidFill>
                  <a:srgbClr val="6B7686"/>
                </a:solidFill>
                <a:latin typeface="Calibri"/>
              </a:rPr>
              <a:t>"Soreness", "tightness", "spasm"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438912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333D4D"/>
                </a:solidFill>
                <a:latin typeface="Calibri"/>
              </a:rPr>
              <a:t>Repetitive mechanism, but nothing diagnosed.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48840"/>
            <a:ext cx="2514600" cy="288036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6391656" y="2331720"/>
            <a:ext cx="2103120" cy="626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chemeClr val="accent6"/>
                </a:solidFill>
                <a:latin typeface="Calibri"/>
              </a:rPr>
              <a:t>Acute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chemeClr val="accent6"/>
                </a:solidFill>
                <a:latin typeface="Calibri"/>
              </a:rPr>
              <a:t>non-contact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3154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200" b="1" i="0" dirty="0">
                <a:solidFill>
                  <a:srgbClr val="6B7686"/>
                </a:solidFill>
                <a:latin typeface="Calibri"/>
              </a:rPr>
              <a:t>1,442 episodes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54787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AU" sz="1200" b="0" i="1" dirty="0">
                <a:solidFill>
                  <a:srgbClr val="6B7686"/>
                </a:solidFill>
                <a:latin typeface="Calibri"/>
              </a:rPr>
              <a:t>Strains, sprains, non-contact tears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438912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333D4D"/>
                </a:solidFill>
                <a:latin typeface="Calibri"/>
              </a:rPr>
              <a:t>Fatigue can plausibly set these 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2148840"/>
            <a:ext cx="2514600" cy="288036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9089136" y="233172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rgbClr val="B2182B"/>
                </a:solidFill>
                <a:latin typeface="Calibri"/>
              </a:rPr>
              <a:t>Acute impact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rgbClr val="B2182B"/>
                </a:solidFill>
                <a:latin typeface="Calibri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315468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200" b="1" i="0" dirty="0">
                <a:solidFill>
                  <a:srgbClr val="6B7686"/>
                </a:solidFill>
                <a:latin typeface="Calibri"/>
              </a:rPr>
              <a:t>604 episodes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547872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AU" sz="1200" b="0" i="1" dirty="0">
                <a:solidFill>
                  <a:srgbClr val="6B7686"/>
                </a:solidFill>
                <a:latin typeface="Calibri"/>
              </a:rPr>
              <a:t>Finger, eye, face, concussion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438912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333D4D"/>
                </a:solidFill>
                <a:latin typeface="Calibri"/>
              </a:rPr>
              <a:t>Contact. Load cannot cause these.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49240"/>
            <a:ext cx="10607040" cy="105156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1051560" y="5532120"/>
            <a:ext cx="10058400" cy="6298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AU" sz="1700" b="1" i="0" dirty="0">
                <a:solidFill>
                  <a:srgbClr val="B2182B"/>
                </a:solidFill>
                <a:latin typeface="Calibri"/>
              </a:rPr>
              <a:t>If workload predicts the fourth column as strongly as the first 3, I am measuring exposure more than what I can reasonably factor out to fatigue. I am measuring court time.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9AAFE194-F2AF-96B7-F9B9-B5BB227C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77240" y="2331720"/>
            <a:ext cx="868680" cy="86868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2487168"/>
            <a:ext cx="868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3000" b="1" i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40280"/>
            <a:ext cx="8686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500" b="1" i="0" dirty="0">
                <a:solidFill>
                  <a:schemeClr val="accent6"/>
                </a:solidFill>
                <a:latin typeface="Calibri"/>
              </a:rPr>
              <a:t>PART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2606040"/>
            <a:ext cx="8961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4000" b="1" i="0" dirty="0">
                <a:solidFill>
                  <a:srgbClr val="FFFFFF"/>
                </a:solidFill>
                <a:latin typeface="Calibri"/>
              </a:rPr>
              <a:t>What the data said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429000"/>
            <a:ext cx="89611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C9D4E4"/>
                </a:solidFill>
                <a:latin typeface="Calibri"/>
              </a:rPr>
              <a:t>What do our headline results look like?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7AFE4B-545F-A3CC-B04C-E287BF8E4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0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Every domain earns its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Discrimination improves at each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48840"/>
            <a:ext cx="3383280" cy="2148840"/>
          </a:xfrm>
          <a:prstGeom prst="roundRect">
            <a:avLst>
              <a:gd name="adj" fmla="val 6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33271" y="235915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b="1" i="0" dirty="0">
                <a:solidFill>
                  <a:srgbClr val="6B7686"/>
                </a:solidFill>
                <a:latin typeface="Calibri"/>
              </a:rPr>
              <a:t>Model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7249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600" b="1" i="0" dirty="0">
                <a:solidFill>
                  <a:srgbClr val="1B2A4A"/>
                </a:solidFill>
                <a:latin typeface="Calibri"/>
              </a:rPr>
              <a:t>Workload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3291840"/>
            <a:ext cx="288036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3800" b="1" i="0" dirty="0">
                <a:solidFill>
                  <a:srgbClr val="90B14A"/>
                </a:solidFill>
                <a:latin typeface="Calibri"/>
              </a:rPr>
              <a:t>0.675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48840"/>
            <a:ext cx="3383280" cy="2148840"/>
          </a:xfrm>
          <a:prstGeom prst="roundRect">
            <a:avLst>
              <a:gd name="adj" fmla="val 6000"/>
            </a:avLst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4690872" y="235915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b="1" i="0" dirty="0">
                <a:solidFill>
                  <a:srgbClr val="6B7686"/>
                </a:solidFill>
                <a:latin typeface="Calibri"/>
              </a:rPr>
              <a:t>Model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7249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600" b="1" i="0" dirty="0">
                <a:solidFill>
                  <a:srgbClr val="1B2A4A"/>
                </a:solidFill>
                <a:latin typeface="Calibri"/>
              </a:rPr>
              <a:t>+ Schedule congestion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3291840"/>
            <a:ext cx="288036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3800" b="1" i="0" dirty="0">
                <a:solidFill>
                  <a:schemeClr val="accent3">
                    <a:lumMod val="75000"/>
                  </a:schemeClr>
                </a:solidFill>
                <a:latin typeface="Calibri"/>
              </a:rPr>
              <a:t>0.685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148840"/>
            <a:ext cx="3383280" cy="2148840"/>
          </a:xfrm>
          <a:prstGeom prst="roundRect">
            <a:avLst>
              <a:gd name="adj" fmla="val 6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b="1" i="0" dirty="0">
                <a:solidFill>
                  <a:srgbClr val="6B7686"/>
                </a:solidFill>
                <a:latin typeface="Calibri"/>
              </a:rPr>
              <a:t>Model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7249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600" b="1" i="0" dirty="0">
                <a:solidFill>
                  <a:srgbClr val="1B2A4A"/>
                </a:solidFill>
                <a:latin typeface="Calibri"/>
              </a:rPr>
              <a:t>+ Player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3291840"/>
            <a:ext cx="288036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3800" b="1" i="0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0.707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1200" b="1" i="0" dirty="0">
                <a:solidFill>
                  <a:srgbClr val="6B7686"/>
                </a:solidFill>
                <a:latin typeface="Calibri"/>
              </a:rPr>
              <a:t>CONCORDANCE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dirty="0">
                <a:solidFill>
                  <a:srgbClr val="333D4D"/>
                </a:solidFill>
                <a:latin typeface="Calibri"/>
              </a:rPr>
              <a:t>0.707 means: given two comparable player-games, the model ranks the one that actually got injured as higher risk about 71% of the time. Chance is 50%.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dirty="0">
                <a:solidFill>
                  <a:srgbClr val="333D4D"/>
                </a:solidFill>
                <a:latin typeface="Calibri"/>
              </a:rPr>
              <a:t>Built entirely from public box-score and schedule data. I read that as close to the honest ceiling, and establishing where the ceiling sits is itself useful.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7869872-694B-94B1-3DF5-A5F4FE83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headline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Hazard ratio per one standard deviation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246120" cy="1572768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288036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chemeClr val="accent6"/>
                </a:solidFill>
                <a:latin typeface="Calibri"/>
              </a:rPr>
              <a:t>1.76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chronic load, 28-day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(95% CI 1.59 to 1.94)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011680"/>
            <a:ext cx="3246120" cy="1572768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4434840" y="2176272"/>
            <a:ext cx="288036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chemeClr val="accent6"/>
                </a:solidFill>
                <a:latin typeface="Calibri"/>
              </a:rPr>
              <a:t>1.53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0175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in-game load, 2 games 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011680"/>
            <a:ext cx="3657600" cy="1572768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accent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09559" y="2176272"/>
            <a:ext cx="329184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chemeClr val="accent6"/>
                </a:solidFill>
                <a:latin typeface="Calibri"/>
              </a:rPr>
              <a:t>1.29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30175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acute load, 7-day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77639"/>
            <a:ext cx="10607040" cy="210312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200" b="1" i="0" dirty="0">
                <a:solidFill>
                  <a:srgbClr val="6B7686"/>
                </a:solidFill>
                <a:latin typeface="Calibri"/>
              </a:rPr>
              <a:t>AND THREE RESULTS I DO NOT INTERPRET CAUSALLY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9966960" cy="9468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AU" sz="1500" dirty="0">
                <a:solidFill>
                  <a:srgbClr val="333D4D"/>
                </a:solidFill>
                <a:latin typeface="Calibri"/>
              </a:rPr>
              <a:t>Back-to-back (0.89), road trip (0.81) and recent return (0.80) all read protective. Playing the second night of a back-to-back is not safer, coaches rest players who are carrying something.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lang="en-AU" sz="1500" dirty="0">
                <a:solidFill>
                  <a:srgbClr val="333D4D"/>
                </a:solidFill>
                <a:latin typeface="Calibri"/>
              </a:rPr>
              <a:t>Team days rest (0.77) is the exception: protective, and exogenous because every team-mate shares it on a given date.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F33C699-C237-297B-30DB-A1ED82B1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test result, part one: chronic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The same model, run separately on each injury tier</a:t>
            </a:r>
          </a:p>
        </p:txBody>
      </p:sp>
      <p:pic>
        <p:nvPicPr>
          <p:cNvPr id="4" name="Picture 3" descr="P1a_chronic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300" y="1658874"/>
            <a:ext cx="8413094" cy="474192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42FC3-425C-8897-3E6E-61C9C715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test result, part two: acute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Add the second series, and the tiers finally separate</a:t>
            </a:r>
          </a:p>
        </p:txBody>
      </p:sp>
      <p:pic>
        <p:nvPicPr>
          <p:cNvPr id="4" name="Picture 3" descr="P1_negative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300" y="1658874"/>
            <a:ext cx="8413094" cy="474192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7C972-9D05-F653-B5B7-B306E08FF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89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dirty="0">
                <a:solidFill>
                  <a:srgbClr val="1B2A4A"/>
                </a:solidFill>
                <a:latin typeface="Calibri"/>
              </a:rPr>
              <a:t>T</a:t>
            </a: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he model splits in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Not a failure of the hypothesis — a decomposition of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10312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300" b="1" dirty="0">
                <a:solidFill>
                  <a:srgbClr val="B2182B"/>
                </a:solidFill>
                <a:latin typeface="Calibri"/>
              </a:rPr>
              <a:t>EXPOSURE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61488"/>
            <a:ext cx="4480560" cy="2384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Chronic 28-day load, career history, season phase.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5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Raises the hazard of everything that can happen on a court, including what load cannot cause. For contact injury, exposure IS the causal route.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5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It is also the thing load management </a:t>
            </a:r>
            <a:r>
              <a:rPr lang="en-AU" sz="1500" dirty="0">
                <a:solidFill>
                  <a:srgbClr val="333D4D"/>
                </a:solidFill>
                <a:latin typeface="Calibri"/>
              </a:rPr>
              <a:t>controls</a:t>
            </a: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103120"/>
            <a:ext cx="5120640" cy="3291840"/>
          </a:xfrm>
          <a:prstGeom prst="roundRect">
            <a:avLst>
              <a:gd name="adj" fmla="val 6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583680" y="2331720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300" b="1" i="0" dirty="0">
                <a:solidFill>
                  <a:srgbClr val="00B050"/>
                </a:solidFill>
                <a:latin typeface="Calibri"/>
              </a:rPr>
              <a:t>FATIGUE 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61488"/>
            <a:ext cx="4480560" cy="2384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Acute 7-day load, and only where a pathology was diagnosed.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5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1.90 on diagnosed overuse against 1.22 on the control. </a:t>
            </a:r>
            <a:r>
              <a:rPr lang="en-AU" sz="1500" dirty="0">
                <a:solidFill>
                  <a:srgbClr val="333D4D"/>
                </a:solidFill>
                <a:latin typeface="Calibri"/>
              </a:rPr>
              <a:t>F</a:t>
            </a:r>
            <a:r>
              <a:rPr lang="en-AU" sz="1500" b="0" i="0" dirty="0" err="1">
                <a:solidFill>
                  <a:srgbClr val="333D4D"/>
                </a:solidFill>
                <a:latin typeface="Calibri"/>
              </a:rPr>
              <a:t>ar</a:t>
            </a: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 better identified.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5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500" b="0" i="0" dirty="0">
                <a:solidFill>
                  <a:srgbClr val="333D4D"/>
                </a:solidFill>
                <a:latin typeface="Calibri"/>
              </a:rPr>
              <a:t>The part you can defend as physiology.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532120"/>
            <a:ext cx="10607040" cy="992858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1097280" y="5715000"/>
            <a:ext cx="10058400" cy="5927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AU" sz="1600" b="1" i="0" dirty="0">
                <a:solidFill>
                  <a:srgbClr val="1B2A4A"/>
                </a:solidFill>
                <a:latin typeface="Calibri"/>
              </a:rPr>
              <a:t>No pooled-outcome (no mechanism breakdown) study can separate these, because without a control tier they are observationally identical. That separation is the contribution.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D4FA7ED-41D0-8FC5-4D29-F41AFBF47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1059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The season gets more dangerous. Workload does not.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011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Two different claims, and only a time-to-event model separates them</a:t>
            </a:r>
          </a:p>
        </p:txBody>
      </p:sp>
      <p:pic>
        <p:nvPicPr>
          <p:cNvPr id="4" name="Picture 3" descr="P3_baseline_ha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11324"/>
            <a:ext cx="5950938" cy="37108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08778" y="2257044"/>
            <a:ext cx="4205677" cy="3862098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7510530" y="2503932"/>
            <a:ext cx="3637506" cy="3344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Background risk rises </a:t>
            </a:r>
            <a:r>
              <a:rPr lang="en-AU" sz="1400" b="1" i="0" dirty="0">
                <a:solidFill>
                  <a:srgbClr val="333D4D"/>
                </a:solidFill>
                <a:latin typeface="Calibri"/>
              </a:rPr>
              <a:t>~1.7x </a:t>
            </a: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by games 55-75.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But covariate effects stay constant throughout.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So the impact of the calendar changes, not the danger of a given workload throughout the season.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That points to schedule-level fixes, not individual minute caps.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A4F9A-0E3D-1D20-AF9C-4A60D1C8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Some players really are more fragile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And the model explains two thirds of why</a:t>
            </a:r>
          </a:p>
        </p:txBody>
      </p:sp>
      <p:pic>
        <p:nvPicPr>
          <p:cNvPr id="4" name="Picture 3" descr="P4_frailty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4594"/>
            <a:ext cx="6583680" cy="37108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704594"/>
            <a:ext cx="3657600" cy="4131762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8028431" y="1933194"/>
            <a:ext cx="3108960" cy="37126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Unadjusted, the most injury-prone players carry </a:t>
            </a:r>
            <a:r>
              <a:rPr lang="en-AU" sz="1400" b="1" i="0" dirty="0">
                <a:solidFill>
                  <a:srgbClr val="333D4D"/>
                </a:solidFill>
                <a:latin typeface="Calibri"/>
              </a:rPr>
              <a:t>~12.4x </a:t>
            </a: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the hazard of the least.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With covariates, that falls to </a:t>
            </a:r>
            <a:r>
              <a:rPr lang="en-AU" sz="1400" b="1" i="0" dirty="0">
                <a:solidFill>
                  <a:srgbClr val="333D4D"/>
                </a:solidFill>
                <a:latin typeface="Calibri"/>
              </a:rPr>
              <a:t>4.2x</a:t>
            </a: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Player history does most of the work - career games missed, tenure, prior episodes.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1 SD of what I cannot measure = </a:t>
            </a:r>
            <a:r>
              <a:rPr lang="en-AU" sz="1400" b="1" i="0" dirty="0">
                <a:solidFill>
                  <a:srgbClr val="333D4D"/>
                </a:solidFill>
                <a:latin typeface="Calibri"/>
              </a:rPr>
              <a:t>1.75x</a:t>
            </a: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1 SD of chronic load = </a:t>
            </a:r>
            <a:r>
              <a:rPr lang="en-AU" sz="1400" b="1" i="0" dirty="0">
                <a:solidFill>
                  <a:srgbClr val="333D4D"/>
                </a:solidFill>
                <a:latin typeface="Calibri"/>
              </a:rPr>
              <a:t>1.76x</a:t>
            </a:r>
            <a:endParaRPr lang="en-AU" sz="1400" b="0" i="0" dirty="0">
              <a:solidFill>
                <a:srgbClr val="333D4D"/>
              </a:solidFill>
              <a:latin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54B1C-31DC-EB6B-1EC3-0BC57AA8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Does it survive contact with new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Two hold-outs that fail in different 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246120" cy="1572768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288036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rgbClr val="6B7686"/>
                </a:solidFill>
                <a:latin typeface="Calibri"/>
              </a:rPr>
              <a:t>0.707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apparent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(scored on its own data)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011680"/>
            <a:ext cx="3246120" cy="1572768"/>
          </a:xfrm>
          <a:prstGeom prst="roundRect">
            <a:avLst>
              <a:gd name="adj" fmla="val 6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4434840" y="2176272"/>
            <a:ext cx="288036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rgbClr val="00B050"/>
                </a:solidFill>
                <a:latin typeface="Calibri"/>
              </a:rPr>
              <a:t>0.713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01752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unseen season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(2025-26 held out)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011680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7909559" y="2176272"/>
            <a:ext cx="329184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AU" sz="4600" b="1" i="0" dirty="0">
                <a:solidFill>
                  <a:srgbClr val="FDF100"/>
                </a:solidFill>
                <a:latin typeface="Calibri"/>
              </a:rPr>
              <a:t>0.704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30175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unseen players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AU" sz="1300" b="0" i="0" dirty="0">
                <a:solidFill>
                  <a:srgbClr val="6B7686"/>
                </a:solidFill>
                <a:latin typeface="Calibri"/>
              </a:rPr>
              <a:t>(player-grouped CV)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10607040" cy="17647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It does not drop at all.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On the unseen season it scores slightly higher than on its own training data. The temporal split would expose a model that only worked in its training seasons; the player split would expose one that </a:t>
            </a:r>
            <a:r>
              <a:rPr lang="en-AU" sz="1700" dirty="0" err="1">
                <a:solidFill>
                  <a:srgbClr val="333D4D"/>
                </a:solidFill>
                <a:latin typeface="Calibri"/>
              </a:rPr>
              <a:t>memorised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 individuals. Neither did.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lang="en-AU" sz="1700" b="1" dirty="0">
                <a:solidFill>
                  <a:srgbClr val="1B2A4A"/>
                </a:solidFill>
                <a:latin typeface="Calibri"/>
              </a:rPr>
              <a:t>A random row split would have biased the testing. 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Putting one of LeBron's games in training and the next in testing lets a model score well by </a:t>
            </a:r>
            <a:r>
              <a:rPr lang="en-AU" sz="1700" dirty="0" err="1">
                <a:solidFill>
                  <a:srgbClr val="333D4D"/>
                </a:solidFill>
                <a:latin typeface="Calibri"/>
              </a:rPr>
              <a:t>recognising</a:t>
            </a:r>
            <a:r>
              <a:rPr lang="en-AU" sz="1700" dirty="0">
                <a:solidFill>
                  <a:srgbClr val="333D4D"/>
                </a:solidFill>
                <a:latin typeface="Calibri"/>
              </a:rPr>
              <a:t> the player rather than learning anything about workload.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B6D1D16-D599-53BC-0A8B-CC2F29FD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89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What the model produces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A per-player risk score that moves game by game, against the league</a:t>
            </a:r>
          </a:p>
        </p:txBody>
      </p:sp>
      <p:pic>
        <p:nvPicPr>
          <p:cNvPr id="4" name="Picture 3" descr="P5_rolling_pro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04594"/>
            <a:ext cx="6663535" cy="46962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19" y="1704594"/>
            <a:ext cx="3596335" cy="4586478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8092440" y="1951482"/>
            <a:ext cx="3017520" cy="415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Grey band is the league middle 50 per cent on that night.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Johnson sits above it in 94% of games and is injured seven times.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LeBron is upper-middle, 77% of games above median, injured four times.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endParaRPr lang="en-AU" sz="1400" b="0" i="0" dirty="0">
              <a:solidFill>
                <a:srgbClr val="333D4D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333D4D"/>
                </a:solidFill>
                <a:latin typeface="Calibri"/>
              </a:rPr>
              <a:t>Shead is the lowest scorer, still sits close to the median.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AU" sz="1400" b="0" i="1" dirty="0">
                <a:solidFill>
                  <a:schemeClr val="bg1">
                    <a:lumMod val="75000"/>
                  </a:schemeClr>
                </a:solidFill>
                <a:latin typeface="Calibri"/>
              </a:rPr>
              <a:t>Nobody plays a full season on a low load score.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59D4B-C849-94D7-E7A1-BBF6DD62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What this cannot tell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Stated plainly, because they shape the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51206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AU" sz="1500" b="1" dirty="0">
                <a:solidFill>
                  <a:srgbClr val="1B2A4A"/>
                </a:solidFill>
                <a:latin typeface="Calibri"/>
              </a:rPr>
              <a:t>Health-gating is not solved. </a:t>
            </a:r>
            <a:r>
              <a:rPr lang="en-AU" sz="1500" dirty="0">
                <a:solidFill>
                  <a:srgbClr val="333D4D"/>
                </a:solidFill>
                <a:latin typeface="Calibri"/>
              </a:rPr>
              <a:t>Rest and back-to-back covariates are contaminated by the decision to play. I mark them; I cannot remove the bias.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AU" sz="1500" b="1" dirty="0">
                <a:solidFill>
                  <a:srgbClr val="1B2A4A"/>
                </a:solidFill>
                <a:latin typeface="Calibri"/>
              </a:rPr>
              <a:t>The outcome is availability, not diagnosis. </a:t>
            </a:r>
            <a:r>
              <a:rPr lang="en-AU" sz="1500" dirty="0">
                <a:solidFill>
                  <a:srgbClr val="333D4D"/>
                </a:solidFill>
                <a:latin typeface="Calibri"/>
              </a:rPr>
              <a:t>Three quarters of the overuse tier names no pathology at all, and the workload signal is absent in exactly that part.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AU" sz="1500" b="1" dirty="0">
                <a:solidFill>
                  <a:srgbClr val="1B2A4A"/>
                </a:solidFill>
                <a:latin typeface="Calibri"/>
              </a:rPr>
              <a:t>No training load. </a:t>
            </a:r>
            <a:r>
              <a:rPr lang="en-AU" sz="1500" dirty="0">
                <a:solidFill>
                  <a:srgbClr val="333D4D"/>
                </a:solidFill>
                <a:latin typeface="Calibri"/>
              </a:rPr>
              <a:t>Practice and conditioning are not public. Game exposure is only part of what a body absorbs.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2148840"/>
            <a:ext cx="5120640" cy="160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AU" sz="1500" b="1" dirty="0">
                <a:solidFill>
                  <a:srgbClr val="1B2A4A"/>
                </a:solidFill>
                <a:latin typeface="Calibri"/>
              </a:rPr>
              <a:t>0.70 to 0.73 is the public-data ceiling. </a:t>
            </a:r>
            <a:r>
              <a:rPr lang="en-AU" sz="1500" dirty="0">
                <a:solidFill>
                  <a:srgbClr val="333D4D"/>
                </a:solidFill>
                <a:latin typeface="Calibri"/>
              </a:rPr>
              <a:t>No GPS, no medical screening. Framing this as establishing the ceiling is more honest than claiming a competitive predictor.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AU" sz="1500" b="1" dirty="0">
                <a:solidFill>
                  <a:srgbClr val="1B2A4A"/>
                </a:solidFill>
                <a:latin typeface="Calibri"/>
              </a:rPr>
              <a:t>Tier assignment still involves judgement. </a:t>
            </a:r>
            <a:r>
              <a:rPr lang="en-AU" sz="1500" dirty="0">
                <a:solidFill>
                  <a:srgbClr val="333D4D"/>
                </a:solidFill>
                <a:latin typeface="Calibri"/>
              </a:rPr>
              <a:t>The axes are the IOC's, but the parsing is regex on inconsistent free text.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EC03C-E4A2-BEA3-9FD3-0630AD05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ED7972-343B-FACA-5A1E-4F524C0A2463}"/>
              </a:ext>
            </a:extLst>
          </p:cNvPr>
          <p:cNvSpPr/>
          <p:nvPr/>
        </p:nvSpPr>
        <p:spPr>
          <a:xfrm>
            <a:off x="777240" y="3248452"/>
            <a:ext cx="10670396" cy="1368412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5CA26B-1BE0-5090-A2A8-11E28C495BB4}"/>
              </a:ext>
            </a:extLst>
          </p:cNvPr>
          <p:cNvSpPr txBox="1"/>
          <p:nvPr/>
        </p:nvSpPr>
        <p:spPr>
          <a:xfrm>
            <a:off x="1097280" y="3477051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300" b="1" dirty="0">
                <a:solidFill>
                  <a:srgbClr val="B2182B"/>
                </a:solidFill>
                <a:latin typeface="Calibri"/>
              </a:rPr>
              <a:t>Rank, do not predict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1588F-61D5-0C4B-96AC-57E14B80858E}"/>
              </a:ext>
            </a:extLst>
          </p:cNvPr>
          <p:cNvSpPr txBox="1"/>
          <p:nvPr/>
        </p:nvSpPr>
        <p:spPr>
          <a:xfrm>
            <a:off x="1097280" y="3906819"/>
            <a:ext cx="10022476" cy="57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AU" sz="1500" dirty="0">
                <a:solidFill>
                  <a:srgbClr val="333D4D"/>
                </a:solidFill>
              </a:rPr>
              <a:t>Exposure is exactly what load management controls, and the score orders players well enough for squad-level triage. It cannot give an individual a probability.</a:t>
            </a:r>
            <a:endParaRPr lang="en-AU" sz="1500" b="0" i="0" dirty="0">
              <a:solidFill>
                <a:srgbClr val="333D4D"/>
              </a:solidFill>
              <a:latin typeface="Calibr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8D8E9C-E053-ADBA-8031-155AD56416A4}"/>
              </a:ext>
            </a:extLst>
          </p:cNvPr>
          <p:cNvSpPr/>
          <p:nvPr/>
        </p:nvSpPr>
        <p:spPr>
          <a:xfrm>
            <a:off x="777239" y="1698832"/>
            <a:ext cx="10670397" cy="1368412"/>
          </a:xfrm>
          <a:prstGeom prst="roundRect">
            <a:avLst>
              <a:gd name="adj" fmla="val 6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4689E4-E84E-EE6C-E5EB-1227F271E54D}"/>
              </a:ext>
            </a:extLst>
          </p:cNvPr>
          <p:cNvSpPr txBox="1"/>
          <p:nvPr/>
        </p:nvSpPr>
        <p:spPr>
          <a:xfrm>
            <a:off x="1097280" y="1927431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300" b="1" dirty="0">
                <a:solidFill>
                  <a:srgbClr val="00B050"/>
                </a:solidFill>
                <a:latin typeface="Calibri"/>
              </a:rPr>
              <a:t>Workload predicts, but mostly as exposure.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6B7EB-7F70-18AB-FE84-9C9EDBA3AAC9}"/>
              </a:ext>
            </a:extLst>
          </p:cNvPr>
          <p:cNvSpPr txBox="1"/>
          <p:nvPr/>
        </p:nvSpPr>
        <p:spPr>
          <a:xfrm>
            <a:off x="1097279" y="2357199"/>
            <a:ext cx="10022477" cy="5557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lang="en-AU" sz="1500" dirty="0">
                <a:solidFill>
                  <a:srgbClr val="333D4D"/>
                </a:solidFill>
              </a:rPr>
              <a:t>Chronic load is the largest effect in the model and predicts injuries load cannot cause just as strongly. The fatigue signal is acute load alone, and only where a pathology was named.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77240" y="566928"/>
            <a:ext cx="10637215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lang="en-AU" sz="3800" b="1" i="0" dirty="0">
                <a:solidFill>
                  <a:srgbClr val="1B2A4A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83386"/>
            <a:ext cx="1063721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1700" b="0" i="1" dirty="0">
                <a:solidFill>
                  <a:srgbClr val="6B7686"/>
                </a:solidFill>
                <a:latin typeface="Calibri"/>
              </a:rPr>
              <a:t>What the decomposition changes, and what it leaves open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61623-D696-92E0-F041-C014D70A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1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24DD5A9-9C45-58D3-9F22-DFE6023D8E8C}"/>
              </a:ext>
            </a:extLst>
          </p:cNvPr>
          <p:cNvSpPr/>
          <p:nvPr/>
        </p:nvSpPr>
        <p:spPr>
          <a:xfrm>
            <a:off x="777239" y="4845463"/>
            <a:ext cx="10607040" cy="1368412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8FD590-4D91-A1D8-9B45-97F241459EE7}"/>
              </a:ext>
            </a:extLst>
          </p:cNvPr>
          <p:cNvSpPr txBox="1"/>
          <p:nvPr/>
        </p:nvSpPr>
        <p:spPr>
          <a:xfrm>
            <a:off x="1097279" y="5074062"/>
            <a:ext cx="44805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AU" sz="1300" b="1" dirty="0">
                <a:solidFill>
                  <a:schemeClr val="accent6"/>
                </a:solidFill>
                <a:latin typeface="Calibri"/>
              </a:rPr>
              <a:t>Where it goes next.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2E920D-514C-5570-0881-6CA9D548ED8E}"/>
              </a:ext>
            </a:extLst>
          </p:cNvPr>
          <p:cNvSpPr txBox="1"/>
          <p:nvPr/>
        </p:nvSpPr>
        <p:spPr>
          <a:xfrm>
            <a:off x="1097279" y="5503830"/>
            <a:ext cx="10022476" cy="57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AU" sz="1500" dirty="0">
                <a:solidFill>
                  <a:srgbClr val="333D4D"/>
                </a:solidFill>
              </a:rPr>
              <a:t>Training load is the missing exposure, accelerations are the missing granularity, and clinical diagnosis needs a methodical design rather than more seasons of data.</a:t>
            </a:r>
            <a:endParaRPr lang="en-AU" sz="1500" b="0" i="0" dirty="0">
              <a:solidFill>
                <a:srgbClr val="333D4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4400" b="1" i="0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29000"/>
            <a:ext cx="103327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AU" sz="2600" b="1" i="0" dirty="0">
                <a:solidFill>
                  <a:schemeClr val="accent6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C9D4E4"/>
                </a:solidFill>
                <a:latin typeface="Calibri"/>
              </a:rPr>
              <a:t>Alex Martin  ·  Master of Sports Analytics, La Trobe University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lang="en-AU" sz="1400" b="0" i="0" dirty="0">
                <a:solidFill>
                  <a:srgbClr val="C9D4E4"/>
                </a:solidFill>
                <a:latin typeface="Calibri"/>
              </a:rPr>
              <a:t>Code and full report: </a:t>
            </a:r>
            <a:r>
              <a:rPr lang="en-AU" sz="1400" b="0" i="0" dirty="0" err="1">
                <a:solidFill>
                  <a:srgbClr val="C9D4E4"/>
                </a:solidFill>
                <a:latin typeface="Calibri"/>
              </a:rPr>
              <a:t>github.com</a:t>
            </a:r>
            <a:r>
              <a:rPr lang="en-AU" sz="1400" b="0" i="0" dirty="0">
                <a:solidFill>
                  <a:srgbClr val="C9D4E4"/>
                </a:solidFill>
                <a:latin typeface="Calibri"/>
              </a:rPr>
              <a:t>/alexmartin360/Basketball-Workload-Injury-Risk-Profile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33375-491E-9167-5F97-F1DA411A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7637" y="6160690"/>
            <a:ext cx="744363" cy="697310"/>
          </a:xfrm>
        </p:spPr>
        <p:txBody>
          <a:bodyPr/>
          <a:lstStyle/>
          <a:p>
            <a:fld id="{C1FF6DA9-008F-8B48-92A6-B652298478BF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</TotalTime>
  <Words>4599</Words>
  <Application>Microsoft Macintosh PowerPoint</Application>
  <PresentationFormat>Widescreen</PresentationFormat>
  <Paragraphs>490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MARTIN</cp:lastModifiedBy>
  <cp:revision>19</cp:revision>
  <dcterms:created xsi:type="dcterms:W3CDTF">2013-01-27T09:14:16Z</dcterms:created>
  <dcterms:modified xsi:type="dcterms:W3CDTF">2026-09-12T05:29:00Z</dcterms:modified>
  <cp:category/>
</cp:coreProperties>
</file>