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5" r:id="rId19"/>
    <p:sldId id="276" r:id="rId20"/>
    <p:sldId id="277" r:id="rId21"/>
    <p:sldId id="278" r:id="rId22"/>
    <p:sldId id="279" r:id="rId23"/>
    <p:sldId id="280" r:id="rId24"/>
    <p:sldId id="274"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D4D"/>
    <a:srgbClr val="9BBB59"/>
    <a:srgbClr val="2066AC"/>
    <a:srgbClr val="B01225"/>
    <a:srgbClr val="FDF100"/>
    <a:srgbClr val="FFFCDC"/>
    <a:srgbClr val="FFFABF"/>
    <a:srgbClr val="ECED11"/>
    <a:srgbClr val="B2182B"/>
    <a:srgbClr val="90B14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868"/>
    <p:restoredTop sz="72471"/>
  </p:normalViewPr>
  <p:slideViewPr>
    <p:cSldViewPr snapToGrid="0" snapToObjects="1">
      <p:cViewPr>
        <p:scale>
          <a:sx n="66" d="100"/>
          <a:sy n="66" d="100"/>
        </p:scale>
        <p:origin x="1232" y="5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42854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Good morning, my name is Alex. Over the next twenty minutes I want to take you through a project about when NBA players get injured, and how workload and the schedule relate to that risk.</a:t>
            </a:r>
          </a:p>
          <a:p>
            <a:endParaRPr lang="en-AU"/>
          </a:p>
          <a:p>
            <a:r>
              <a:rPr b="1" dirty="0"/>
              <a:t>I went in expecting to show that workload causes injury through fatigue. What I found is that workload is strongly associated with injury, but the pattern looks much more like exposure, time on court, than fatigue. The interesting part of this talk is how I tested that.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dirty="0"/>
              <a:t>Read each point</a:t>
            </a:r>
          </a:p>
          <a:p>
            <a:endParaRPr lang="en-AU"/>
          </a:p>
          <a:p>
            <a:r>
              <a:rPr lang="en-AU" b="1" dirty="0"/>
              <a:t>The last point matters for everything that follows. Who plays is decided by the team, so what we record as workload is partly a decision about who was fit to play, not just exposure.</a:t>
            </a:r>
          </a:p>
          <a:p/>
          <a:p>
            <a:r>
              <a:rPr lang="en-AU" b="0" dirty="0"/>
              <a:t>If asked about cost: Lewis (2018) reports that games missed to injury cost $344 million in player salaries across the league in the 2014–15 season.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The research does not disagree about whether load matters. It disagrees about the shape of the relationship, and about what drives it.</a:t>
            </a:r>
          </a:p>
          <a:p>
            <a:endParaRPr lang="en-AU"/>
          </a:p>
          <a:p>
            <a:r>
              <a:rPr lang="en-AU" b="1" dirty="0"/>
              <a:t>Lewis found accumulated game load associated with higher injury odds, and each extra rest day with lower odds.</a:t>
            </a:r>
          </a:p>
          <a:p>
            <a:r>
              <a:rPr lang="en-AU" b="1" dirty="0"/>
              <a:t>Orringer and Pandya found minutes running four to six per cent above a player’s season average in the games before injury.</a:t>
            </a:r>
          </a:p>
          <a:p>
            <a:r>
              <a:rPr lang="en-AU" b="1" dirty="0"/>
              <a:t>Morikawa found injury rates 42 per cent higher in the condensed 2020 season, but comparing whole seasons cannot say whether background risk rose or the effect of workload grew.</a:t>
            </a:r>
          </a:p>
          <a:p>
            <a:r>
              <a:rPr lang="en-AU" b="1" dirty="0"/>
              <a:t>Prior injury raises the risk of another: Fulton’s review found previous hamstring strain raised recurrence risk more than fourfold, and in NBA hamstring injuries 81.4 per cent had a further injury in the same or next season (Eftekhari).</a:t>
            </a:r>
          </a:p>
          <a:p>
            <a:endParaRPr lang="en-AU"/>
          </a:p>
          <a:p>
            <a:r>
              <a:rPr lang="en-AU" b="1" dirty="0"/>
              <a:t>And Caparrós found the opposite at the low end: underloaded players were injured more. One possible explanation is selection, since low load can mark a player who is being managed or is already compromised.</a:t>
            </a:r>
          </a:p>
          <a:p>
            <a:endParaRPr lang="en-AU"/>
          </a:p>
          <a:p>
            <a:r>
              <a:rPr lang="en-AU" b="1" dirty="0"/>
              <a:t>What is unresolved is whether these associations reflect fatigue, or exposure and selection, or both.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Gap 1</a:t>
            </a:r>
          </a:p>
          <a:p>
            <a:r>
              <a:rPr lang="en-AU" b="1" i="1" dirty="0"/>
              <a:t>Gap 1 is methodological. A yes-or-no season outcome cannot separate background risk rising through the season from the same workload becoming more harmful later.</a:t>
            </a:r>
          </a:p>
          <a:p>
            <a:r>
              <a:rPr lang="en-AU" b="0" i="1" dirty="0"/>
              <a:t>Read Gap 2</a:t>
            </a:r>
          </a:p>
          <a:p>
            <a:r>
              <a:rPr lang="en-AU" b="1" i="1" dirty="0"/>
              <a:t>Fatigue and selection are possible explanations that may both be operating, and adjusting for more covariates alone cannot fully separate them.</a:t>
            </a:r>
          </a:p>
          <a:p>
            <a:endParaRPr lang="en-AU"/>
          </a:p>
          <a:p>
            <a:r>
              <a:rPr lang="en-AU" b="0" i="1" dirty="0"/>
              <a:t>Read Aims</a:t>
            </a:r>
          </a:p>
          <a:p>
            <a:r>
              <a:rPr lang="en-AU" b="1" i="1" dirty="0"/>
              <a:t>The main aim is the association of workload and schedule congestion with injury hazard. The secondary, exploratory aim compares injury mechanisms.</a:t>
            </a:r>
          </a:p>
          <a:p>
            <a:r>
              <a:rPr lang="en-AU" b="1" i="1" dirty="0"/>
              <a:t>The hypothesis: if workload acts through fatigue, the association should be strongest for overuse injury and weakest for impact injury. Similar sizes across mechanisms would point to exposure. The design assesses these explanations; it does not prove either one.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a:t>First, how the data and the model are built.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headline numbers</a:t>
            </a:r>
          </a:p>
          <a:p>
            <a:endParaRPr lang="en-AU"/>
          </a:p>
          <a:p>
            <a:r>
              <a:rPr lang="en-AU" b="1" i="1" dirty="0"/>
              <a:t>That is every one of the 6,150 regular-season games across five seasons, which works out to about fourteen players at risk per team per game.</a:t>
            </a:r>
          </a:p>
          <a:p>
            <a:endParaRPr lang="en-AU"/>
          </a:p>
          <a:p>
            <a:r>
              <a:rPr lang="en-AU" b="1" i="1" dirty="0"/>
              <a:t>Everything here is public. No team data, no medical records.</a:t>
            </a:r>
          </a:p>
          <a:p>
            <a:endParaRPr lang="en-AU"/>
          </a:p>
          <a:p>
            <a:r>
              <a:rPr lang="en-AU" b="1" i="1" dirty="0"/>
              <a:t>That is a limitation, but it is also the point: if this works on public data, any team can reproduce it, and where it falls short tells you what private data would add.</a:t>
            </a:r>
          </a:p>
          <a:p>
            <a:endParaRPr lang="en-AU"/>
          </a:p>
          <a:p>
            <a:r>
              <a:rPr lang="en-AU" b="1" i="1" dirty="0"/>
              <a:t>The key is </a:t>
            </a:r>
            <a:r>
              <a:rPr lang="en-AU" b="0" i="1" dirty="0"/>
              <a:t>Read last point</a:t>
            </a:r>
          </a:p>
          <a:p>
            <a:endParaRPr lang="en-AU"/>
          </a:p>
          <a:p>
            <a:r>
              <a:rPr lang="en-AU" b="0" i="1" dirty="0"/>
              <a:t>If asked how the sources were joined: tracking and box scores on player and game ID. Injury reports only carry names, so they were matched on season, date and a normalised name, and 89 per cent of time-loss entries matched a player-game. Distance arrives in miles per game.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1</a:t>
            </a:r>
          </a:p>
          <a:p>
            <a:endParaRPr lang="en-AU" dirty="0"/>
          </a:p>
          <a:p>
            <a:r>
              <a:rPr lang="en-AU" b="1" i="1" dirty="0"/>
              <a:t>The reports are written as "Injury/Illness - SITE; PATHOLOGY", so site and pathology already arrive as separate fields.</a:t>
            </a:r>
          </a:p>
          <a:p>
            <a:endParaRPr lang="en-AU" dirty="0"/>
          </a:p>
          <a:p>
            <a:r>
              <a:rPr lang="en-AU" b="1" i="1" dirty="0"/>
              <a:t>The outcome is an availability signal, not a diagnosis. What I observe is that a player was listed Out with a stated reason. I never see a clinician’s assessment.</a:t>
            </a:r>
          </a:p>
          <a:p>
            <a:endParaRPr lang="en-AU" dirty="0"/>
          </a:p>
          <a:p>
            <a:r>
              <a:rPr lang="en-AU" b="0" i="1" dirty="0"/>
              <a:t>Read 2, 3</a:t>
            </a:r>
          </a:p>
          <a:p>
            <a:endParaRPr lang="en-AU" dirty="0"/>
          </a:p>
          <a:p>
            <a:r>
              <a:rPr lang="en-AU" b="1" i="1" dirty="0"/>
              <a:t>Consecutive missed games for the same body region and side become one episode. A repeat at the same site before the player has played eight games counts as a reaggravation; otherwise it is a new injury.</a:t>
            </a:r>
          </a:p>
          <a:p>
            <a:endParaRPr lang="en-AU" dirty="0"/>
          </a:p>
          <a:p>
            <a:r>
              <a:rPr lang="en-AU" b="0" i="1" dirty="0"/>
              <a:t>Read last line</a:t>
            </a:r>
          </a:p>
          <a:p>
            <a:endParaRPr lang="en-AU" dirty="0"/>
          </a:p>
          <a:p>
            <a:r>
              <a:rPr lang="en-AU" b="1" i="1" dirty="0"/>
              <a:t>Why are the mechanisms important? Because they are how I test fatigue against exposure, which is the next part of the talk.</a:t>
            </a:r>
          </a:p>
          <a:p>
            <a:endParaRPr lang="en-AU" dirty="0"/>
          </a:p>
          <a:p>
            <a:r>
              <a:rPr lang="en-AU" b="0" i="1" dirty="0"/>
              <a:t>If asked about severity: it is games missed, converted at about two days per game into the IOC day bands, so it is a proxy for calendar days.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0" i="1" dirty="0"/>
              <a:t>Read bottom line</a:t>
            </a:r>
          </a:p>
          <a:p>
            <a:endParaRPr lang="en-AU"/>
          </a:p>
          <a:p>
            <a:r>
              <a:rPr lang="en-AU" b="0" i="1" dirty="0"/>
              <a:t>Read the usual approach</a:t>
            </a:r>
          </a:p>
          <a:p>
            <a:endParaRPr lang="en-AU"/>
          </a:p>
          <a:p>
            <a:r>
              <a:rPr lang="en-AU" b="0" i="1" dirty="0"/>
              <a:t>Read this study</a:t>
            </a:r>
          </a:p>
          <a:p>
            <a:endParaRPr lang="en-AU"/>
          </a:p>
          <a:p>
            <a:r>
              <a:rPr lang="en-AU" b="1" i="1" dirty="0"/>
              <a:t>A season-level yes-or-no outcome throws away the timing, and timing is exactly what a team needs.</a:t>
            </a:r>
          </a:p>
          <a:p>
            <a:r>
              <a:rPr lang="en-AU" b="1" i="1" dirty="0"/>
              <a:t>It also cannot tell two stories apart: background risk rising through the season, or the same workload becoming more harmful later. A time-to-event model can report those separately.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This is the at-risk set, drawn for LeBron in 2025-26 because that one season contains every case I have to handle.</a:t>
            </a:r>
          </a:p>
          <a:p>
            <a:endParaRPr lang="en-AU" dirty="0"/>
          </a:p>
          <a:p>
            <a:r>
              <a:rPr b="1" dirty="0"/>
              <a:t>He starts the season injured, so those games are dropped. The rest day around game 53 stays in, because a rested player can still get hurt tomorrow.</a:t>
            </a:r>
          </a:p>
          <a:p>
            <a:r>
              <a:rPr b="1" dirty="0"/>
              <a:t>Where an injury to a different region begins during an absence, that onset sits inside the absence and is removed with it.</a:t>
            </a:r>
          </a:p>
          <a:p>
            <a:endParaRPr lang="en-AU" dirty="0"/>
          </a:p>
          <a:p>
            <a:r>
              <a:rPr b="1" dirty="0"/>
              <a:t>Applied to the whole league, these rules decide who sits in the comparison group at every game, so they are one of the most consequential decisions in the design.</a:t>
            </a:r>
          </a:p>
          <a:p>
            <a:endParaRPr lang="en-AU" dirty="0"/>
          </a:p>
          <a:p>
            <a:r>
              <a:rPr b="1" dirty="0"/>
              <a:t>Drawing this caught a bug: the original logic was silently deleting every first game back from injury, 3.6 per cent of all appearances.</a:t>
            </a:r>
          </a:p>
          <a:p>
            <a:endParaRPr lang="en-AU" dirty="0"/>
          </a:p>
          <a:p>
            <a:r>
              <a:rPr b="0" dirty="0"/>
              <a:t>If asked about timing: every workload window ends the day before the game it describes and is recomputed for every game, including rested ones, so a game never counts towards its own risk.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The baseline is unspecified, so I am not forced to assume a shape for risk across the season.</a:t>
            </a:r>
          </a:p>
          <a:p>
            <a:r>
              <a:rPr lang="en-AU" b="1" dirty="0"/>
              <a:t>Strata let each season have its own baseline.</a:t>
            </a:r>
          </a:p>
          <a:p>
            <a:r>
              <a:rPr lang="en-AU" b="1" dirty="0"/>
              <a:t>Clustering fixes the standard errors for repeated measures on the same player.</a:t>
            </a:r>
          </a:p>
          <a:p>
            <a:endParaRPr lang="en-AU"/>
          </a:p>
          <a:p>
            <a:r>
              <a:rPr lang="en-AU" b="1" dirty="0"/>
              <a:t>Every comparison is between players at risk at the same scheduled game number. Because the baseline cancels out, the model ranks relative risk. It does not predict whether a given player will be injured.</a:t>
            </a:r>
          </a:p>
          <a:p>
            <a:r>
              <a:rPr lang="en-AU" b="1" dirty="0"/>
              <a:t>That fits the question a team faces: it cannot rest everyone and the schedule imposes load regardless, so the question is who to manage relative to whom.</a:t>
            </a:r>
          </a:p>
          <a:p>
            <a:endParaRPr lang="en-AU"/>
          </a:p>
          <a:p>
            <a:r>
              <a:rPr lang="en-AU" b="0" dirty="0"/>
              <a:t>Why not logistic regression? A season-level logistic model has one row per player, so it cannot use covariates that change game to game or say when risk moved. A game-level logistic model could, and would probably give similar answers here, but it has to model the shape of risk across the season explicitly; the Cox model leaves that unspecified and compares players at the same point in the schedule.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0" u="sng" dirty="0"/>
              <a:t>This is the pivot of the talk. Slow down.</a:t>
            </a:r>
          </a:p>
          <a:p>
            <a:endParaRPr lang="en-AU" dirty="0"/>
          </a:p>
          <a:p>
            <a:r>
              <a:rPr b="0" u="sng" dirty="0"/>
              <a:t>Read first point</a:t>
            </a:r>
          </a:p>
          <a:p>
            <a:endParaRPr lang="en-AU" dirty="0"/>
          </a:p>
          <a:p>
            <a:r>
              <a:rPr b="1" u="sng" dirty="0"/>
              <a:t>Most studies in my literature review report a workload-injury association and read it through the first explanation.</a:t>
            </a:r>
          </a:p>
          <a:p>
            <a:endParaRPr lang="en-AU" dirty="0"/>
          </a:p>
          <a:p>
            <a:r>
              <a:rPr b="1" u="sng" dirty="0"/>
              <a:t>Explanation 2 is just as plausible: high-load players are on court more, and they may be on court more because they were fit.</a:t>
            </a:r>
          </a:p>
          <a:p>
            <a:endParaRPr lang="en-AU" dirty="0"/>
          </a:p>
          <a:p>
            <a:r>
              <a:rPr b="1" u="sng" dirty="0"/>
              <a:t>The two may both be operating, and adding covariates alone cannot separate them, because the exposure is part of both stories.</a:t>
            </a:r>
          </a:p>
          <a:p>
            <a:endParaRPr lang="en-AU" dirty="0"/>
          </a:p>
          <a:p>
            <a:r>
              <a:rPr b="1" u="sng" dirty="0"/>
              <a:t>What would you need to tell them apart?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An outcome load is unlikely to cause, used in the manner of a negative control, across four IOC mechanism tiers.</a:t>
            </a:r>
          </a:p>
          <a:p>
            <a:endParaRPr lang="en-AU" dirty="0"/>
          </a:p>
          <a:p>
            <a:r>
              <a:rPr lang="en-AU" b="1" dirty="0"/>
              <a:t>It is standard in epidemiology, and I did not find it in the basketball workload studies I reviewed.</a:t>
            </a:r>
          </a:p>
          <a:p>
            <a:endParaRPr lang="en-AU" dirty="0"/>
          </a:p>
          <a:p>
            <a:r>
              <a:rPr lang="en-AU" b="0" dirty="0"/>
              <a:t>Read point 1 and 2</a:t>
            </a:r>
          </a:p>
          <a:p>
            <a:endParaRPr lang="en-AU" dirty="0"/>
          </a:p>
          <a:p>
            <a:r>
              <a:rPr lang="en-AU" b="1" dirty="0"/>
              <a:t>Three quarters of the repetitive tier records only that something was sore, with no pathology reported. That is a different quality of observation, so I keep it separate. I made that split after the comparison I set out to test, so anything it shows is exploratory.</a:t>
            </a:r>
          </a:p>
          <a:p>
            <a:endParaRPr lang="en-AU" dirty="0"/>
          </a:p>
          <a:p>
            <a:r>
              <a:rPr lang="en-AU" b="0" dirty="0"/>
              <a:t>Read point 3 then 4</a:t>
            </a:r>
          </a:p>
          <a:p>
            <a:endParaRPr lang="en-AU" dirty="0"/>
          </a:p>
          <a:p>
            <a:r>
              <a:rPr lang="en-AU" b="1" dirty="0"/>
              <a:t>Accumulated load is an unlikely cause of a jammed finger or a poke in the eye, although a tired player might react more slowly, so fatigue is not ruled out. What makes it a fair comparison is that it shares the same exposure and selection: you have to be picked and on court to get hit.</a:t>
            </a:r>
          </a:p>
          <a:p>
            <a:endParaRPr lang="en-AU" dirty="0"/>
          </a:p>
          <a:p>
            <a:r>
              <a:rPr lang="en-AU" b="1" dirty="0"/>
              <a:t>If fatigue is doing the work, the effect should fade from left to right. If it does not fade, the pattern looks more like exposure.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a:t>Now to what the data showed.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We start with one model and build to three, adding a domain at each step: workload, then schedule congestion, then player context.</a:t>
            </a:r>
          </a:p>
          <a:p>
            <a:endParaRPr lang="en-AU" dirty="0"/>
          </a:p>
          <a:p>
            <a:r>
              <a:rPr lang="en-AU" b="1" dirty="0"/>
              <a:t>Concordance is ranking accuracy. Take any two comparable player-games: if the model ranks the one that ended in injury as higher risk, it got that pair right. It gets about 74 out of every 100 right. Chance is 50.</a:t>
            </a:r>
          </a:p>
          <a:p>
            <a:endParaRPr lang="en-AU" dirty="0"/>
          </a:p>
          <a:p>
            <a:r>
              <a:rPr lang="en-AU" b="1" dirty="0"/>
              <a:t>Each added domain improved discrimination and was significant in a joint test, although workload does most of the work.</a:t>
            </a:r>
          </a:p>
          <a:p>
            <a:endParaRPr lang="en-AU" dirty="0"/>
          </a:p>
          <a:p>
            <a:r>
              <a:rPr lang="en-AU" b="1" dirty="0"/>
              <a:t>For a model with no GPS, no medical screening and no training load, that may be close to what public data allow, which is useful for anyone deciding whether better data is worth paying for.</a:t>
            </a:r>
          </a:p>
          <a:p>
            <a:endParaRPr lang="en-AU" dirty="0"/>
          </a:p>
          <a:p>
            <a:r>
              <a:rPr lang="en-AU" b="0" dirty="0"/>
              <a:t>Likely question: is 0.74 any good? For ranking players it is reasonable; whether using it would improve rest decisions has not been tested. For calling an individual player on a given night, no: it is a statement about pairs, and I come back to that at the end.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Chronic load and games played in the previous seven days have the largest hazard ratios in the model, 2.11 and 2.05 per standard deviation.</a:t>
            </a:r>
          </a:p>
          <a:p>
            <a:endParaRPr lang="en-AU" dirty="0"/>
          </a:p>
          <a:p>
            <a:r>
              <a:rPr b="1" dirty="0"/>
              <a:t>In context, one standard deviation of chronic load is about 11 miles over 28 days, roughly six games’ worth of distance, and one standard deviation of recent games is about one extra game in the week. Each roughly doubles the hazard relative to an otherwise identical team-mate.</a:t>
            </a:r>
          </a:p>
          <a:p>
            <a:endParaRPr lang="en-AU" dirty="0"/>
          </a:p>
          <a:p>
            <a:r>
              <a:rPr b="1" dirty="0"/>
              <a:t>That is consistent with Lewis and with Orringer and Pandya, and I could stop here and claim a fatigue effect. I will explain later why I do not. Note the third number: once recent games and chronic load are held equal, acute seven-day load is 0.96, and its confidence interval includes 1. Hold that thought for the tier slides.</a:t>
            </a:r>
          </a:p>
          <a:p>
            <a:endParaRPr lang="en-AU" dirty="0"/>
          </a:p>
          <a:p>
            <a:r>
              <a:rPr b="1" dirty="0"/>
              <a:t>More rest days went with lower hazard, 12.4 per cent per extra day. Days’ rest is the schedule measure least subject to individual rest decisions, because every team-mate shares it. Lewis reported about 16 per cent per rest day on different seasons with a different model, so the two agree in direction and size. That is not replication.</a:t>
            </a:r>
          </a:p>
          <a:p>
            <a:endParaRPr lang="en-AU" dirty="0"/>
          </a:p>
          <a:p>
            <a:r>
              <a:rPr b="1" dirty="0"/>
              <a:t>Higher load in the most recent game went with lower hazard, 0.47, and load two games back with higher hazard, 1.52. One reading is load management and early onset: a player breaking down logs a low distance in the game it happens. Lag-2 sits before that point, which is where a fatigue spike would show if there is one.</a:t>
            </a:r>
            <a:endParaRPr lang="en-AU" b="1" dirty="0"/>
          </a:p>
          <a:p>
            <a:endParaRPr lang="en-AU" b="1" dirty="0"/>
          </a:p>
          <a:p>
            <a:r>
              <a:rPr lang="en-AU" dirty="0"/>
              <a:t>Take two team-mates with the same games this week. One has run about 11 more miles over the past month, roughly the difference between a rotation player and a starter. His injury hazard in any given game is about twice as high.</a:t>
            </a:r>
            <a:endParaRPr b="1" dirty="0"/>
          </a:p>
          <a:p>
            <a:endParaRPr lang="en-AU" dirty="0"/>
          </a:p>
          <a:p>
            <a:r>
              <a:rPr b="0" dirty="0"/>
              <a:t>If asked about back-to-backs and road trips: the back-to-back and road-trip indicators read protective (0.83, 0.81), and so does accumulated back-to-back dose (0.88). I do not interpret them causally. A coach may rest a player who is carrying something, and you only accrue back-to-back dose by playing both nights, so they partly record selection into play.</a:t>
            </a:r>
          </a:p>
          <a:p>
            <a:endParaRPr lang="en-AU" dirty="0"/>
          </a:p>
          <a:p>
            <a:r>
              <a:rPr b="0" dirty="0"/>
              <a:t>If asked where the acute-to-chronic ratio went: it is deliberately not in the model. It is a deterministic function of two covariates already carried separately, so including all three over-parameterises the workload block. Carrying acute and chronic separately shows what each window contributes. I did not fit a ratio model, so I make no claim about the ratio itself.</a:t>
            </a:r>
          </a:p>
          <a:p>
            <a:endParaRPr lang="en-AU" dirty="0"/>
          </a:p>
          <a:p>
            <a:r>
              <a:rPr b="0" dirty="0"/>
              <a:t>If asked why both games played and acute load are in: they correlate at 0.86. Holding games fixed makes the acute term mean load concentrated within the same number of games, which is mostly minutes per game.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We then fitted the same Model 3 specification separately to each mechanism tier. The faint bars are 95 per cent confidence intervals.</a:t>
            </a:r>
          </a:p>
          <a:p>
            <a:endParaRPr lang="en-AU" dirty="0"/>
          </a:p>
          <a:p>
            <a:r>
              <a:rPr lang="en-AU" b="1" dirty="0"/>
              <a:t>The CONTROL tier, jammed fingers, elbows to the face, concussion, carries 2.04. That is the second largest estimate, on injuries accumulated load is least likely to cause.</a:t>
            </a:r>
          </a:p>
          <a:p>
            <a:endParaRPr lang="en-AU" dirty="0"/>
          </a:p>
          <a:p>
            <a:r>
              <a:rPr lang="en-AU" b="1" dirty="0"/>
              <a:t>And the overuse tier with a reported pathology, the one where fatigue should show most, is the LOWEST at 1.78. A direct test finds no difference from the control.</a:t>
            </a:r>
          </a:p>
          <a:p>
            <a:endParaRPr lang="en-AU" dirty="0"/>
          </a:p>
          <a:p>
            <a:r>
              <a:rPr lang="en-AU" b="1" dirty="0"/>
              <a:t>So chronic load is not measuring only fatigue; it behaves more like exposure. Games played in the previous week does the same, raised in every tier.</a:t>
            </a:r>
          </a:p>
          <a:p>
            <a:r>
              <a:rPr lang="en-AU" b="1" dirty="0"/>
              <a:t>Players carrying heavy 28-day load are the ones on the floor when a loose ball arrives, and they may be on the floor because they were fit enough to keep being selected.</a:t>
            </a:r>
          </a:p>
          <a:p>
            <a:endParaRPr lang="en-AU" dirty="0"/>
          </a:p>
          <a:p>
            <a:r>
              <a:rPr lang="en-AU" b="1" dirty="0"/>
              <a:t>A cautious reading is that much of the workload-injury association in these data reflects court time. The comparison suggests exposure; it does not prove it.</a:t>
            </a:r>
          </a:p>
          <a:p>
            <a:endParaRPr lang="en-AU" dirty="0"/>
          </a:p>
          <a:p>
            <a:r>
              <a:rPr lang="en-AU" b="0" dirty="0"/>
              <a:t>If asked whether holding the 28-day game count fixed would turn chronic load into fatigue: I tested it. Chronic load stays at least as high on impact as on overuse (ratio 0.91), and per game as well (0.79). Distance at a fixed number of games is mostly minutes, which is still exposure.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dirty="0"/>
              <a:t> We then add acute 7-day load.</a:t>
            </a:r>
          </a:p>
          <a:p>
            <a:endParaRPr lang="en-AU" dirty="0"/>
          </a:p>
          <a:p>
            <a:r>
              <a:rPr lang="en-AU" b="1" dirty="0"/>
              <a:t>1.64 where a pathology is reported. Then 0.82 for symptom only, 0.89 on acute non-contact and 1.03 on the control, and all three of those confidence intervals include 1.</a:t>
            </a:r>
          </a:p>
          <a:p>
            <a:endParaRPr lang="en-AU" dirty="0"/>
          </a:p>
          <a:p>
            <a:r>
              <a:rPr lang="en-AU" b="1" dirty="0"/>
              <a:t>In a direct test the reported-pathology estimate is larger than the control’s, ratio 1.58, p = 0.030. But the comparison I set out to test, all overuse against the control, shows no difference, and I split the tier after that, so this is exploratory.</a:t>
            </a:r>
          </a:p>
          <a:p>
            <a:endParaRPr lang="en-AU" dirty="0"/>
          </a:p>
          <a:p>
            <a:r>
              <a:rPr lang="en-AU" b="1" dirty="0"/>
              <a:t>If acute load were just tracking court time, it would not be expected to switch off in one column and stay on in the others.</a:t>
            </a:r>
          </a:p>
          <a:p>
            <a:endParaRPr lang="en-AU" dirty="0"/>
          </a:p>
          <a:p>
            <a:r>
              <a:rPr lang="en-AU" b="1" dirty="0"/>
              <a:t>Why acute and not chronic? Once chronic load and recent games are in the model, the seven-day term stops meaning "this player plays a lot" and compares players with the same month and the same number of recent games, so it measures how concentrated the load was within those games, which is mostly minutes per game. </a:t>
            </a:r>
          </a:p>
          <a:p>
            <a:endParaRPr lang="en-AU" dirty="0"/>
          </a:p>
          <a:p>
            <a:r>
              <a:rPr lang="en-AU" b="1" dirty="0"/>
              <a:t>If we pool the overuse category, it shows no difference from the control, and three quarters of it is soreness with no pathology reported. Split it, and a pattern appears in the quarter that reports a pathology. That is worth testing on data with clinical diagnoses.</a:t>
            </a:r>
          </a:p>
          <a:p>
            <a:endParaRPr lang="en-AU" dirty="0"/>
          </a:p>
          <a:p>
            <a:r>
              <a:rPr lang="en-AU" b="1" dirty="0"/>
              <a:t>So there are two patterns that a pooled outcome would report as one: an exposure pattern across every tier, and a narrow pattern consistent with fatigue in one exploratory subset. The comparison suggests which explanation fits better; it does not identify separate causal components.</a:t>
            </a:r>
          </a:p>
          <a:p>
            <a:endParaRPr lang="en-AU" dirty="0"/>
          </a:p>
          <a:p>
            <a:r>
              <a:rPr lang="en-AU" b="1" dirty="0"/>
              <a:t>The exposure pattern is not a nuisance. For contact injury, court time is a plausible route, and it is the quantity a team controls when it decides who plays. It is arguably the more useful of the two in practice.</a:t>
            </a:r>
          </a:p>
          <a:p>
            <a:endParaRPr lang="en-AU" dirty="0"/>
          </a:p>
          <a:p>
            <a:r>
              <a:rPr lang="en-AU" b="1" dirty="0"/>
              <a:t>My hypothesis was that accumulated and spiked load work through fatigue, and that the effect would be strongest on overuse injury and weakest where load has the least plausible mechanism. It was not supported as stated.</a:t>
            </a:r>
          </a:p>
          <a:p>
            <a:endParaRPr lang="en-AU" dirty="0"/>
          </a:p>
          <a:p>
            <a:r>
              <a:rPr lang="en-AU" b="1" dirty="0"/>
              <a:t>Chronic load, which I treated as the strongest fatigue proxy, behaved as the exposure measure. Acute load held up only in the subset with a reported pathology, only as an exploratory finding, and only in this form of the acute term.</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A frailty model gives each player a personal risk dial and reports how much those dials vary.</a:t>
            </a:r>
          </a:p>
          <a:p>
            <a:r>
              <a:rPr b="1" dirty="0"/>
              <a:t>Unadjusted, a 12-fold spread between the most and least injury-prone players. With the covariates, 4-fold. The covariates account for about 70 per cent of the differences between players, and player history does most of that work, which is why prior injury matters to adjust for.</a:t>
            </a:r>
          </a:p>
          <a:p>
            <a:endParaRPr lang="en-AU"/>
          </a:p>
          <a:p>
            <a:r>
              <a:rPr b="1" dirty="0"/>
              <a:t>One standard deviation of unmeasured proneness multiplies hazard by 1.72. One standard deviation of chronic load multiplies it by 2.11, and of recent games by 2.05.</a:t>
            </a:r>
          </a:p>
          <a:p>
            <a:r>
              <a:rPr b="1" dirty="0"/>
              <a:t>The biggest things I measure now exceed the biggest thing I miss, but the four-fold residual spread may be the limit of public data.</a:t>
            </a:r>
          </a:p>
          <a:p>
            <a:endParaRPr lang="en-AU"/>
          </a:p>
          <a:p>
            <a:r>
              <a:rPr b="0" dirty="0"/>
              <a:t>Second result if there is time. The PWP model stratifies the baseline by episode order, so the escalation sits in the baseline, conditional on the covariates: holding workload, schedule and context equal, a second spell carries 1.84 times the baseline hazard of a first, and a third-or-later 2.83 times. Crude rates run 16.3 per 1,000 intervals in a first spell to 68.1 in a third. Martin and colleagues called for research into cumulative injury burden across careers; this is escalation within a season, so it does not answer that question.</a:t>
            </a:r>
          </a:p>
          <a:p>
            <a:endParaRPr lang="en-AU"/>
          </a:p>
          <a:p>
            <a:r>
              <a:rPr b="0" dirty="0"/>
              <a:t>If asked about prior injury: recent return goes with lower hazard of a NEW injury (0.89) but higher hazard once reaggravations count (2.00 under Andersen-Gill). Both are true. One possible explanation: returning players are cleared, minutes-restricted and ramped, which may suppress unrelated injury, while the original problem stays at risk of recurring.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Two hold-outs.</a:t>
            </a:r>
          </a:p>
          <a:p>
            <a:endParaRPr lang="en-AU" dirty="0"/>
          </a:p>
          <a:p>
            <a:r>
              <a:rPr b="1" dirty="0"/>
              <a:t>Train on four seasons and score the fifth, which mirrors how the model would be used.</a:t>
            </a:r>
          </a:p>
          <a:p>
            <a:endParaRPr lang="en-AU" dirty="0"/>
          </a:p>
          <a:p>
            <a:r>
              <a:rPr b="1" dirty="0"/>
              <a:t>And hold out whole players, so every interval is scored by a model that never saw that person.</a:t>
            </a:r>
          </a:p>
          <a:p>
            <a:endParaRPr lang="en-AU" dirty="0"/>
          </a:p>
          <a:p>
            <a:r>
              <a:rPr b="1" dirty="0"/>
              <a:t>Discrimination holds: 0.744 on the unseen season and 0.735 on unseen players.</a:t>
            </a:r>
          </a:p>
          <a:p>
            <a:endParaRPr lang="en-AU" dirty="0"/>
          </a:p>
          <a:p>
            <a:r>
              <a:rPr b="1" dirty="0"/>
              <a:t>These are checks of retrospective ranking. They show the ordering transfers to new data; they do not show that using it would improve rest decisions, which would need a prospective test.</a:t>
            </a:r>
          </a:p>
          <a:p>
            <a:endParaRPr lang="en-AU" dirty="0"/>
          </a:p>
          <a:p>
            <a:r>
              <a:rPr b="1" dirty="0"/>
              <a:t>The deliverable is a ranking tool, and because the score is a weighted sum you can break any player’s change down into how much came from recent load, congestion or injury history.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The score is the linear predictor from Model 3, plotted game by game against the league distribution at that game number. These profiles come from the model fitted on all five seasons, so they are in-sample illustrations of the ranking; the held-out test is the previous slide.</a:t>
            </a:r>
          </a:p>
          <a:p>
            <a:endParaRPr lang="en-AU" dirty="0"/>
          </a:p>
          <a:p>
            <a:r>
              <a:rPr b="1" dirty="0"/>
              <a:t>All three are consistent with what happened: Johnson elevated all season with seven episodes, LeBron upper-middle with four, Shead the lowest of the three with none.</a:t>
            </a:r>
          </a:p>
          <a:p>
            <a:endParaRPr lang="en-AU" dirty="0"/>
          </a:p>
          <a:p>
            <a:r>
              <a:rPr b="1" dirty="0"/>
              <a:t>The interesting one is Shead, who sits on the league median, above it in 49 per cent of games.</a:t>
            </a:r>
          </a:p>
          <a:p>
            <a:endParaRPr lang="en-AU" dirty="0"/>
          </a:p>
          <a:p>
            <a:r>
              <a:rPr b="1" dirty="0"/>
              <a:t>That is a structural feature rather than a modelling artefact: a player is unlikely to post a very low load-based score and play a full season, because availability generates the load the score is built from. The lowest scores in the league belong to players barely in the rotation.</a:t>
            </a:r>
          </a:p>
          <a:p>
            <a:r>
              <a:rPr b="1" dirty="0"/>
              <a:t>That is consistent with the health-selection problem, showing up at the level of the individual. And a concordance of 0.74 is about pairs, so no single profile is a verdict on a player.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dirty="0"/>
              <a:t>If someone asked which limitation bothers me most, it is health-gating and training load.</a:t>
            </a:r>
          </a:p>
          <a:p>
            <a:endParaRPr lang="en-AU"/>
          </a:p>
          <a:p>
            <a:r>
              <a:rPr b="1" dirty="0"/>
              <a:t>More seasons alone would not fix either. Health-gating needs information teams hold about who was rested because they were carrying something, and training load needs practice and conditioning data that are not public.</a:t>
            </a:r>
          </a:p>
          <a:p>
            <a:endParaRPr lang="en-AU"/>
          </a:p>
          <a:p>
            <a:r>
              <a:rPr b="1" dirty="0"/>
              <a:t>Two more worth naming. The acute-load pattern depends on how acute load is expressed, which is why it stays exploratory. And the lagged terms mean a player’s first two games each season cannot be scored.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In conclusion,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A pooled outcome reports exposure and fatigue together as one workload effect. Comparing mechanisms is what this design adds, and it suggests the association is mostly exposure. </a:t>
            </a:r>
            <a:r>
              <a:rPr lang="en-AU" b="0" dirty="0"/>
              <a:t>Read first 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Ranking by exposure is not a disappointing result. It is real risk, a plausible route to contact injury, and it is what load management acts on. The ranking held on unseen data, but it gives no individual probability and has not been tested as a rest tool.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1" dirty="0"/>
              <a:t>Chronic load and recent games now exceed one standard deviation of what I cannot measure, though a four-fold residual spread remains. </a:t>
            </a:r>
            <a:r>
              <a:rPr lang="en-AU" b="0" dirty="0"/>
              <a:t>Read last 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U"/>
          </a:p>
          <a:p>
            <a:pPr marL="0" marR="0" lvl="0" indent="0" algn="l" defTabSz="914400" rtl="0" eaLnBrk="1" fontAlgn="auto" latinLnBrk="0" hangingPunct="1">
              <a:lnSpc>
                <a:spcPct val="100000"/>
              </a:lnSpc>
              <a:spcBef>
                <a:spcPts val="0"/>
              </a:spcBef>
              <a:spcAft>
                <a:spcPts val="0"/>
              </a:spcAft>
              <a:buClrTx/>
              <a:buSzTx/>
              <a:buFontTx/>
              <a:buNone/>
              <a:tabLst/>
              <a:defRPr/>
            </a:pPr>
            <a:r>
              <a:rPr lang="en-AU" b="0" dirty="0"/>
              <a:t>If asked about next steps beyond the slide: chronic load expressed per game over 28 days fitted better than total distance in an unplanned check, so it is worth prespecifying in future work rather than claiming here.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AU" b="1"/>
              <a:t>Thank you. I am happy to take questions.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AU" dirty="0"/>
          </a:p>
          <a:p>
            <a:r>
              <a:rPr b="1" dirty="0"/>
              <a:t>That is the baseline hazard, for a player at the reference level of every covariate, and conditional on what the model includes. The post-All-Star term, 2.13, carries part of the rise late in the season.</a:t>
            </a:r>
          </a:p>
          <a:p>
            <a:endParaRPr lang="en-AU" dirty="0"/>
          </a:p>
          <a:p>
            <a:r>
              <a:rPr b="1" dirty="0"/>
              <a:t>The workload hazard ratios show no detected change across the season. Heavy chronic load carries a similar hazard ratio in October and April; what rises is the baseline it multiplies, so the same relative increase means a larger absolute risk late in the season.</a:t>
            </a:r>
          </a:p>
          <a:p>
            <a:endParaRPr lang="en-AU" dirty="0"/>
          </a:p>
          <a:p>
            <a:r>
              <a:rPr b="1" dirty="0"/>
              <a:t>Why it matters practically. If the whole league gets more injury prone as the season goes on, scheduling changes become candidates. If instead a given workload became more harmful late on, the response would sit with managing specific players. The evidence is more consistent with the first, although a rising baseline alone does not say which scheduling change would help, because it also carries whatever the model does not measure.</a:t>
            </a:r>
          </a:p>
          <a:p>
            <a:endParaRPr lang="en-AU" dirty="0"/>
          </a:p>
          <a:p>
            <a:r>
              <a:rPr b="1" dirty="0"/>
              <a:t>Morikawa reported injury rates 42 per cent higher in the condensed 2020 season, but comparing whole seasons could not tell which of the two was happening. This design can report them separately.</a:t>
            </a:r>
          </a:p>
          <a:p>
            <a:endParaRPr lang="en-AU" dirty="0"/>
          </a:p>
          <a:p>
            <a:r>
              <a:rPr b="0" dirty="0"/>
              <a:t>If asked whether the effects are really constant: eleven covariates fail the proportionality test, mostly history and availability terms drifting toward zero as the most injury-prone players leave the risk set. I did not model them as time-varying, so their hazard ratios are season averages. Chronic load, acute load and games played do not fail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80F0AFE-CC19-9F41-8D4C-4453224975D5}"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grpSp>
        <p:nvGrpSpPr>
          <p:cNvPr id="7" name="Group 6">
            <a:extLst>
              <a:ext uri="{FF2B5EF4-FFF2-40B4-BE49-F238E27FC236}">
                <a16:creationId xmlns:a16="http://schemas.microsoft.com/office/drawing/2014/main" id="{A9BEA8AE-B760-F14E-6D9D-72BFAC95549E}"/>
              </a:ext>
            </a:extLst>
          </p:cNvPr>
          <p:cNvGrpSpPr/>
          <p:nvPr userDrawn="1"/>
        </p:nvGrpSpPr>
        <p:grpSpPr>
          <a:xfrm>
            <a:off x="7620000" y="2730316"/>
            <a:ext cx="5816968" cy="5816968"/>
            <a:chOff x="7241964" y="2782711"/>
            <a:chExt cx="828823" cy="828823"/>
          </a:xfrm>
        </p:grpSpPr>
        <p:sp>
          <p:nvSpPr>
            <p:cNvPr id="8" name="Shape 2">
              <a:extLst>
                <a:ext uri="{FF2B5EF4-FFF2-40B4-BE49-F238E27FC236}">
                  <a16:creationId xmlns:a16="http://schemas.microsoft.com/office/drawing/2014/main" id="{ECFE1B8E-12F1-677D-F4DE-A3B516B04F97}"/>
                </a:ext>
              </a:extLst>
            </p:cNvPr>
            <p:cNvSpPr/>
            <p:nvPr/>
          </p:nvSpPr>
          <p:spPr>
            <a:xfrm flipV="1">
              <a:off x="7288447" y="2820973"/>
              <a:ext cx="739305" cy="739305"/>
            </a:xfrm>
            <a:prstGeom prst="ellipse">
              <a:avLst/>
            </a:prstGeom>
            <a:solidFill>
              <a:schemeClr val="accent2">
                <a:alpha val="35000"/>
              </a:schemeClr>
            </a:solidFill>
            <a:ln w="12700">
              <a:noFill/>
              <a:prstDash val="solid"/>
            </a:ln>
          </p:spPr>
          <p:txBody>
            <a:bodyPr/>
            <a:lstStyle/>
            <a:p>
              <a:endParaRPr lang="en-US"/>
            </a:p>
          </p:txBody>
        </p:sp>
        <p:pic>
          <p:nvPicPr>
            <p:cNvPr id="9" name="Picture 8" descr="Basketball Generic Detailed Outline icon | Magnific (formerly Magnific)">
              <a:extLst>
                <a:ext uri="{FF2B5EF4-FFF2-40B4-BE49-F238E27FC236}">
                  <a16:creationId xmlns:a16="http://schemas.microsoft.com/office/drawing/2014/main" id="{98D97381-7D62-4BCD-0F6F-C822CD8ADBDB}"/>
                </a:ext>
              </a:extLst>
            </p:cNvPr>
            <p:cNvPicPr>
              <a:picLocks noChangeAspect="1" noChangeArrowheads="1"/>
            </p:cNvPicPr>
            <p:nvPr/>
          </p:nvPicPr>
          <p:blipFill>
            <a:blip r:embed="rId2">
              <a:alphaModFix amt="50000"/>
              <a:extLst>
                <a:ext uri="{28A0092B-C50C-407E-A947-70E740481C1C}">
                  <a14:useLocalDpi xmlns:a14="http://schemas.microsoft.com/office/drawing/2010/main" val="0"/>
                </a:ext>
              </a:extLst>
            </a:blip>
            <a:srcRect/>
            <a:stretch>
              <a:fillRect/>
            </a:stretch>
          </p:blipFill>
          <p:spPr bwMode="auto">
            <a:xfrm>
              <a:off x="7241964" y="2782711"/>
              <a:ext cx="828823" cy="828823"/>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Slide Number Placeholder 5"/>
          <p:cNvSpPr>
            <a:spLocks noGrp="1"/>
          </p:cNvSpPr>
          <p:nvPr>
            <p:ph type="sldNum" sz="quarter" idx="12"/>
          </p:nvPr>
        </p:nvSpPr>
        <p:spPr>
          <a:xfrm>
            <a:off x="11447637" y="6160690"/>
            <a:ext cx="744363" cy="697310"/>
          </a:xfrm>
        </p:spPr>
        <p:txBody>
          <a:bodyPr vert="horz" lIns="91440" tIns="45720" rIns="91440" bIns="45720" rtlCol="0" anchor="ctr"/>
          <a:lstStyle>
            <a:lvl1pPr algn="ctr">
              <a:defRPr lang="en-US" sz="2800" b="1" smtClean="0">
                <a:solidFill>
                  <a:schemeClr val="bg1"/>
                </a:solidFill>
                <a:latin typeface="Calibri" panose="020F0502020204030204" pitchFamily="34" charset="0"/>
                <a:cs typeface="Calibri" panose="020F0502020204030204" pitchFamily="34" charset="0"/>
              </a:defRPr>
            </a:lvl1pPr>
          </a:lstStyle>
          <a:p>
            <a:fld id="{C1FF6DA9-008F-8B48-92A6-B652298478BF}" type="slidenum">
              <a:rPr lang="en-AU" smtClean="0"/>
              <a:pPr/>
              <a:t>‹#›</a:t>
            </a:fld>
            <a:endParaRPr lang="en-AU"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7C48768-7800-9B48-8032-02FFEDA20D22}"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3F9E3A6-BFB2-D947-8035-DA7D5A6D3FCF}"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5DCA834-9FDD-5A4D-A53B-C1C355E4801B}" type="datetime1">
              <a:rPr lang="en-AU" smtClean="0"/>
              <a:t>27/9/2026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42CFFEA-49B0-6440-AB44-F6D61AC4E3CC}" type="datetime1">
              <a:rPr lang="en-AU" smtClean="0"/>
              <a:t>27/9/2026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D8590F6-1921-C840-955D-8E25AED5C2C3}" type="datetime1">
              <a:rPr lang="en-AU" smtClean="0"/>
              <a:t>27/9/2026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7088E0-259B-6E4D-A718-E281BD79F598}" type="datetime1">
              <a:rPr lang="en-AU" smtClean="0"/>
              <a:t>27/9/2026</a:t>
            </a:fld>
            <a:endParaRPr lang="en-US"/>
          </a:p>
        </p:txBody>
      </p:sp>
      <p:sp>
        <p:nvSpPr>
          <p:cNvPr id="3" name="Footer Placeholder 2"/>
          <p:cNvSpPr>
            <a:spLocks noGrp="1"/>
          </p:cNvSpPr>
          <p:nvPr>
            <p:ph type="ftr" sz="quarter" idx="11"/>
          </p:nvPr>
        </p:nvSpPr>
        <p:spPr/>
        <p:txBody>
          <a:bodyPr/>
          <a:lstStyle/>
          <a:p>
            <a:endParaRPr lang="en-US"/>
          </a:p>
        </p:txBody>
      </p:sp>
      <p:grpSp>
        <p:nvGrpSpPr>
          <p:cNvPr id="5" name="Group 4">
            <a:extLst>
              <a:ext uri="{FF2B5EF4-FFF2-40B4-BE49-F238E27FC236}">
                <a16:creationId xmlns:a16="http://schemas.microsoft.com/office/drawing/2014/main" id="{1DAD5966-3916-C557-2B72-8B362ABA34F3}"/>
              </a:ext>
            </a:extLst>
          </p:cNvPr>
          <p:cNvGrpSpPr/>
          <p:nvPr userDrawn="1"/>
        </p:nvGrpSpPr>
        <p:grpSpPr>
          <a:xfrm>
            <a:off x="11342240" y="6057008"/>
            <a:ext cx="1335279" cy="1335279"/>
            <a:chOff x="7241964" y="2782711"/>
            <a:chExt cx="828823" cy="828823"/>
          </a:xfrm>
        </p:grpSpPr>
        <p:sp>
          <p:nvSpPr>
            <p:cNvPr id="6" name="Shape 2">
              <a:extLst>
                <a:ext uri="{FF2B5EF4-FFF2-40B4-BE49-F238E27FC236}">
                  <a16:creationId xmlns:a16="http://schemas.microsoft.com/office/drawing/2014/main" id="{432F31DF-FA93-7F73-F826-4D14B0D344D3}"/>
                </a:ext>
              </a:extLst>
            </p:cNvPr>
            <p:cNvSpPr/>
            <p:nvPr/>
          </p:nvSpPr>
          <p:spPr>
            <a:xfrm flipV="1">
              <a:off x="7288447" y="2820973"/>
              <a:ext cx="739305" cy="739305"/>
            </a:xfrm>
            <a:prstGeom prst="ellipse">
              <a:avLst/>
            </a:prstGeom>
            <a:solidFill>
              <a:schemeClr val="accent2">
                <a:alpha val="35000"/>
              </a:schemeClr>
            </a:solidFill>
            <a:ln w="12700">
              <a:noFill/>
              <a:prstDash val="solid"/>
            </a:ln>
          </p:spPr>
          <p:txBody>
            <a:bodyPr/>
            <a:lstStyle/>
            <a:p>
              <a:endParaRPr lang="en-US"/>
            </a:p>
          </p:txBody>
        </p:sp>
        <p:pic>
          <p:nvPicPr>
            <p:cNvPr id="7" name="Picture 6" descr="Basketball Generic Detailed Outline icon | Magnific (formerly Magnific)">
              <a:extLst>
                <a:ext uri="{FF2B5EF4-FFF2-40B4-BE49-F238E27FC236}">
                  <a16:creationId xmlns:a16="http://schemas.microsoft.com/office/drawing/2014/main" id="{163CE036-BEBA-D75C-DA49-82FCC081222E}"/>
                </a:ext>
              </a:extLst>
            </p:cNvPr>
            <p:cNvPicPr>
              <a:picLocks noChangeAspect="1" noChangeArrowheads="1"/>
            </p:cNvPicPr>
            <p:nvPr/>
          </p:nvPicPr>
          <p:blipFill>
            <a:blip r:embed="rId2">
              <a:alphaModFix amt="50000"/>
              <a:extLst>
                <a:ext uri="{28A0092B-C50C-407E-A947-70E740481C1C}">
                  <a14:useLocalDpi xmlns:a14="http://schemas.microsoft.com/office/drawing/2010/main" val="0"/>
                </a:ext>
              </a:extLst>
            </a:blip>
            <a:srcRect/>
            <a:stretch>
              <a:fillRect/>
            </a:stretch>
          </p:blipFill>
          <p:spPr bwMode="auto">
            <a:xfrm>
              <a:off x="7241964" y="2782711"/>
              <a:ext cx="828823" cy="828823"/>
            </a:xfrm>
            <a:prstGeom prst="rect">
              <a:avLst/>
            </a:prstGeom>
            <a:noFill/>
            <a:extLst>
              <a:ext uri="{909E8E84-426E-40DD-AFC4-6F175D3DCCD1}">
                <a14:hiddenFill xmlns:a14="http://schemas.microsoft.com/office/drawing/2010/main">
                  <a:solidFill>
                    <a:srgbClr val="FFFFFF"/>
                  </a:solidFill>
                </a14:hiddenFill>
              </a:ext>
            </a:extLst>
          </p:spPr>
        </p:pic>
      </p:grpSp>
      <p:sp>
        <p:nvSpPr>
          <p:cNvPr id="4" name="Slide Number Placeholder 3"/>
          <p:cNvSpPr>
            <a:spLocks noGrp="1"/>
          </p:cNvSpPr>
          <p:nvPr>
            <p:ph type="sldNum" sz="quarter" idx="12"/>
          </p:nvPr>
        </p:nvSpPr>
        <p:spPr>
          <a:xfrm>
            <a:off x="11447637" y="6160691"/>
            <a:ext cx="744363" cy="697310"/>
          </a:xfrm>
        </p:spPr>
        <p:txBody>
          <a:bodyPr/>
          <a:lstStyle>
            <a:lvl1pPr algn="ctr">
              <a:defRPr sz="2800" b="1">
                <a:solidFill>
                  <a:schemeClr val="bg1"/>
                </a:solidFill>
                <a:latin typeface="Calibri" panose="020F0502020204030204" pitchFamily="34" charset="0"/>
                <a:cs typeface="Calibri" panose="020F0502020204030204" pitchFamily="34"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890593A-F4BA-F845-B2D0-50823751545E}" type="datetime1">
              <a:rPr lang="en-AU" smtClean="0"/>
              <a:t>27/9/2026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9162369-36DE-234A-96B5-CE00A698ECDF}" type="datetime1">
              <a:rPr lang="en-AU" smtClean="0"/>
              <a:t>27/9/2026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A056906-5A5C-304C-8512-E66F74D33241}"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137B1CD-6349-074C-8626-AD07E42E1CDD}" type="datetime1">
              <a:rPr lang="en-AU" smtClean="0"/>
              <a:t>27/9/2026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00B482-33AF-0841-9A67-517C02212B0D}" type="datetime1">
              <a:rPr lang="en-AU" smtClean="0"/>
              <a:t>27/9/2026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 Id="rId4" Type="http://schemas.openxmlformats.org/officeDocument/2006/relationships/image" Target="../media/image6.JPG"/><Relationship Id="rId5" Type="http://schemas.openxmlformats.org/officeDocument/2006/relationships/image" Target="../media/image13.JPG"/><Relationship Id="rId6"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5.jpeg"/><Relationship Id="rId4" Type="http://schemas.openxmlformats.org/officeDocument/2006/relationships/image" Target="../media/image16.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TextBox 1"/>
          <p:cNvSpPr txBox="1"/>
          <p:nvPr/>
        </p:nvSpPr>
        <p:spPr>
          <a:xfrm>
            <a:off x="914400" y="1874519"/>
            <a:ext cx="10332720" cy="1737360"/>
          </a:xfrm>
          <a:prstGeom prst="rect">
            <a:avLst/>
          </a:prstGeom>
          <a:noFill/>
        </p:spPr>
        <p:txBody>
          <a:bodyPr wrap="square" lIns="0" tIns="0" rIns="0" bIns="0" anchor="t">
            <a:spAutoFit/>
          </a:bodyPr>
          <a:lstStyle/>
          <a:p>
            <a:pPr algn="l">
              <a:lnSpc>
                <a:spcPct val="108000"/>
              </a:lnSpc>
              <a:spcAft>
                <a:spcPts val="600"/>
              </a:spcAft>
            </a:pPr>
            <a:r>
              <a:rPr lang="en-AU" sz="4400" b="1" i="0" dirty="0">
                <a:solidFill>
                  <a:srgbClr val="FFFFFF"/>
                </a:solidFill>
                <a:latin typeface="Calibri"/>
              </a:rPr>
              <a:t>Workload, Schedule Congestion,</a:t>
            </a:r>
          </a:p>
          <a:p>
            <a:pPr algn="l">
              <a:lnSpc>
                <a:spcPct val="108000"/>
              </a:lnSpc>
              <a:spcAft>
                <a:spcPts val="600"/>
              </a:spcAft>
            </a:pPr>
            <a:r>
              <a:rPr lang="en-AU" sz="4400" b="1" i="0" dirty="0">
                <a:solidFill>
                  <a:srgbClr val="FFFFFF"/>
                </a:solidFill>
                <a:latin typeface="Calibri"/>
              </a:rPr>
              <a:t>and Injury Risk in the NBA</a:t>
            </a:r>
          </a:p>
        </p:txBody>
      </p:sp>
      <p:sp>
        <p:nvSpPr>
          <p:cNvPr id="3" name="TextBox 2"/>
          <p:cNvSpPr txBox="1"/>
          <p:nvPr/>
        </p:nvSpPr>
        <p:spPr>
          <a:xfrm>
            <a:off x="914400" y="3611880"/>
            <a:ext cx="10332720" cy="323165"/>
          </a:xfrm>
          <a:prstGeom prst="rect">
            <a:avLst/>
          </a:prstGeom>
          <a:noFill/>
        </p:spPr>
        <p:txBody>
          <a:bodyPr wrap="square" lIns="0" tIns="0" rIns="0" bIns="0" anchor="t">
            <a:spAutoFit/>
          </a:bodyPr>
          <a:lstStyle/>
          <a:p>
            <a:pPr algn="l">
              <a:spcAft>
                <a:spcPts val="600"/>
              </a:spcAft>
            </a:pPr>
            <a:r>
              <a:rPr lang="en-AU" sz="2100" b="1" i="0" dirty="0">
                <a:solidFill>
                  <a:schemeClr val="accent6"/>
                </a:solidFill>
                <a:latin typeface="Calibri"/>
              </a:rPr>
              <a:t>A time-to-event perspective</a:t>
            </a:r>
          </a:p>
        </p:txBody>
      </p:sp>
      <p:sp>
        <p:nvSpPr>
          <p:cNvPr id="4" name="TextBox 3"/>
          <p:cNvSpPr txBox="1"/>
          <p:nvPr/>
        </p:nvSpPr>
        <p:spPr>
          <a:xfrm>
            <a:off x="914400" y="4709160"/>
            <a:ext cx="10332720" cy="914400"/>
          </a:xfrm>
          <a:prstGeom prst="rect">
            <a:avLst/>
          </a:prstGeom>
          <a:noFill/>
        </p:spPr>
        <p:txBody>
          <a:bodyPr wrap="square" lIns="0" tIns="0" rIns="0" bIns="0" anchor="t">
            <a:spAutoFit/>
          </a:bodyPr>
          <a:lstStyle/>
          <a:p>
            <a:pPr algn="l">
              <a:lnSpc>
                <a:spcPct val="135000"/>
              </a:lnSpc>
              <a:spcAft>
                <a:spcPts val="600"/>
              </a:spcAft>
            </a:pPr>
            <a:r>
              <a:rPr lang="en-AU" sz="1500" b="0" i="0" dirty="0">
                <a:solidFill>
                  <a:srgbClr val="C9D4E4"/>
                </a:solidFill>
                <a:latin typeface="Calibri"/>
              </a:rPr>
              <a:t>Alex Martin</a:t>
            </a:r>
          </a:p>
          <a:p>
            <a:pPr algn="l">
              <a:lnSpc>
                <a:spcPct val="135000"/>
              </a:lnSpc>
              <a:spcAft>
                <a:spcPts val="600"/>
              </a:spcAft>
            </a:pPr>
            <a:r>
              <a:rPr lang="en-AU" sz="1500" b="0" i="0" dirty="0">
                <a:solidFill>
                  <a:srgbClr val="C9D4E4"/>
                </a:solidFill>
                <a:latin typeface="Calibri"/>
              </a:rPr>
              <a:t>Master of Sports Analytics  ·  La Trobe University</a:t>
            </a:r>
          </a:p>
        </p:txBody>
      </p:sp>
      <p:sp>
        <p:nvSpPr>
          <p:cNvPr id="14" name="Slide Number Placeholder 13">
            <a:extLst>
              <a:ext uri="{FF2B5EF4-FFF2-40B4-BE49-F238E27FC236}">
                <a16:creationId xmlns:a16="http://schemas.microsoft.com/office/drawing/2014/main" id="{466EF2EC-384F-15F8-D957-3971A71F58B3}"/>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problem</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Injury is a major source of lost availability</a:t>
            </a:r>
          </a:p>
        </p:txBody>
      </p:sp>
      <p:sp>
        <p:nvSpPr>
          <p:cNvPr id="4" name="TextBox 3"/>
          <p:cNvSpPr txBox="1"/>
          <p:nvPr/>
        </p:nvSpPr>
        <p:spPr>
          <a:xfrm>
            <a:off x="1150337" y="3585416"/>
            <a:ext cx="2834642" cy="787973"/>
          </a:xfrm>
          <a:prstGeom prst="rect">
            <a:avLst/>
          </a:prstGeom>
          <a:noFill/>
        </p:spPr>
        <p:txBody>
          <a:bodyPr wrap="square" lIns="0" tIns="0" rIns="0" bIns="0">
            <a:spAutoFit/>
          </a:bodyPr>
          <a:lstStyle/>
          <a:p>
            <a:pPr>
              <a:lnSpc>
                <a:spcPct val="125000"/>
              </a:lnSpc>
              <a:spcAft>
                <a:spcPts val="1400"/>
              </a:spcAft>
            </a:pPr>
            <a:r>
              <a:rPr sz="1400" b="0" i="1" dirty="0">
                <a:solidFill>
                  <a:srgbClr val="333D4D"/>
                </a:solidFill>
                <a:latin typeface="Calibri"/>
              </a:rPr>
              <a:t>Across five NBA seasons and 1,029 players, </a:t>
            </a:r>
            <a:r>
              <a:rPr lang="en-AU" sz="1400" b="0" i="1" dirty="0">
                <a:solidFill>
                  <a:srgbClr val="333D4D"/>
                </a:solidFill>
                <a:latin typeface="Calibri"/>
              </a:rPr>
              <a:t>55% out for 2+ games (prolonged time loss)</a:t>
            </a:r>
          </a:p>
        </p:txBody>
      </p:sp>
      <p:sp>
        <p:nvSpPr>
          <p:cNvPr id="10" name="Slide Number Placeholder 9">
            <a:extLst>
              <a:ext uri="{FF2B5EF4-FFF2-40B4-BE49-F238E27FC236}">
                <a16:creationId xmlns:a16="http://schemas.microsoft.com/office/drawing/2014/main" id="{9868CF54-F9E4-FBDF-EEB8-ACA9266D74F6}"/>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a:t>
            </a:fld>
            <a:endParaRPr lang="en-US"/>
          </a:p>
        </p:txBody>
      </p:sp>
      <p:sp>
        <p:nvSpPr>
          <p:cNvPr id="5" name="Rounded Rectangle 4">
            <a:extLst>
              <a:ext uri="{FF2B5EF4-FFF2-40B4-BE49-F238E27FC236}">
                <a16:creationId xmlns:a16="http://schemas.microsoft.com/office/drawing/2014/main" id="{322931F4-C586-0458-4C0B-5F11A5399852}"/>
              </a:ext>
            </a:extLst>
          </p:cNvPr>
          <p:cNvSpPr/>
          <p:nvPr/>
        </p:nvSpPr>
        <p:spPr>
          <a:xfrm>
            <a:off x="1104618" y="1765242"/>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a:extLst>
              <a:ext uri="{FF2B5EF4-FFF2-40B4-BE49-F238E27FC236}">
                <a16:creationId xmlns:a16="http://schemas.microsoft.com/office/drawing/2014/main" id="{1BE4ADA7-C68A-5BFB-9553-C31FAA7D1508}"/>
              </a:ext>
            </a:extLst>
          </p:cNvPr>
          <p:cNvSpPr txBox="1"/>
          <p:nvPr/>
        </p:nvSpPr>
        <p:spPr>
          <a:xfrm>
            <a:off x="1287498" y="1929834"/>
            <a:ext cx="256032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3,981</a:t>
            </a:r>
          </a:p>
        </p:txBody>
      </p:sp>
      <p:sp>
        <p:nvSpPr>
          <p:cNvPr id="7" name="TextBox 6">
            <a:extLst>
              <a:ext uri="{FF2B5EF4-FFF2-40B4-BE49-F238E27FC236}">
                <a16:creationId xmlns:a16="http://schemas.microsoft.com/office/drawing/2014/main" id="{4870C1D9-9F7E-DE05-0651-9E20433FFBB8}"/>
              </a:ext>
            </a:extLst>
          </p:cNvPr>
          <p:cNvSpPr txBox="1"/>
          <p:nvPr/>
        </p:nvSpPr>
        <p:spPr>
          <a:xfrm>
            <a:off x="1287498" y="2771082"/>
            <a:ext cx="2560320" cy="209032"/>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Injury episodes</a:t>
            </a:r>
          </a:p>
        </p:txBody>
      </p:sp>
      <p:sp>
        <p:nvSpPr>
          <p:cNvPr id="8" name="Rounded Rectangle 7">
            <a:extLst>
              <a:ext uri="{FF2B5EF4-FFF2-40B4-BE49-F238E27FC236}">
                <a16:creationId xmlns:a16="http://schemas.microsoft.com/office/drawing/2014/main" id="{DBB3458E-F028-566F-D6BC-10D75D90D757}"/>
              </a:ext>
            </a:extLst>
          </p:cNvPr>
          <p:cNvSpPr/>
          <p:nvPr/>
        </p:nvSpPr>
        <p:spPr>
          <a:xfrm>
            <a:off x="4598671" y="1763080"/>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TextBox 8">
            <a:extLst>
              <a:ext uri="{FF2B5EF4-FFF2-40B4-BE49-F238E27FC236}">
                <a16:creationId xmlns:a16="http://schemas.microsoft.com/office/drawing/2014/main" id="{5B754A26-1843-279E-78C0-F1A93385B990}"/>
              </a:ext>
            </a:extLst>
          </p:cNvPr>
          <p:cNvSpPr txBox="1"/>
          <p:nvPr/>
        </p:nvSpPr>
        <p:spPr>
          <a:xfrm>
            <a:off x="4781551" y="1927672"/>
            <a:ext cx="256032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82 in 180</a:t>
            </a:r>
          </a:p>
        </p:txBody>
      </p:sp>
      <p:sp>
        <p:nvSpPr>
          <p:cNvPr id="11" name="TextBox 10">
            <a:extLst>
              <a:ext uri="{FF2B5EF4-FFF2-40B4-BE49-F238E27FC236}">
                <a16:creationId xmlns:a16="http://schemas.microsoft.com/office/drawing/2014/main" id="{B7488815-7937-B74F-3BDB-B019ED5A6040}"/>
              </a:ext>
            </a:extLst>
          </p:cNvPr>
          <p:cNvSpPr txBox="1"/>
          <p:nvPr/>
        </p:nvSpPr>
        <p:spPr>
          <a:xfrm>
            <a:off x="4781551" y="2768920"/>
            <a:ext cx="2560320" cy="209032"/>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82 games in 180 days</a:t>
            </a:r>
          </a:p>
        </p:txBody>
      </p:sp>
      <p:sp>
        <p:nvSpPr>
          <p:cNvPr id="12" name="Rounded Rectangle 11">
            <a:extLst>
              <a:ext uri="{FF2B5EF4-FFF2-40B4-BE49-F238E27FC236}">
                <a16:creationId xmlns:a16="http://schemas.microsoft.com/office/drawing/2014/main" id="{21AD7837-D12D-3368-2536-D94BEBA58AB7}"/>
              </a:ext>
            </a:extLst>
          </p:cNvPr>
          <p:cNvSpPr/>
          <p:nvPr/>
        </p:nvSpPr>
        <p:spPr>
          <a:xfrm>
            <a:off x="8092723" y="1763507"/>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a:extLst>
              <a:ext uri="{FF2B5EF4-FFF2-40B4-BE49-F238E27FC236}">
                <a16:creationId xmlns:a16="http://schemas.microsoft.com/office/drawing/2014/main" id="{2D15FFB6-F7D5-E375-99B3-2997774E7239}"/>
              </a:ext>
            </a:extLst>
          </p:cNvPr>
          <p:cNvSpPr txBox="1"/>
          <p:nvPr/>
        </p:nvSpPr>
        <p:spPr>
          <a:xfrm>
            <a:off x="8275603" y="2081761"/>
            <a:ext cx="2560320" cy="369332"/>
          </a:xfrm>
          <a:prstGeom prst="rect">
            <a:avLst/>
          </a:prstGeom>
          <a:noFill/>
        </p:spPr>
        <p:txBody>
          <a:bodyPr wrap="square" lIns="0" tIns="0" rIns="0" bIns="0" anchor="t">
            <a:spAutoFit/>
          </a:bodyPr>
          <a:lstStyle/>
          <a:p>
            <a:pPr algn="ctr">
              <a:spcAft>
                <a:spcPts val="600"/>
              </a:spcAft>
            </a:pPr>
            <a:r>
              <a:rPr lang="en-AU" sz="2400" b="1" i="0" dirty="0">
                <a:solidFill>
                  <a:schemeClr val="accent6"/>
                </a:solidFill>
                <a:latin typeface="Calibri"/>
              </a:rPr>
              <a:t>Absence != Injury</a:t>
            </a:r>
          </a:p>
        </p:txBody>
      </p:sp>
      <p:sp>
        <p:nvSpPr>
          <p:cNvPr id="14" name="TextBox 13">
            <a:extLst>
              <a:ext uri="{FF2B5EF4-FFF2-40B4-BE49-F238E27FC236}">
                <a16:creationId xmlns:a16="http://schemas.microsoft.com/office/drawing/2014/main" id="{D053C2D5-A9F1-FED6-AC43-0F793B765845}"/>
              </a:ext>
            </a:extLst>
          </p:cNvPr>
          <p:cNvSpPr txBox="1"/>
          <p:nvPr/>
        </p:nvSpPr>
        <p:spPr>
          <a:xfrm>
            <a:off x="8275603" y="2769347"/>
            <a:ext cx="2560320" cy="209032"/>
          </a:xfrm>
          <a:prstGeom prst="rect">
            <a:avLst/>
          </a:prstGeom>
          <a:noFill/>
        </p:spPr>
        <p:txBody>
          <a:bodyPr wrap="square" lIns="0" tIns="0" rIns="0" bIns="0" anchor="t">
            <a:spAutoFit/>
          </a:bodyPr>
          <a:lstStyle/>
          <a:p>
            <a:pPr algn="ctr">
              <a:lnSpc>
                <a:spcPct val="110000"/>
              </a:lnSpc>
              <a:spcAft>
                <a:spcPts val="600"/>
              </a:spcAft>
            </a:pPr>
            <a:r>
              <a:rPr lang="en-AU" sz="1300" dirty="0">
                <a:solidFill>
                  <a:srgbClr val="6B7686"/>
                </a:solidFill>
                <a:latin typeface="Calibri"/>
              </a:rPr>
              <a:t>Teams manage it on judgement</a:t>
            </a:r>
          </a:p>
        </p:txBody>
      </p:sp>
      <p:sp>
        <p:nvSpPr>
          <p:cNvPr id="15" name="TextBox 14">
            <a:extLst>
              <a:ext uri="{FF2B5EF4-FFF2-40B4-BE49-F238E27FC236}">
                <a16:creationId xmlns:a16="http://schemas.microsoft.com/office/drawing/2014/main" id="{A94AAE2B-8493-7FAC-46FC-94E6809D3821}"/>
              </a:ext>
            </a:extLst>
          </p:cNvPr>
          <p:cNvSpPr txBox="1"/>
          <p:nvPr/>
        </p:nvSpPr>
        <p:spPr>
          <a:xfrm>
            <a:off x="4644390" y="3585416"/>
            <a:ext cx="2834642" cy="1057277"/>
          </a:xfrm>
          <a:prstGeom prst="rect">
            <a:avLst/>
          </a:prstGeom>
          <a:noFill/>
        </p:spPr>
        <p:txBody>
          <a:bodyPr wrap="square" lIns="0" tIns="0" rIns="0" bIns="0">
            <a:spAutoFit/>
          </a:bodyPr>
          <a:lstStyle/>
          <a:p>
            <a:pPr>
              <a:lnSpc>
                <a:spcPct val="125000"/>
              </a:lnSpc>
              <a:spcAft>
                <a:spcPts val="1400"/>
              </a:spcAft>
            </a:pPr>
            <a:r>
              <a:rPr sz="1400" b="0" i="1" dirty="0">
                <a:solidFill>
                  <a:srgbClr val="333D4D"/>
                </a:solidFill>
                <a:latin typeface="Calibri"/>
              </a:rPr>
              <a:t>Eighty-two games in roughly 180 days across four time zones, including back-to-backs. The load arrives regardless.</a:t>
            </a:r>
          </a:p>
        </p:txBody>
      </p:sp>
      <p:sp>
        <p:nvSpPr>
          <p:cNvPr id="16" name="TextBox 15">
            <a:extLst>
              <a:ext uri="{FF2B5EF4-FFF2-40B4-BE49-F238E27FC236}">
                <a16:creationId xmlns:a16="http://schemas.microsoft.com/office/drawing/2014/main" id="{1845A11D-196C-B3DD-F121-58F913FC6B82}"/>
              </a:ext>
            </a:extLst>
          </p:cNvPr>
          <p:cNvSpPr txBox="1"/>
          <p:nvPr/>
        </p:nvSpPr>
        <p:spPr>
          <a:xfrm>
            <a:off x="8138443" y="3585416"/>
            <a:ext cx="2834642" cy="787973"/>
          </a:xfrm>
          <a:prstGeom prst="rect">
            <a:avLst/>
          </a:prstGeom>
          <a:noFill/>
        </p:spPr>
        <p:txBody>
          <a:bodyPr wrap="square" lIns="0" tIns="0" rIns="0" bIns="0">
            <a:spAutoFit/>
          </a:bodyPr>
          <a:lstStyle/>
          <a:p>
            <a:pPr>
              <a:lnSpc>
                <a:spcPct val="125000"/>
              </a:lnSpc>
              <a:spcAft>
                <a:spcPts val="1400"/>
              </a:spcAft>
            </a:pPr>
            <a:r>
              <a:rPr sz="1400" b="0" i="1" dirty="0">
                <a:solidFill>
                  <a:srgbClr val="333D4D"/>
                </a:solidFill>
                <a:latin typeface="Calibri"/>
              </a:rPr>
              <a:t>Rest is decided nightly</a:t>
            </a:r>
            <a:r>
              <a:rPr lang="en-AU" sz="1400" b="0" i="1" dirty="0">
                <a:solidFill>
                  <a:srgbClr val="333D4D"/>
                </a:solidFill>
                <a:latin typeface="Calibri"/>
              </a:rPr>
              <a:t> based </a:t>
            </a:r>
            <a:r>
              <a:rPr lang="en-AU" sz="1400" i="1" dirty="0">
                <a:solidFill>
                  <a:srgbClr val="333D4D"/>
                </a:solidFill>
                <a:latin typeface="Calibri"/>
              </a:rPr>
              <a:t>by </a:t>
            </a:r>
            <a:r>
              <a:rPr lang="en-AU" sz="1400" b="0" i="1" dirty="0">
                <a:solidFill>
                  <a:srgbClr val="333D4D"/>
                </a:solidFill>
                <a:latin typeface="Calibri"/>
              </a:rPr>
              <a:t>internal team load rules, team strategy and roster governance / politics</a:t>
            </a:r>
            <a:endParaRPr sz="1400" b="0" i="1" dirty="0">
              <a:solidFill>
                <a:srgbClr val="333D4D"/>
              </a:solidFill>
              <a:latin typeface="Calibri"/>
            </a:endParaRPr>
          </a:p>
        </p:txBody>
      </p:sp>
      <p:pic>
        <p:nvPicPr>
          <p:cNvPr id="1026" name="Picture 2" descr="Tyrese Haliburton Has Achilles Surgery: 'Watch How I Come Back From This' |  FOX Sports">
            <a:extLst>
              <a:ext uri="{FF2B5EF4-FFF2-40B4-BE49-F238E27FC236}">
                <a16:creationId xmlns:a16="http://schemas.microsoft.com/office/drawing/2014/main" id="{2D5318C7-F66B-39FE-88E8-FED0D91A80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678" t="-2645" b="-1"/>
          <a:stretch>
            <a:fillRect/>
          </a:stretch>
        </p:blipFill>
        <p:spPr bwMode="auto">
          <a:xfrm>
            <a:off x="1556262" y="4620795"/>
            <a:ext cx="1896291" cy="1557159"/>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pic>
        <p:nvPicPr>
          <p:cNvPr id="1028" name="Picture 4" descr="For Clippers and Kawhi Leonard, load management just part of the deal |  NBA.com">
            <a:extLst>
              <a:ext uri="{FF2B5EF4-FFF2-40B4-BE49-F238E27FC236}">
                <a16:creationId xmlns:a16="http://schemas.microsoft.com/office/drawing/2014/main" id="{B49FDD0B-FC67-E1CA-5275-A4DA86E0611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985" t="128" r="6994" b="-128"/>
          <a:stretch>
            <a:fillRect/>
          </a:stretch>
        </p:blipFill>
        <p:spPr bwMode="auto">
          <a:xfrm>
            <a:off x="8544368" y="4635194"/>
            <a:ext cx="1896291" cy="1542313"/>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pic>
        <p:nvPicPr>
          <p:cNvPr id="1030" name="Picture 6" descr="nba teams didn't start flying private until the late 80s - so anyone that  played before then flew commercial flights while traveling for games.">
            <a:extLst>
              <a:ext uri="{FF2B5EF4-FFF2-40B4-BE49-F238E27FC236}">
                <a16:creationId xmlns:a16="http://schemas.microsoft.com/office/drawing/2014/main" id="{5C4489E5-1B9C-9CD5-74DF-158076BB28F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30" t="8748" r="-430" b="25629"/>
          <a:stretch>
            <a:fillRect/>
          </a:stretch>
        </p:blipFill>
        <p:spPr bwMode="auto">
          <a:xfrm>
            <a:off x="5037059" y="4635195"/>
            <a:ext cx="1901012" cy="1542313"/>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1" grpId="0"/>
      <p:bldP spid="12" grpId="0" animBg="1"/>
      <p:bldP spid="13" grpId="0"/>
      <p:bldP spid="14" grpId="0"/>
      <p:bldP spid="15" grpId="0"/>
      <p:bldP spid="16"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Rounded Rectangle 18">
            <a:extLst>
              <a:ext uri="{FF2B5EF4-FFF2-40B4-BE49-F238E27FC236}">
                <a16:creationId xmlns:a16="http://schemas.microsoft.com/office/drawing/2014/main" id="{2BA07341-5434-8F07-8576-17EDD1C707E2}"/>
              </a:ext>
            </a:extLst>
          </p:cNvPr>
          <p:cNvSpPr/>
          <p:nvPr/>
        </p:nvSpPr>
        <p:spPr>
          <a:xfrm>
            <a:off x="1840221" y="3266864"/>
            <a:ext cx="7844246" cy="1323283"/>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0" name="Rounded Rectangle 19">
            <a:extLst>
              <a:ext uri="{FF2B5EF4-FFF2-40B4-BE49-F238E27FC236}">
                <a16:creationId xmlns:a16="http://schemas.microsoft.com/office/drawing/2014/main" id="{C4353571-FC75-A709-843F-9BA054689493}"/>
              </a:ext>
            </a:extLst>
          </p:cNvPr>
          <p:cNvSpPr/>
          <p:nvPr/>
        </p:nvSpPr>
        <p:spPr>
          <a:xfrm>
            <a:off x="1840221" y="4837408"/>
            <a:ext cx="7844246" cy="1323283"/>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Rounded Rectangle 8">
            <a:extLst>
              <a:ext uri="{FF2B5EF4-FFF2-40B4-BE49-F238E27FC236}">
                <a16:creationId xmlns:a16="http://schemas.microsoft.com/office/drawing/2014/main" id="{361D73DA-54B9-38AB-3AE5-3201A017E47E}"/>
              </a:ext>
            </a:extLst>
          </p:cNvPr>
          <p:cNvSpPr/>
          <p:nvPr/>
        </p:nvSpPr>
        <p:spPr>
          <a:xfrm>
            <a:off x="1840221" y="1695579"/>
            <a:ext cx="7844246" cy="1323283"/>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we already know</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Workload Injury association exists in literature, many unique conclusions</a:t>
            </a:r>
          </a:p>
        </p:txBody>
      </p:sp>
      <p:sp>
        <p:nvSpPr>
          <p:cNvPr id="10" name="Slide Number Placeholder 9">
            <a:extLst>
              <a:ext uri="{FF2B5EF4-FFF2-40B4-BE49-F238E27FC236}">
                <a16:creationId xmlns:a16="http://schemas.microsoft.com/office/drawing/2014/main" id="{4D5604FD-4245-4D9D-98B9-405E48308114}"/>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3</a:t>
            </a:fld>
            <a:endParaRPr lang="en-US"/>
          </a:p>
        </p:txBody>
      </p:sp>
      <p:sp>
        <p:nvSpPr>
          <p:cNvPr id="7" name="TextBox 6">
            <a:extLst>
              <a:ext uri="{FF2B5EF4-FFF2-40B4-BE49-F238E27FC236}">
                <a16:creationId xmlns:a16="http://schemas.microsoft.com/office/drawing/2014/main" id="{416CC81F-EC26-356E-77B7-EABAC74DEB37}"/>
              </a:ext>
            </a:extLst>
          </p:cNvPr>
          <p:cNvSpPr txBox="1"/>
          <p:nvPr/>
        </p:nvSpPr>
        <p:spPr>
          <a:xfrm>
            <a:off x="144347" y="6570370"/>
            <a:ext cx="4526313" cy="707886"/>
          </a:xfrm>
          <a:prstGeom prst="rect">
            <a:avLst/>
          </a:prstGeom>
          <a:noFill/>
        </p:spPr>
        <p:txBody>
          <a:bodyPr wrap="square" lIns="0" tIns="0" rIns="0" bIns="0" anchor="t">
            <a:spAutoFit/>
          </a:bodyPr>
          <a:lstStyle/>
          <a:p>
            <a:pPr>
              <a:spcAft>
                <a:spcPts val="600"/>
              </a:spcAft>
            </a:pPr>
            <a:r>
              <a:rPr lang="en-AU" sz="1200" i="1" dirty="0">
                <a:solidFill>
                  <a:srgbClr val="6B7686"/>
                </a:solidFill>
                <a:latin typeface="Calibri"/>
              </a:rPr>
              <a:t>(Lewis, 2018), (</a:t>
            </a:r>
            <a:r>
              <a:rPr lang="en-AU" sz="1200" i="1" dirty="0" err="1">
                <a:solidFill>
                  <a:srgbClr val="6B7686"/>
                </a:solidFill>
                <a:latin typeface="Calibri"/>
              </a:rPr>
              <a:t>Orringer</a:t>
            </a:r>
            <a:r>
              <a:rPr lang="en-AU" sz="1200" i="1" dirty="0">
                <a:solidFill>
                  <a:srgbClr val="6B7686"/>
                </a:solidFill>
                <a:latin typeface="Calibri"/>
              </a:rPr>
              <a:t>, 2022), (Morikawa, 2022), (Fulton, 2014)</a:t>
            </a:r>
          </a:p>
          <a:p>
            <a:pPr>
              <a:spcAft>
                <a:spcPts val="600"/>
              </a:spcAft>
            </a:pPr>
            <a:endParaRPr lang="en-AU" sz="1200" i="1" dirty="0">
              <a:solidFill>
                <a:srgbClr val="6B7686"/>
              </a:solidFill>
              <a:latin typeface="Calibri"/>
            </a:endParaRPr>
          </a:p>
          <a:p>
            <a:pPr algn="l">
              <a:spcAft>
                <a:spcPts val="600"/>
              </a:spcAft>
            </a:pPr>
            <a:endParaRPr lang="en-AU" sz="1200" i="1" dirty="0">
              <a:solidFill>
                <a:srgbClr val="6B7686"/>
              </a:solidFill>
              <a:latin typeface="Calibri"/>
            </a:endParaRPr>
          </a:p>
        </p:txBody>
      </p:sp>
      <p:sp>
        <p:nvSpPr>
          <p:cNvPr id="4" name="TextBox 3">
            <a:extLst>
              <a:ext uri="{FF2B5EF4-FFF2-40B4-BE49-F238E27FC236}">
                <a16:creationId xmlns:a16="http://schemas.microsoft.com/office/drawing/2014/main" id="{68D658BC-2722-AFAF-0DD8-7BBBAFC7F763}"/>
              </a:ext>
            </a:extLst>
          </p:cNvPr>
          <p:cNvSpPr txBox="1"/>
          <p:nvPr/>
        </p:nvSpPr>
        <p:spPr>
          <a:xfrm>
            <a:off x="2114135" y="1863917"/>
            <a:ext cx="7105387" cy="923330"/>
          </a:xfrm>
          <a:prstGeom prst="rect">
            <a:avLst/>
          </a:prstGeom>
          <a:noFill/>
        </p:spPr>
        <p:txBody>
          <a:bodyPr wrap="square" rtlCol="0">
            <a:spAutoFit/>
          </a:bodyPr>
          <a:lstStyle/>
          <a:p>
            <a:r>
              <a:rPr lang="en-AU" b="1" dirty="0">
                <a:solidFill>
                  <a:schemeClr val="tx2">
                    <a:lumMod val="50000"/>
                  </a:schemeClr>
                </a:solidFill>
              </a:rPr>
              <a:t>Minutes has already been associated with Injuries:</a:t>
            </a:r>
          </a:p>
          <a:p>
            <a:r>
              <a:rPr lang="en-AU" dirty="0">
                <a:solidFill>
                  <a:schemeClr val="tx2">
                    <a:lumMod val="50000"/>
                  </a:schemeClr>
                </a:solidFill>
              </a:rPr>
              <a:t>Lewis 2018, linked </a:t>
            </a:r>
            <a:r>
              <a:rPr lang="en-AU" b="1" dirty="0">
                <a:solidFill>
                  <a:schemeClr val="tx2">
                    <a:lumMod val="50000"/>
                  </a:schemeClr>
                </a:solidFill>
              </a:rPr>
              <a:t>accumulated</a:t>
            </a:r>
            <a:r>
              <a:rPr lang="en-AU" dirty="0">
                <a:solidFill>
                  <a:schemeClr val="tx2">
                    <a:lumMod val="50000"/>
                  </a:schemeClr>
                </a:solidFill>
              </a:rPr>
              <a:t> load to </a:t>
            </a:r>
            <a:r>
              <a:rPr lang="en-AU" b="1" dirty="0">
                <a:solidFill>
                  <a:schemeClr val="tx2">
                    <a:lumMod val="50000"/>
                  </a:schemeClr>
                </a:solidFill>
              </a:rPr>
              <a:t>↑</a:t>
            </a:r>
            <a:r>
              <a:rPr lang="en-AU" dirty="0">
                <a:solidFill>
                  <a:schemeClr val="tx2">
                    <a:lumMod val="50000"/>
                  </a:schemeClr>
                </a:solidFill>
              </a:rPr>
              <a:t> </a:t>
            </a:r>
            <a:r>
              <a:rPr lang="en-AU" b="1" dirty="0">
                <a:solidFill>
                  <a:schemeClr val="tx2">
                    <a:lumMod val="50000"/>
                  </a:schemeClr>
                </a:solidFill>
              </a:rPr>
              <a:t>injury</a:t>
            </a:r>
            <a:r>
              <a:rPr lang="en-AU" dirty="0">
                <a:solidFill>
                  <a:schemeClr val="tx2">
                    <a:lumMod val="50000"/>
                  </a:schemeClr>
                </a:solidFill>
              </a:rPr>
              <a:t> odds.</a:t>
            </a:r>
            <a:br>
              <a:rPr lang="en-AU" dirty="0">
                <a:solidFill>
                  <a:schemeClr val="tx2">
                    <a:lumMod val="50000"/>
                  </a:schemeClr>
                </a:solidFill>
              </a:rPr>
            </a:br>
            <a:r>
              <a:rPr lang="en-AU" dirty="0" err="1">
                <a:solidFill>
                  <a:schemeClr val="tx2">
                    <a:lumMod val="50000"/>
                  </a:schemeClr>
                </a:solidFill>
              </a:rPr>
              <a:t>Orringer</a:t>
            </a:r>
            <a:r>
              <a:rPr lang="en-AU" dirty="0">
                <a:solidFill>
                  <a:schemeClr val="tx2">
                    <a:lumMod val="50000"/>
                  </a:schemeClr>
                </a:solidFill>
              </a:rPr>
              <a:t> &amp; Pandya 2022, found </a:t>
            </a:r>
            <a:r>
              <a:rPr lang="en-AU" b="1" dirty="0">
                <a:solidFill>
                  <a:schemeClr val="tx2">
                    <a:lumMod val="50000"/>
                  </a:schemeClr>
                </a:solidFill>
              </a:rPr>
              <a:t>minutes</a:t>
            </a:r>
            <a:r>
              <a:rPr lang="en-AU" dirty="0">
                <a:solidFill>
                  <a:schemeClr val="tx2">
                    <a:lumMod val="50000"/>
                  </a:schemeClr>
                </a:solidFill>
              </a:rPr>
              <a:t> running </a:t>
            </a:r>
            <a:r>
              <a:rPr lang="en-AU" b="1" dirty="0">
                <a:solidFill>
                  <a:schemeClr val="tx2">
                    <a:lumMod val="50000"/>
                  </a:schemeClr>
                </a:solidFill>
              </a:rPr>
              <a:t>4-6%</a:t>
            </a:r>
            <a:r>
              <a:rPr lang="en-AU" dirty="0">
                <a:solidFill>
                  <a:schemeClr val="tx2">
                    <a:lumMod val="50000"/>
                  </a:schemeClr>
                </a:solidFill>
              </a:rPr>
              <a:t> </a:t>
            </a:r>
            <a:r>
              <a:rPr lang="en-AU" b="1" dirty="0">
                <a:solidFill>
                  <a:schemeClr val="tx2">
                    <a:lumMod val="50000"/>
                  </a:schemeClr>
                </a:solidFill>
              </a:rPr>
              <a:t>↑</a:t>
            </a:r>
            <a:r>
              <a:rPr lang="en-AU" dirty="0">
                <a:solidFill>
                  <a:schemeClr val="tx2">
                    <a:lumMod val="50000"/>
                  </a:schemeClr>
                </a:solidFill>
              </a:rPr>
              <a:t> before </a:t>
            </a:r>
            <a:r>
              <a:rPr lang="en-AU" b="1" dirty="0">
                <a:solidFill>
                  <a:schemeClr val="tx2">
                    <a:lumMod val="50000"/>
                  </a:schemeClr>
                </a:solidFill>
              </a:rPr>
              <a:t>injury</a:t>
            </a:r>
            <a:r>
              <a:rPr lang="en-AU" dirty="0">
                <a:solidFill>
                  <a:schemeClr val="tx2">
                    <a:lumMod val="50000"/>
                  </a:schemeClr>
                </a:solidFill>
              </a:rPr>
              <a:t>.</a:t>
            </a:r>
          </a:p>
        </p:txBody>
      </p:sp>
      <p:sp>
        <p:nvSpPr>
          <p:cNvPr id="16" name="TextBox 15">
            <a:extLst>
              <a:ext uri="{FF2B5EF4-FFF2-40B4-BE49-F238E27FC236}">
                <a16:creationId xmlns:a16="http://schemas.microsoft.com/office/drawing/2014/main" id="{7EBFB973-7E6F-BD49-C04F-3A7FB18BE000}"/>
              </a:ext>
            </a:extLst>
          </p:cNvPr>
          <p:cNvSpPr txBox="1"/>
          <p:nvPr/>
        </p:nvSpPr>
        <p:spPr>
          <a:xfrm>
            <a:off x="2114135" y="3513448"/>
            <a:ext cx="7105387" cy="1200329"/>
          </a:xfrm>
          <a:prstGeom prst="rect">
            <a:avLst/>
          </a:prstGeom>
          <a:noFill/>
        </p:spPr>
        <p:txBody>
          <a:bodyPr wrap="square">
            <a:spAutoFit/>
          </a:bodyPr>
          <a:lstStyle/>
          <a:p>
            <a:r>
              <a:rPr lang="en-AU" b="1" dirty="0">
                <a:solidFill>
                  <a:schemeClr val="tx2">
                    <a:lumMod val="50000"/>
                  </a:schemeClr>
                </a:solidFill>
              </a:rPr>
              <a:t>Congestion and the heavy schedule has a measured injury rate effect: </a:t>
            </a:r>
            <a:r>
              <a:rPr lang="en-AU" dirty="0">
                <a:solidFill>
                  <a:schemeClr val="tx2">
                    <a:lumMod val="50000"/>
                  </a:schemeClr>
                </a:solidFill>
              </a:rPr>
              <a:t>Morikawa et al 2022, found injury rates </a:t>
            </a:r>
            <a:r>
              <a:rPr lang="en-AU" b="1" dirty="0">
                <a:solidFill>
                  <a:schemeClr val="tx2">
                    <a:lumMod val="50000"/>
                  </a:schemeClr>
                </a:solidFill>
              </a:rPr>
              <a:t>42%</a:t>
            </a:r>
            <a:r>
              <a:rPr lang="en-AU" dirty="0">
                <a:solidFill>
                  <a:schemeClr val="tx2">
                    <a:lumMod val="50000"/>
                  </a:schemeClr>
                </a:solidFill>
              </a:rPr>
              <a:t> </a:t>
            </a:r>
            <a:r>
              <a:rPr lang="en-AU" b="1" dirty="0">
                <a:solidFill>
                  <a:schemeClr val="tx2">
                    <a:lumMod val="50000"/>
                  </a:schemeClr>
                </a:solidFill>
              </a:rPr>
              <a:t>↑</a:t>
            </a:r>
            <a:r>
              <a:rPr lang="en-AU" dirty="0">
                <a:solidFill>
                  <a:schemeClr val="tx2">
                    <a:lumMod val="50000"/>
                  </a:schemeClr>
                </a:solidFill>
              </a:rPr>
              <a:t> in a </a:t>
            </a:r>
            <a:r>
              <a:rPr lang="en-AU" b="1" dirty="0">
                <a:solidFill>
                  <a:schemeClr val="tx2">
                    <a:lumMod val="50000"/>
                  </a:schemeClr>
                </a:solidFill>
              </a:rPr>
              <a:t>condensed</a:t>
            </a:r>
            <a:r>
              <a:rPr lang="en-AU" dirty="0">
                <a:solidFill>
                  <a:schemeClr val="tx2">
                    <a:lumMod val="50000"/>
                  </a:schemeClr>
                </a:solidFill>
              </a:rPr>
              <a:t> </a:t>
            </a:r>
            <a:r>
              <a:rPr lang="en-AU" b="1" dirty="0">
                <a:solidFill>
                  <a:schemeClr val="tx2">
                    <a:lumMod val="50000"/>
                  </a:schemeClr>
                </a:solidFill>
              </a:rPr>
              <a:t>season</a:t>
            </a:r>
            <a:r>
              <a:rPr lang="en-AU" dirty="0">
                <a:solidFill>
                  <a:schemeClr val="tx2">
                    <a:lumMod val="50000"/>
                  </a:schemeClr>
                </a:solidFill>
              </a:rPr>
              <a:t>.</a:t>
            </a:r>
          </a:p>
          <a:p>
            <a:endParaRPr lang="en-AU" dirty="0">
              <a:solidFill>
                <a:schemeClr val="tx2">
                  <a:lumMod val="50000"/>
                </a:schemeClr>
              </a:solidFill>
            </a:endParaRPr>
          </a:p>
          <a:p>
            <a:endParaRPr lang="en-AU" dirty="0">
              <a:solidFill>
                <a:schemeClr val="tx2">
                  <a:lumMod val="50000"/>
                </a:schemeClr>
              </a:solidFill>
            </a:endParaRPr>
          </a:p>
        </p:txBody>
      </p:sp>
      <p:sp>
        <p:nvSpPr>
          <p:cNvPr id="18" name="TextBox 17">
            <a:extLst>
              <a:ext uri="{FF2B5EF4-FFF2-40B4-BE49-F238E27FC236}">
                <a16:creationId xmlns:a16="http://schemas.microsoft.com/office/drawing/2014/main" id="{6C166BE1-0E1B-BE82-C054-FE45AE273310}"/>
              </a:ext>
            </a:extLst>
          </p:cNvPr>
          <p:cNvSpPr txBox="1"/>
          <p:nvPr/>
        </p:nvSpPr>
        <p:spPr>
          <a:xfrm>
            <a:off x="2114135" y="5042688"/>
            <a:ext cx="7421751" cy="923330"/>
          </a:xfrm>
          <a:prstGeom prst="rect">
            <a:avLst/>
          </a:prstGeom>
          <a:noFill/>
        </p:spPr>
        <p:txBody>
          <a:bodyPr wrap="square">
            <a:spAutoFit/>
          </a:bodyPr>
          <a:lstStyle/>
          <a:p>
            <a:r>
              <a:rPr lang="en-AU" b="1" dirty="0">
                <a:solidFill>
                  <a:schemeClr val="tx2">
                    <a:lumMod val="50000"/>
                  </a:schemeClr>
                </a:solidFill>
              </a:rPr>
              <a:t>Prior injury and injury proneness is a known risk factor: </a:t>
            </a:r>
          </a:p>
          <a:p>
            <a:r>
              <a:rPr lang="en-AU" dirty="0">
                <a:solidFill>
                  <a:schemeClr val="tx2">
                    <a:lumMod val="50000"/>
                  </a:schemeClr>
                </a:solidFill>
              </a:rPr>
              <a:t>Fulton et al 2014, found a </a:t>
            </a:r>
            <a:r>
              <a:rPr lang="en-AU" b="1" dirty="0">
                <a:solidFill>
                  <a:schemeClr val="tx2">
                    <a:lumMod val="50000"/>
                  </a:schemeClr>
                </a:solidFill>
              </a:rPr>
              <a:t>4 x</a:t>
            </a:r>
            <a:r>
              <a:rPr lang="en-AU" dirty="0">
                <a:solidFill>
                  <a:schemeClr val="tx2">
                    <a:lumMod val="50000"/>
                  </a:schemeClr>
                </a:solidFill>
              </a:rPr>
              <a:t>  rate of recurrence </a:t>
            </a:r>
            <a:r>
              <a:rPr lang="en-AU" b="1" dirty="0">
                <a:solidFill>
                  <a:schemeClr val="tx2">
                    <a:lumMod val="50000"/>
                  </a:schemeClr>
                </a:solidFill>
              </a:rPr>
              <a:t>after</a:t>
            </a:r>
            <a:r>
              <a:rPr lang="en-AU" dirty="0">
                <a:solidFill>
                  <a:schemeClr val="tx2">
                    <a:lumMod val="50000"/>
                  </a:schemeClr>
                </a:solidFill>
              </a:rPr>
              <a:t> </a:t>
            </a:r>
            <a:r>
              <a:rPr lang="en-AU" b="1" dirty="0">
                <a:solidFill>
                  <a:schemeClr val="tx2">
                    <a:lumMod val="50000"/>
                  </a:schemeClr>
                </a:solidFill>
              </a:rPr>
              <a:t>initial</a:t>
            </a:r>
            <a:r>
              <a:rPr lang="en-AU" dirty="0">
                <a:solidFill>
                  <a:schemeClr val="tx2">
                    <a:lumMod val="50000"/>
                  </a:schemeClr>
                </a:solidFill>
              </a:rPr>
              <a:t> hamstring strain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9" grpId="0" animBg="1"/>
      <p:bldP spid="4" grpId="0"/>
      <p:bldP spid="16" grpId="0"/>
      <p:bldP spid="18"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101417A5-04E2-CA98-DB53-9B68D74579CB}"/>
              </a:ext>
            </a:extLst>
          </p:cNvPr>
          <p:cNvSpPr/>
          <p:nvPr/>
        </p:nvSpPr>
        <p:spPr>
          <a:xfrm>
            <a:off x="777240" y="1891662"/>
            <a:ext cx="5120640" cy="1894523"/>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a:extLst>
              <a:ext uri="{FF2B5EF4-FFF2-40B4-BE49-F238E27FC236}">
                <a16:creationId xmlns:a16="http://schemas.microsoft.com/office/drawing/2014/main" id="{C9DD57C5-8A3F-2F7C-D284-5FE8C3382256}"/>
              </a:ext>
            </a:extLst>
          </p:cNvPr>
          <p:cNvSpPr txBox="1"/>
          <p:nvPr/>
        </p:nvSpPr>
        <p:spPr>
          <a:xfrm>
            <a:off x="1051560" y="2120262"/>
            <a:ext cx="4572000" cy="184666"/>
          </a:xfrm>
          <a:prstGeom prst="rect">
            <a:avLst/>
          </a:prstGeom>
          <a:noFill/>
        </p:spPr>
        <p:txBody>
          <a:bodyPr wrap="square" lIns="0" tIns="0" rIns="0" bIns="0" anchor="t">
            <a:spAutoFit/>
          </a:bodyPr>
          <a:lstStyle/>
          <a:p>
            <a:pPr>
              <a:spcAft>
                <a:spcPts val="600"/>
              </a:spcAft>
            </a:pPr>
            <a:r>
              <a:rPr lang="en-AU" sz="1200" b="1" i="0" dirty="0">
                <a:solidFill>
                  <a:srgbClr val="B2182B"/>
                </a:solidFill>
                <a:latin typeface="Calibri"/>
              </a:rPr>
              <a:t>GAP 1</a:t>
            </a:r>
            <a:endParaRPr lang="en-AU" sz="1200" b="1" i="0" dirty="0">
              <a:solidFill>
                <a:srgbClr val="6B7686"/>
              </a:solidFill>
              <a:latin typeface="Calibri"/>
            </a:endParaRPr>
          </a:p>
        </p:txBody>
      </p:sp>
      <p:sp>
        <p:nvSpPr>
          <p:cNvPr id="8" name="TextBox 7">
            <a:extLst>
              <a:ext uri="{FF2B5EF4-FFF2-40B4-BE49-F238E27FC236}">
                <a16:creationId xmlns:a16="http://schemas.microsoft.com/office/drawing/2014/main" id="{F543C405-CC32-6148-B309-6A64C2BAB5D2}"/>
              </a:ext>
            </a:extLst>
          </p:cNvPr>
          <p:cNvSpPr txBox="1"/>
          <p:nvPr/>
        </p:nvSpPr>
        <p:spPr>
          <a:xfrm>
            <a:off x="1051560" y="2577462"/>
            <a:ext cx="4572000" cy="876009"/>
          </a:xfrm>
          <a:prstGeom prst="rect">
            <a:avLst/>
          </a:prstGeom>
          <a:noFill/>
        </p:spPr>
        <p:txBody>
          <a:bodyPr wrap="square" lIns="0" tIns="0" rIns="0" bIns="0" anchor="t">
            <a:spAutoFit/>
          </a:bodyPr>
          <a:lstStyle/>
          <a:p>
            <a:pPr>
              <a:lnSpc>
                <a:spcPct val="130000"/>
              </a:lnSpc>
              <a:spcAft>
                <a:spcPts val="600"/>
              </a:spcAft>
            </a:pPr>
            <a:r>
              <a:rPr lang="en-AU" sz="1500" dirty="0">
                <a:solidFill>
                  <a:srgbClr val="333D4D"/>
                </a:solidFill>
              </a:rPr>
              <a:t>Injury is a timing problem often modelled as a yes-or-no season outcome, which cannot say when risk moved, or what moved with it.</a:t>
            </a:r>
            <a:endParaRPr lang="en-AU" sz="1500" b="0" i="0" dirty="0">
              <a:solidFill>
                <a:srgbClr val="333D4D"/>
              </a:solidFill>
              <a:latin typeface="Calibri"/>
            </a:endParaRPr>
          </a:p>
        </p:txBody>
      </p:sp>
      <p:sp>
        <p:nvSpPr>
          <p:cNvPr id="9" name="Rounded Rectangle 8">
            <a:extLst>
              <a:ext uri="{FF2B5EF4-FFF2-40B4-BE49-F238E27FC236}">
                <a16:creationId xmlns:a16="http://schemas.microsoft.com/office/drawing/2014/main" id="{5BAEA08F-1B57-B2A7-3E76-FF878A3C9071}"/>
              </a:ext>
            </a:extLst>
          </p:cNvPr>
          <p:cNvSpPr/>
          <p:nvPr/>
        </p:nvSpPr>
        <p:spPr>
          <a:xfrm>
            <a:off x="6263640" y="1891662"/>
            <a:ext cx="5120640" cy="1894523"/>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0" name="TextBox 9">
            <a:extLst>
              <a:ext uri="{FF2B5EF4-FFF2-40B4-BE49-F238E27FC236}">
                <a16:creationId xmlns:a16="http://schemas.microsoft.com/office/drawing/2014/main" id="{28A74C71-0CDD-EFAD-E773-0E2E39DCB356}"/>
              </a:ext>
            </a:extLst>
          </p:cNvPr>
          <p:cNvSpPr txBox="1"/>
          <p:nvPr/>
        </p:nvSpPr>
        <p:spPr>
          <a:xfrm>
            <a:off x="6537960" y="2120262"/>
            <a:ext cx="4572000" cy="184666"/>
          </a:xfrm>
          <a:prstGeom prst="rect">
            <a:avLst/>
          </a:prstGeom>
          <a:noFill/>
        </p:spPr>
        <p:txBody>
          <a:bodyPr wrap="square" lIns="0" tIns="0" rIns="0" bIns="0" anchor="t">
            <a:spAutoFit/>
          </a:bodyPr>
          <a:lstStyle/>
          <a:p>
            <a:pPr>
              <a:spcAft>
                <a:spcPts val="600"/>
              </a:spcAft>
            </a:pPr>
            <a:r>
              <a:rPr lang="en-AU" sz="1200" b="1" dirty="0">
                <a:solidFill>
                  <a:srgbClr val="B2182B"/>
                </a:solidFill>
              </a:rPr>
              <a:t>GAP 2</a:t>
            </a:r>
            <a:endParaRPr lang="en-AU" sz="1200" b="1" dirty="0">
              <a:solidFill>
                <a:srgbClr val="6B7686"/>
              </a:solidFill>
            </a:endParaRPr>
          </a:p>
        </p:txBody>
      </p:sp>
      <p:sp>
        <p:nvSpPr>
          <p:cNvPr id="11" name="TextBox 10">
            <a:extLst>
              <a:ext uri="{FF2B5EF4-FFF2-40B4-BE49-F238E27FC236}">
                <a16:creationId xmlns:a16="http://schemas.microsoft.com/office/drawing/2014/main" id="{41EEF813-C6D3-BB6D-B185-0F8310AF2378}"/>
              </a:ext>
            </a:extLst>
          </p:cNvPr>
          <p:cNvSpPr txBox="1"/>
          <p:nvPr/>
        </p:nvSpPr>
        <p:spPr>
          <a:xfrm>
            <a:off x="6537960" y="2577462"/>
            <a:ext cx="4572000" cy="844270"/>
          </a:xfrm>
          <a:prstGeom prst="rect">
            <a:avLst/>
          </a:prstGeom>
          <a:noFill/>
        </p:spPr>
        <p:txBody>
          <a:bodyPr wrap="square" lIns="0" tIns="0" rIns="0" bIns="0" anchor="t">
            <a:spAutoFit/>
          </a:bodyPr>
          <a:lstStyle/>
          <a:p>
            <a:pPr>
              <a:lnSpc>
                <a:spcPct val="125000"/>
              </a:lnSpc>
              <a:spcAft>
                <a:spcPts val="1400"/>
              </a:spcAft>
            </a:pPr>
            <a:r>
              <a:rPr lang="en-AU" sz="1500" dirty="0">
                <a:solidFill>
                  <a:srgbClr val="333D4D"/>
                </a:solidFill>
              </a:rPr>
              <a:t>Under a pooled outcome, fatigue and exposure are hard to tell apart. Heavy load means more court time, and court time may reflect being fit enough to play.</a:t>
            </a:r>
          </a:p>
        </p:txBody>
      </p: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gap, and what I set out to do</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Two gaps, and the aims that follow from them</a:t>
            </a:r>
          </a:p>
        </p:txBody>
      </p:sp>
      <p:sp>
        <p:nvSpPr>
          <p:cNvPr id="7" name="Slide Number Placeholder 6">
            <a:extLst>
              <a:ext uri="{FF2B5EF4-FFF2-40B4-BE49-F238E27FC236}">
                <a16:creationId xmlns:a16="http://schemas.microsoft.com/office/drawing/2014/main" id="{7AA39C92-790B-9620-A3F5-21972EAF2BC3}"/>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4</a:t>
            </a:fld>
            <a:endParaRPr lang="en-US"/>
          </a:p>
        </p:txBody>
      </p:sp>
      <p:sp>
        <p:nvSpPr>
          <p:cNvPr id="13" name="Rounded Rectangle 12">
            <a:extLst>
              <a:ext uri="{FF2B5EF4-FFF2-40B4-BE49-F238E27FC236}">
                <a16:creationId xmlns:a16="http://schemas.microsoft.com/office/drawing/2014/main" id="{0D2B2A03-50BF-39CA-E6BB-5F4D7A857201}"/>
              </a:ext>
            </a:extLst>
          </p:cNvPr>
          <p:cNvSpPr/>
          <p:nvPr/>
        </p:nvSpPr>
        <p:spPr>
          <a:xfrm>
            <a:off x="777240" y="4058719"/>
            <a:ext cx="6309361" cy="2043115"/>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4" name="TextBox 13">
            <a:extLst>
              <a:ext uri="{FF2B5EF4-FFF2-40B4-BE49-F238E27FC236}">
                <a16:creationId xmlns:a16="http://schemas.microsoft.com/office/drawing/2014/main" id="{B520BD9F-89DC-F380-EA6E-BC3E9ADE3CB7}"/>
              </a:ext>
            </a:extLst>
          </p:cNvPr>
          <p:cNvSpPr txBox="1"/>
          <p:nvPr/>
        </p:nvSpPr>
        <p:spPr>
          <a:xfrm>
            <a:off x="1051561" y="4248719"/>
            <a:ext cx="4572000" cy="184666"/>
          </a:xfrm>
          <a:prstGeom prst="rect">
            <a:avLst/>
          </a:prstGeom>
          <a:noFill/>
        </p:spPr>
        <p:txBody>
          <a:bodyPr wrap="square" lIns="0" tIns="0" rIns="0" bIns="0" anchor="t">
            <a:spAutoFit/>
          </a:bodyPr>
          <a:lstStyle/>
          <a:p>
            <a:pPr>
              <a:spcAft>
                <a:spcPts val="600"/>
              </a:spcAft>
            </a:pPr>
            <a:r>
              <a:rPr lang="en-AU" sz="1200" b="1" dirty="0">
                <a:solidFill>
                  <a:srgbClr val="00B050"/>
                </a:solidFill>
              </a:rPr>
              <a:t>AIMS</a:t>
            </a:r>
          </a:p>
        </p:txBody>
      </p:sp>
      <p:sp>
        <p:nvSpPr>
          <p:cNvPr id="4" name="TextBox 3"/>
          <p:cNvSpPr txBox="1"/>
          <p:nvPr/>
        </p:nvSpPr>
        <p:spPr>
          <a:xfrm>
            <a:off x="1051561" y="4623385"/>
            <a:ext cx="5863590" cy="1203343"/>
          </a:xfrm>
          <a:prstGeom prst="rect">
            <a:avLst/>
          </a:prstGeom>
          <a:noFill/>
        </p:spPr>
        <p:txBody>
          <a:bodyPr wrap="square" lIns="0" tIns="0" rIns="0" bIns="0">
            <a:spAutoFit/>
          </a:bodyPr>
          <a:lstStyle/>
          <a:p>
            <a:pPr marL="285750" indent="-285750">
              <a:lnSpc>
                <a:spcPct val="125000"/>
              </a:lnSpc>
              <a:spcAft>
                <a:spcPts val="1400"/>
              </a:spcAft>
              <a:buFont typeface="Arial" panose="020B0604020202020204" pitchFamily="34" charset="0"/>
              <a:buChar char="•"/>
            </a:pPr>
            <a:r>
              <a:rPr lang="en-AU" sz="1500" b="0" dirty="0">
                <a:solidFill>
                  <a:srgbClr val="333D4D"/>
                </a:solidFill>
                <a:latin typeface="Calibri"/>
              </a:rPr>
              <a:t>Relate workload and congestion to injury hazard,</a:t>
            </a:r>
            <a:r>
              <a:rPr sz="1500" b="0" dirty="0">
                <a:solidFill>
                  <a:srgbClr val="333D4D"/>
                </a:solidFill>
                <a:latin typeface="Calibri"/>
              </a:rPr>
              <a:t> game by game</a:t>
            </a:r>
            <a:endParaRPr lang="en-AU" sz="1500" dirty="0">
              <a:solidFill>
                <a:srgbClr val="333D4D"/>
              </a:solidFill>
              <a:latin typeface="Calibri"/>
            </a:endParaRPr>
          </a:p>
          <a:p>
            <a:pPr marL="285750" indent="-285750">
              <a:lnSpc>
                <a:spcPct val="125000"/>
              </a:lnSpc>
              <a:spcAft>
                <a:spcPts val="1400"/>
              </a:spcAft>
              <a:buFont typeface="Arial" panose="020B0604020202020204" pitchFamily="34" charset="0"/>
              <a:buChar char="•"/>
            </a:pPr>
            <a:r>
              <a:rPr lang="en-AU" sz="1500" dirty="0">
                <a:solidFill>
                  <a:srgbClr val="333D4D"/>
                </a:solidFill>
                <a:latin typeface="Calibri"/>
              </a:rPr>
              <a:t>C</a:t>
            </a:r>
            <a:r>
              <a:rPr lang="en-AU" sz="1500" b="0" dirty="0">
                <a:solidFill>
                  <a:srgbClr val="333D4D"/>
                </a:solidFill>
                <a:latin typeface="Calibri"/>
              </a:rPr>
              <a:t>ompare injury mechanisms against a control tier</a:t>
            </a:r>
            <a:endParaRPr lang="en-AU" sz="1500" dirty="0">
              <a:solidFill>
                <a:srgbClr val="333D4D"/>
              </a:solidFill>
              <a:latin typeface="Calibri"/>
            </a:endParaRPr>
          </a:p>
          <a:p>
            <a:pPr marL="285750" indent="-285750">
              <a:lnSpc>
                <a:spcPct val="125000"/>
              </a:lnSpc>
              <a:spcAft>
                <a:spcPts val="1400"/>
              </a:spcAft>
              <a:buFont typeface="Arial" panose="020B0604020202020204" pitchFamily="34" charset="0"/>
              <a:buChar char="•"/>
            </a:pPr>
            <a:r>
              <a:rPr lang="en-AU" sz="1500" b="0" dirty="0">
                <a:solidFill>
                  <a:srgbClr val="333D4D"/>
                </a:solidFill>
                <a:latin typeface="Calibri"/>
              </a:rPr>
              <a:t>Describe what public data can and cannot show</a:t>
            </a:r>
            <a:r>
              <a:rPr sz="1500" b="0" dirty="0">
                <a:solidFill>
                  <a:srgbClr val="333D4D"/>
                </a:solidFill>
                <a:latin typeface="Calibri"/>
              </a:rPr>
              <a:t>.</a:t>
            </a:r>
          </a:p>
        </p:txBody>
      </p:sp>
      <p:sp>
        <p:nvSpPr>
          <p:cNvPr id="12" name="Rounded Rectangle 11">
            <a:extLst>
              <a:ext uri="{FF2B5EF4-FFF2-40B4-BE49-F238E27FC236}">
                <a16:creationId xmlns:a16="http://schemas.microsoft.com/office/drawing/2014/main" id="{84C52655-9FDA-3EFC-597A-3997DC2EE2A3}"/>
              </a:ext>
            </a:extLst>
          </p:cNvPr>
          <p:cNvSpPr/>
          <p:nvPr/>
        </p:nvSpPr>
        <p:spPr>
          <a:xfrm>
            <a:off x="7360922" y="4124992"/>
            <a:ext cx="4023358" cy="854245"/>
          </a:xfrm>
          <a:prstGeom prst="roundRect">
            <a:avLst>
              <a:gd name="adj" fmla="val 6000"/>
            </a:avLst>
          </a:prstGeom>
          <a:ln w="38100"/>
        </p:spPr>
        <p:style>
          <a:lnRef idx="2">
            <a:schemeClr val="accent2"/>
          </a:lnRef>
          <a:fillRef idx="1">
            <a:schemeClr val="lt1"/>
          </a:fillRef>
          <a:effectRef idx="0">
            <a:schemeClr val="accent2"/>
          </a:effectRef>
          <a:fontRef idx="minor">
            <a:schemeClr val="dk1"/>
          </a:fontRef>
        </p:style>
        <p:txBody>
          <a:bodyPr rtlCol="0" anchor="ctr"/>
          <a:lstStyle/>
          <a:p>
            <a:pPr algn="ctr"/>
            <a:endParaRPr lang="en-AU" dirty="0"/>
          </a:p>
        </p:txBody>
      </p:sp>
      <p:sp>
        <p:nvSpPr>
          <p:cNvPr id="15" name="Rounded Rectangle 14">
            <a:extLst>
              <a:ext uri="{FF2B5EF4-FFF2-40B4-BE49-F238E27FC236}">
                <a16:creationId xmlns:a16="http://schemas.microsoft.com/office/drawing/2014/main" id="{0204AD05-549C-9BF7-E13A-C129250D4355}"/>
              </a:ext>
            </a:extLst>
          </p:cNvPr>
          <p:cNvSpPr/>
          <p:nvPr/>
        </p:nvSpPr>
        <p:spPr>
          <a:xfrm>
            <a:off x="7360922" y="5194060"/>
            <a:ext cx="4023358" cy="854245"/>
          </a:xfrm>
          <a:prstGeom prst="roundRect">
            <a:avLst>
              <a:gd name="adj" fmla="val 6000"/>
            </a:avLst>
          </a:prstGeom>
          <a:ln w="38100"/>
        </p:spPr>
        <p:style>
          <a:lnRef idx="2">
            <a:schemeClr val="accent3"/>
          </a:lnRef>
          <a:fillRef idx="1">
            <a:schemeClr val="lt1"/>
          </a:fillRef>
          <a:effectRef idx="0">
            <a:schemeClr val="accent3"/>
          </a:effectRef>
          <a:fontRef idx="minor">
            <a:schemeClr val="dk1"/>
          </a:fontRef>
        </p:style>
        <p:txBody>
          <a:bodyPr rtlCol="0" anchor="ctr"/>
          <a:lstStyle/>
          <a:p>
            <a:pPr algn="ctr"/>
            <a:endParaRPr lang="en-AU" dirty="0"/>
          </a:p>
        </p:txBody>
      </p:sp>
      <p:sp>
        <p:nvSpPr>
          <p:cNvPr id="17" name="TextBox 16">
            <a:extLst>
              <a:ext uri="{FF2B5EF4-FFF2-40B4-BE49-F238E27FC236}">
                <a16:creationId xmlns:a16="http://schemas.microsoft.com/office/drawing/2014/main" id="{9FA05EDF-58E7-13DE-D4F6-15977DE99B7C}"/>
              </a:ext>
            </a:extLst>
          </p:cNvPr>
          <p:cNvSpPr txBox="1"/>
          <p:nvPr/>
        </p:nvSpPr>
        <p:spPr>
          <a:xfrm>
            <a:off x="7360923" y="5385014"/>
            <a:ext cx="4023358" cy="441339"/>
          </a:xfrm>
          <a:prstGeom prst="rect">
            <a:avLst/>
          </a:prstGeom>
          <a:noFill/>
        </p:spPr>
        <p:txBody>
          <a:bodyPr wrap="square" lIns="0" tIns="0" rIns="0" bIns="0" anchor="t">
            <a:spAutoFit/>
          </a:bodyPr>
          <a:lstStyle/>
          <a:p>
            <a:pPr algn="ctr">
              <a:lnSpc>
                <a:spcPct val="130000"/>
              </a:lnSpc>
              <a:spcAft>
                <a:spcPts val="600"/>
              </a:spcAft>
            </a:pPr>
            <a:r>
              <a:rPr lang="en-AU" sz="2400" i="0" dirty="0">
                <a:solidFill>
                  <a:srgbClr val="333D4D"/>
                </a:solidFill>
                <a:latin typeface="Calibri"/>
              </a:rPr>
              <a:t>We are </a:t>
            </a:r>
            <a:r>
              <a:rPr lang="en-AU" sz="2400" b="1" i="0" dirty="0">
                <a:solidFill>
                  <a:srgbClr val="333D4D"/>
                </a:solidFill>
                <a:latin typeface="Calibri"/>
              </a:rPr>
              <a:t>ranking</a:t>
            </a:r>
            <a:r>
              <a:rPr lang="en-AU" sz="2400" i="0" dirty="0">
                <a:solidFill>
                  <a:srgbClr val="333D4D"/>
                </a:solidFill>
                <a:latin typeface="Calibri"/>
              </a:rPr>
              <a:t> relative risk </a:t>
            </a:r>
          </a:p>
        </p:txBody>
      </p:sp>
      <p:sp>
        <p:nvSpPr>
          <p:cNvPr id="18" name="TextBox 17">
            <a:extLst>
              <a:ext uri="{FF2B5EF4-FFF2-40B4-BE49-F238E27FC236}">
                <a16:creationId xmlns:a16="http://schemas.microsoft.com/office/drawing/2014/main" id="{E3CE11B4-1308-BD11-88D8-E176590D04DB}"/>
              </a:ext>
            </a:extLst>
          </p:cNvPr>
          <p:cNvSpPr txBox="1"/>
          <p:nvPr/>
        </p:nvSpPr>
        <p:spPr>
          <a:xfrm>
            <a:off x="7360922" y="4329163"/>
            <a:ext cx="4023358" cy="441339"/>
          </a:xfrm>
          <a:prstGeom prst="rect">
            <a:avLst/>
          </a:prstGeom>
          <a:noFill/>
        </p:spPr>
        <p:txBody>
          <a:bodyPr wrap="square" lIns="0" tIns="0" rIns="0" bIns="0" anchor="t">
            <a:spAutoFit/>
          </a:bodyPr>
          <a:lstStyle/>
          <a:p>
            <a:pPr algn="ctr">
              <a:lnSpc>
                <a:spcPct val="130000"/>
              </a:lnSpc>
              <a:spcAft>
                <a:spcPts val="600"/>
              </a:spcAft>
            </a:pPr>
            <a:r>
              <a:rPr lang="en-AU" sz="2400" i="0" dirty="0">
                <a:solidFill>
                  <a:srgbClr val="333D4D"/>
                </a:solidFill>
                <a:latin typeface="Calibri"/>
              </a:rPr>
              <a:t>We are </a:t>
            </a:r>
            <a:r>
              <a:rPr lang="en-AU" sz="2400" b="1" i="0" dirty="0">
                <a:solidFill>
                  <a:srgbClr val="333D4D"/>
                </a:solidFill>
                <a:latin typeface="Calibri"/>
              </a:rPr>
              <a:t>not</a:t>
            </a:r>
            <a:r>
              <a:rPr lang="en-AU" sz="2400" i="0" dirty="0">
                <a:solidFill>
                  <a:srgbClr val="333D4D"/>
                </a:solidFill>
                <a:latin typeface="Calibri"/>
              </a:rPr>
              <a:t> predicting injury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p:bldP spid="11" grpId="0"/>
      <p:bldP spid="13" grpId="0" animBg="1"/>
      <p:bldP spid="14" grpId="0"/>
      <p:bldP spid="4" grpId="0"/>
      <p:bldP spid="12" grpId="0" animBg="1"/>
      <p:bldP spid="15" grpId="0" animBg="1"/>
      <p:bldP spid="17" grpId="0"/>
      <p:bldP spid="18"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Oval 1"/>
          <p:cNvSpPr/>
          <p:nvPr/>
        </p:nvSpPr>
        <p:spPr>
          <a:xfrm>
            <a:off x="777240" y="2331720"/>
            <a:ext cx="868680" cy="868680"/>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3" name="TextBox 2"/>
          <p:cNvSpPr txBox="1"/>
          <p:nvPr/>
        </p:nvSpPr>
        <p:spPr>
          <a:xfrm>
            <a:off x="777240" y="2487168"/>
            <a:ext cx="868680" cy="548640"/>
          </a:xfrm>
          <a:prstGeom prst="rect">
            <a:avLst/>
          </a:prstGeom>
          <a:noFill/>
        </p:spPr>
        <p:txBody>
          <a:bodyPr wrap="square" lIns="0" tIns="0" rIns="0" bIns="0" anchor="t">
            <a:spAutoFit/>
          </a:bodyPr>
          <a:lstStyle/>
          <a:p>
            <a:pPr algn="ctr">
              <a:spcAft>
                <a:spcPts val="600"/>
              </a:spcAft>
            </a:pPr>
            <a:r>
              <a:rPr lang="en-AU" sz="3000" b="1" i="0" dirty="0">
                <a:solidFill>
                  <a:srgbClr val="FFFFFF"/>
                </a:solidFill>
                <a:latin typeface="Calibri"/>
              </a:rPr>
              <a:t>1</a:t>
            </a:r>
          </a:p>
        </p:txBody>
      </p:sp>
      <p:sp>
        <p:nvSpPr>
          <p:cNvPr id="4" name="TextBox 3"/>
          <p:cNvSpPr txBox="1"/>
          <p:nvPr/>
        </p:nvSpPr>
        <p:spPr>
          <a:xfrm>
            <a:off x="1965960" y="2240280"/>
            <a:ext cx="8686800" cy="230832"/>
          </a:xfrm>
          <a:prstGeom prst="rect">
            <a:avLst/>
          </a:prstGeom>
          <a:noFill/>
        </p:spPr>
        <p:txBody>
          <a:bodyPr wrap="square" lIns="0" tIns="0" rIns="0" bIns="0" anchor="t">
            <a:spAutoFit/>
          </a:bodyPr>
          <a:lstStyle/>
          <a:p>
            <a:pPr algn="l">
              <a:spcAft>
                <a:spcPts val="600"/>
              </a:spcAft>
            </a:pPr>
            <a:r>
              <a:rPr lang="en-AU" sz="1500" b="1" i="0" dirty="0">
                <a:solidFill>
                  <a:schemeClr val="accent6"/>
                </a:solidFill>
                <a:latin typeface="Calibri"/>
              </a:rPr>
              <a:t>PART ONE</a:t>
            </a:r>
          </a:p>
        </p:txBody>
      </p:sp>
      <p:sp>
        <p:nvSpPr>
          <p:cNvPr id="5" name="TextBox 4"/>
          <p:cNvSpPr txBox="1"/>
          <p:nvPr/>
        </p:nvSpPr>
        <p:spPr>
          <a:xfrm>
            <a:off x="1965960" y="2606040"/>
            <a:ext cx="8961120" cy="731520"/>
          </a:xfrm>
          <a:prstGeom prst="rect">
            <a:avLst/>
          </a:prstGeom>
          <a:noFill/>
        </p:spPr>
        <p:txBody>
          <a:bodyPr wrap="square" lIns="0" tIns="0" rIns="0" bIns="0" anchor="t">
            <a:spAutoFit/>
          </a:bodyPr>
          <a:lstStyle/>
          <a:p>
            <a:pPr algn="l">
              <a:spcAft>
                <a:spcPts val="600"/>
              </a:spcAft>
            </a:pPr>
            <a:r>
              <a:rPr lang="en-AU" sz="4000" b="1" i="0" dirty="0">
                <a:solidFill>
                  <a:srgbClr val="FFFFFF"/>
                </a:solidFill>
                <a:latin typeface="Calibri"/>
              </a:rPr>
              <a:t>How the model works</a:t>
            </a:r>
          </a:p>
        </p:txBody>
      </p:sp>
      <p:sp>
        <p:nvSpPr>
          <p:cNvPr id="6" name="TextBox 5"/>
          <p:cNvSpPr txBox="1"/>
          <p:nvPr/>
        </p:nvSpPr>
        <p:spPr>
          <a:xfrm>
            <a:off x="1965960" y="3429000"/>
            <a:ext cx="8961120" cy="261610"/>
          </a:xfrm>
          <a:prstGeom prst="rect">
            <a:avLst/>
          </a:prstGeom>
          <a:noFill/>
        </p:spPr>
        <p:txBody>
          <a:bodyPr wrap="square" lIns="0" tIns="0" rIns="0" bIns="0" anchor="t">
            <a:spAutoFit/>
          </a:bodyPr>
          <a:lstStyle/>
          <a:p>
            <a:pPr algn="l">
              <a:spcAft>
                <a:spcPts val="600"/>
              </a:spcAft>
            </a:pPr>
            <a:r>
              <a:rPr lang="en-AU" sz="1700" b="0" i="1" dirty="0">
                <a:solidFill>
                  <a:srgbClr val="C9D4E4"/>
                </a:solidFill>
                <a:latin typeface="Calibri"/>
              </a:rPr>
              <a:t>Five seasons of public data, and the design decisions</a:t>
            </a:r>
          </a:p>
        </p:txBody>
      </p:sp>
      <p:sp>
        <p:nvSpPr>
          <p:cNvPr id="9" name="Slide Number Placeholder 8">
            <a:extLst>
              <a:ext uri="{FF2B5EF4-FFF2-40B4-BE49-F238E27FC236}">
                <a16:creationId xmlns:a16="http://schemas.microsoft.com/office/drawing/2014/main" id="{AE1C2D74-57F5-2340-600B-7AF812F6C71C}"/>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data</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Five NBA seasons, 2021-22 to 2025-26, entirely public</a:t>
            </a:r>
          </a:p>
        </p:txBody>
      </p:sp>
      <p:sp>
        <p:nvSpPr>
          <p:cNvPr id="4" name="Rounded Rectangle 3"/>
          <p:cNvSpPr/>
          <p:nvPr/>
        </p:nvSpPr>
        <p:spPr>
          <a:xfrm>
            <a:off x="5017427" y="2468699"/>
            <a:ext cx="2926080"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5200307" y="2633291"/>
            <a:ext cx="256032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176,202</a:t>
            </a:r>
          </a:p>
        </p:txBody>
      </p:sp>
      <p:sp>
        <p:nvSpPr>
          <p:cNvPr id="6" name="TextBox 5"/>
          <p:cNvSpPr txBox="1"/>
          <p:nvPr/>
        </p:nvSpPr>
        <p:spPr>
          <a:xfrm>
            <a:off x="5200307" y="3474539"/>
            <a:ext cx="256032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player-game intervals</a:t>
            </a:r>
          </a:p>
        </p:txBody>
      </p:sp>
      <p:sp>
        <p:nvSpPr>
          <p:cNvPr id="7" name="Rounded Rectangle 6"/>
          <p:cNvSpPr/>
          <p:nvPr/>
        </p:nvSpPr>
        <p:spPr>
          <a:xfrm>
            <a:off x="1738873" y="1750314"/>
            <a:ext cx="2057400" cy="1213715"/>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1738873" y="1863980"/>
            <a:ext cx="205740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1,029</a:t>
            </a:r>
          </a:p>
        </p:txBody>
      </p:sp>
      <p:sp>
        <p:nvSpPr>
          <p:cNvPr id="9" name="TextBox 8"/>
          <p:cNvSpPr txBox="1"/>
          <p:nvPr/>
        </p:nvSpPr>
        <p:spPr>
          <a:xfrm>
            <a:off x="1738873" y="2541940"/>
            <a:ext cx="205740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players</a:t>
            </a:r>
          </a:p>
        </p:txBody>
      </p:sp>
      <p:sp>
        <p:nvSpPr>
          <p:cNvPr id="10" name="Rounded Rectangle 9"/>
          <p:cNvSpPr/>
          <p:nvPr/>
        </p:nvSpPr>
        <p:spPr>
          <a:xfrm>
            <a:off x="8490857" y="2486423"/>
            <a:ext cx="2423160" cy="1572768"/>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1" name="TextBox 10"/>
          <p:cNvSpPr txBox="1"/>
          <p:nvPr/>
        </p:nvSpPr>
        <p:spPr>
          <a:xfrm>
            <a:off x="8673737" y="2651015"/>
            <a:ext cx="2057400" cy="804672"/>
          </a:xfrm>
          <a:prstGeom prst="rect">
            <a:avLst/>
          </a:prstGeom>
          <a:noFill/>
        </p:spPr>
        <p:txBody>
          <a:bodyPr wrap="square" lIns="0" tIns="0" rIns="0" bIns="0" anchor="t">
            <a:spAutoFit/>
          </a:bodyPr>
          <a:lstStyle/>
          <a:p>
            <a:pPr algn="ctr">
              <a:spcAft>
                <a:spcPts val="600"/>
              </a:spcAft>
            </a:pPr>
            <a:r>
              <a:rPr lang="en-AU" sz="4600" b="1" i="0" dirty="0">
                <a:solidFill>
                  <a:srgbClr val="B2182B"/>
                </a:solidFill>
                <a:latin typeface="Calibri"/>
              </a:rPr>
              <a:t>3,981</a:t>
            </a:r>
          </a:p>
        </p:txBody>
      </p:sp>
      <p:sp>
        <p:nvSpPr>
          <p:cNvPr id="12" name="TextBox 11"/>
          <p:cNvSpPr txBox="1"/>
          <p:nvPr/>
        </p:nvSpPr>
        <p:spPr>
          <a:xfrm>
            <a:off x="8673737" y="3492263"/>
            <a:ext cx="205740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new injury episodes</a:t>
            </a:r>
          </a:p>
        </p:txBody>
      </p:sp>
      <p:sp>
        <p:nvSpPr>
          <p:cNvPr id="16" name="TextBox 15"/>
          <p:cNvSpPr txBox="1"/>
          <p:nvPr/>
        </p:nvSpPr>
        <p:spPr>
          <a:xfrm>
            <a:off x="777240" y="4967732"/>
            <a:ext cx="10607040" cy="1264642"/>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NBA Stats API: </a:t>
            </a:r>
            <a:r>
              <a:rPr lang="en-AU" sz="1700" dirty="0">
                <a:solidFill>
                  <a:srgbClr val="333D4D"/>
                </a:solidFill>
                <a:latin typeface="Calibri"/>
              </a:rPr>
              <a:t>game logs, player details, careers, schedule, travel, player tracking</a:t>
            </a:r>
          </a:p>
          <a:p>
            <a:pPr>
              <a:lnSpc>
                <a:spcPct val="125000"/>
              </a:lnSpc>
              <a:spcAft>
                <a:spcPts val="1200"/>
              </a:spcAft>
            </a:pPr>
            <a:r>
              <a:rPr lang="en-AU" sz="1700" b="1" dirty="0">
                <a:solidFill>
                  <a:srgbClr val="1B2A4A"/>
                </a:solidFill>
                <a:latin typeface="Calibri"/>
              </a:rPr>
              <a:t>Official injury reports: </a:t>
            </a:r>
            <a:r>
              <a:rPr lang="en-AU" sz="1700" dirty="0">
                <a:solidFill>
                  <a:srgbClr val="333D4D"/>
                </a:solidFill>
                <a:latin typeface="Calibri"/>
              </a:rPr>
              <a:t>filed every 30 minutes pre-game, ~3,000 filings</a:t>
            </a:r>
          </a:p>
          <a:p>
            <a:pPr>
              <a:lnSpc>
                <a:spcPct val="125000"/>
              </a:lnSpc>
              <a:spcAft>
                <a:spcPts val="1200"/>
              </a:spcAft>
            </a:pPr>
            <a:r>
              <a:rPr lang="en-AU" sz="1700" b="1" dirty="0">
                <a:solidFill>
                  <a:srgbClr val="1B2A4A"/>
                </a:solidFill>
                <a:latin typeface="Calibri"/>
              </a:rPr>
              <a:t>The unit of analysis is the player-game, </a:t>
            </a:r>
            <a:r>
              <a:rPr lang="en-AU" sz="1700" dirty="0">
                <a:solidFill>
                  <a:srgbClr val="333D4D"/>
                </a:solidFill>
                <a:latin typeface="Calibri"/>
              </a:rPr>
              <a:t>not the player and the season</a:t>
            </a:r>
          </a:p>
        </p:txBody>
      </p:sp>
      <p:sp>
        <p:nvSpPr>
          <p:cNvPr id="17" name="Slide Number Placeholder 16">
            <a:extLst>
              <a:ext uri="{FF2B5EF4-FFF2-40B4-BE49-F238E27FC236}">
                <a16:creationId xmlns:a16="http://schemas.microsoft.com/office/drawing/2014/main" id="{9D70F304-3D8E-ACAB-CA26-C6C0B6F1E515}"/>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6</a:t>
            </a:fld>
            <a:endParaRPr lang="en-US"/>
          </a:p>
        </p:txBody>
      </p:sp>
      <p:sp>
        <p:nvSpPr>
          <p:cNvPr id="18" name="Rounded Rectangle 17">
            <a:extLst>
              <a:ext uri="{FF2B5EF4-FFF2-40B4-BE49-F238E27FC236}">
                <a16:creationId xmlns:a16="http://schemas.microsoft.com/office/drawing/2014/main" id="{AF611C01-7BD2-8789-BEB9-621828BF0281}"/>
              </a:ext>
            </a:extLst>
          </p:cNvPr>
          <p:cNvSpPr/>
          <p:nvPr/>
        </p:nvSpPr>
        <p:spPr>
          <a:xfrm>
            <a:off x="1738873" y="3432809"/>
            <a:ext cx="2057400" cy="1213715"/>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9" name="TextBox 18">
            <a:extLst>
              <a:ext uri="{FF2B5EF4-FFF2-40B4-BE49-F238E27FC236}">
                <a16:creationId xmlns:a16="http://schemas.microsoft.com/office/drawing/2014/main" id="{B92DAD28-1582-A657-44F7-CE6580B70225}"/>
              </a:ext>
            </a:extLst>
          </p:cNvPr>
          <p:cNvSpPr txBox="1"/>
          <p:nvPr/>
        </p:nvSpPr>
        <p:spPr>
          <a:xfrm>
            <a:off x="1738873" y="3546475"/>
            <a:ext cx="205740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6,15</a:t>
            </a:r>
            <a:r>
              <a:rPr lang="en-AU" sz="4600" b="1" dirty="0">
                <a:solidFill>
                  <a:schemeClr val="accent6"/>
                </a:solidFill>
                <a:latin typeface="Calibri"/>
              </a:rPr>
              <a:t>0</a:t>
            </a:r>
            <a:endParaRPr lang="en-AU" sz="4600" b="1" i="0" dirty="0">
              <a:solidFill>
                <a:schemeClr val="accent6"/>
              </a:solidFill>
              <a:latin typeface="Calibri"/>
            </a:endParaRPr>
          </a:p>
        </p:txBody>
      </p:sp>
      <p:sp>
        <p:nvSpPr>
          <p:cNvPr id="20" name="TextBox 19">
            <a:extLst>
              <a:ext uri="{FF2B5EF4-FFF2-40B4-BE49-F238E27FC236}">
                <a16:creationId xmlns:a16="http://schemas.microsoft.com/office/drawing/2014/main" id="{26277761-2220-FB7F-214C-B385C6C8193B}"/>
              </a:ext>
            </a:extLst>
          </p:cNvPr>
          <p:cNvSpPr txBox="1"/>
          <p:nvPr/>
        </p:nvSpPr>
        <p:spPr>
          <a:xfrm>
            <a:off x="1738873" y="4224435"/>
            <a:ext cx="2057400" cy="209032"/>
          </a:xfrm>
          <a:prstGeom prst="rect">
            <a:avLst/>
          </a:prstGeom>
          <a:noFill/>
        </p:spPr>
        <p:txBody>
          <a:bodyPr wrap="square" lIns="0" tIns="0" rIns="0" bIns="0" anchor="t">
            <a:spAutoFit/>
          </a:bodyPr>
          <a:lstStyle/>
          <a:p>
            <a:pPr algn="ctr">
              <a:lnSpc>
                <a:spcPct val="110000"/>
              </a:lnSpc>
              <a:spcAft>
                <a:spcPts val="600"/>
              </a:spcAft>
            </a:pPr>
            <a:r>
              <a:rPr lang="en-AU" sz="1300" dirty="0">
                <a:solidFill>
                  <a:srgbClr val="6B7686"/>
                </a:solidFill>
                <a:latin typeface="Calibri"/>
              </a:rPr>
              <a:t>Games across 5 seasons</a:t>
            </a:r>
            <a:endParaRPr lang="en-AU" sz="1300" b="0" i="0" dirty="0">
              <a:solidFill>
                <a:srgbClr val="6B7686"/>
              </a:solidFill>
              <a:latin typeface="Calibri"/>
            </a:endParaRPr>
          </a:p>
        </p:txBody>
      </p:sp>
      <p:cxnSp>
        <p:nvCxnSpPr>
          <p:cNvPr id="22" name="Elbow Connector 21">
            <a:extLst>
              <a:ext uri="{FF2B5EF4-FFF2-40B4-BE49-F238E27FC236}">
                <a16:creationId xmlns:a16="http://schemas.microsoft.com/office/drawing/2014/main" id="{6862C9EC-C984-E4B3-803D-C30172B0B885}"/>
              </a:ext>
            </a:extLst>
          </p:cNvPr>
          <p:cNvCxnSpPr>
            <a:cxnSpLocks/>
            <a:endCxn id="4" idx="1"/>
          </p:cNvCxnSpPr>
          <p:nvPr/>
        </p:nvCxnSpPr>
        <p:spPr>
          <a:xfrm>
            <a:off x="3702968" y="2364266"/>
            <a:ext cx="1314459" cy="890817"/>
          </a:xfrm>
          <a:prstGeom prst="bentConnector3">
            <a:avLst/>
          </a:prstGeom>
          <a:ln w="57150">
            <a:solidFill>
              <a:schemeClr val="accent6">
                <a:lumMod val="20000"/>
                <a:lumOff val="80000"/>
              </a:schemeClr>
            </a:solidFill>
            <a:tailEnd type="triangle"/>
          </a:ln>
        </p:spPr>
        <p:style>
          <a:lnRef idx="1">
            <a:schemeClr val="accent6"/>
          </a:lnRef>
          <a:fillRef idx="0">
            <a:schemeClr val="accent6"/>
          </a:fillRef>
          <a:effectRef idx="0">
            <a:schemeClr val="accent6"/>
          </a:effectRef>
          <a:fontRef idx="minor">
            <a:schemeClr val="tx1"/>
          </a:fontRef>
        </p:style>
      </p:cxnSp>
      <p:cxnSp>
        <p:nvCxnSpPr>
          <p:cNvPr id="24" name="Elbow Connector 23">
            <a:extLst>
              <a:ext uri="{FF2B5EF4-FFF2-40B4-BE49-F238E27FC236}">
                <a16:creationId xmlns:a16="http://schemas.microsoft.com/office/drawing/2014/main" id="{46A46C32-C22A-DA07-2741-8033CC7E0A85}"/>
              </a:ext>
            </a:extLst>
          </p:cNvPr>
          <p:cNvCxnSpPr>
            <a:cxnSpLocks/>
          </p:cNvCxnSpPr>
          <p:nvPr/>
        </p:nvCxnSpPr>
        <p:spPr>
          <a:xfrm flipV="1">
            <a:off x="3702968" y="3259974"/>
            <a:ext cx="1314458" cy="799217"/>
          </a:xfrm>
          <a:prstGeom prst="bentConnector3">
            <a:avLst/>
          </a:prstGeom>
          <a:ln w="57150">
            <a:solidFill>
              <a:schemeClr val="accent6">
                <a:lumMod val="20000"/>
                <a:lumOff val="80000"/>
              </a:schemeClr>
            </a:solidFill>
            <a:tailEnd type="triangle"/>
          </a:ln>
        </p:spPr>
        <p:style>
          <a:lnRef idx="1">
            <a:schemeClr val="accent6"/>
          </a:lnRef>
          <a:fillRef idx="0">
            <a:schemeClr val="accent6"/>
          </a:fillRef>
          <a:effectRef idx="0">
            <a:schemeClr val="accent6"/>
          </a:effectRef>
          <a:fontRef idx="minor">
            <a:schemeClr val="tx1"/>
          </a:fontRef>
        </p:style>
      </p:cxnSp>
      <p:cxnSp>
        <p:nvCxnSpPr>
          <p:cNvPr id="27" name="Straight Arrow Connector 26">
            <a:extLst>
              <a:ext uri="{FF2B5EF4-FFF2-40B4-BE49-F238E27FC236}">
                <a16:creationId xmlns:a16="http://schemas.microsoft.com/office/drawing/2014/main" id="{CFDA1A2A-6391-58FF-B21B-67218F46E442}"/>
              </a:ext>
            </a:extLst>
          </p:cNvPr>
          <p:cNvCxnSpPr>
            <a:cxnSpLocks/>
            <a:stCxn id="4" idx="3"/>
          </p:cNvCxnSpPr>
          <p:nvPr/>
        </p:nvCxnSpPr>
        <p:spPr>
          <a:xfrm>
            <a:off x="7943507" y="3255083"/>
            <a:ext cx="547350" cy="0"/>
          </a:xfrm>
          <a:prstGeom prst="straightConnector1">
            <a:avLst/>
          </a:prstGeom>
          <a:ln w="57150">
            <a:solidFill>
              <a:schemeClr val="accent6">
                <a:lumMod val="20000"/>
                <a:lumOff val="80000"/>
              </a:schemeClr>
            </a:solidFill>
            <a:tailEnd type="triangle"/>
          </a:ln>
        </p:spPr>
        <p:style>
          <a:lnRef idx="1">
            <a:schemeClr val="accent6"/>
          </a:lnRef>
          <a:fillRef idx="0">
            <a:schemeClr val="accent6"/>
          </a:fillRef>
          <a:effectRef idx="0">
            <a:schemeClr val="accent6"/>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10" grpId="0" animBg="1"/>
      <p:bldP spid="11"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counts as an injury</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Free text on an official form, turned into an outcome</a:t>
            </a:r>
          </a:p>
        </p:txBody>
      </p:sp>
      <p:sp>
        <p:nvSpPr>
          <p:cNvPr id="4" name="Rounded Rectangle 3"/>
          <p:cNvSpPr/>
          <p:nvPr/>
        </p:nvSpPr>
        <p:spPr>
          <a:xfrm>
            <a:off x="777240" y="2196425"/>
            <a:ext cx="3383280" cy="242316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051560" y="2379305"/>
            <a:ext cx="2834640" cy="615553"/>
          </a:xfrm>
          <a:prstGeom prst="rect">
            <a:avLst/>
          </a:prstGeom>
          <a:noFill/>
        </p:spPr>
        <p:txBody>
          <a:bodyPr wrap="square" lIns="0" tIns="0" rIns="0" bIns="0" anchor="t">
            <a:spAutoFit/>
          </a:bodyPr>
          <a:lstStyle/>
          <a:p>
            <a:pPr algn="l">
              <a:spcAft>
                <a:spcPts val="600"/>
              </a:spcAft>
            </a:pPr>
            <a:r>
              <a:rPr lang="en-AU" sz="4000" b="1" i="0" dirty="0">
                <a:solidFill>
                  <a:schemeClr val="accent6"/>
                </a:solidFill>
                <a:latin typeface="Calibri"/>
              </a:rPr>
              <a:t>2,500+</a:t>
            </a:r>
          </a:p>
        </p:txBody>
      </p:sp>
      <p:sp>
        <p:nvSpPr>
          <p:cNvPr id="6" name="TextBox 5"/>
          <p:cNvSpPr txBox="1"/>
          <p:nvPr/>
        </p:nvSpPr>
        <p:spPr>
          <a:xfrm>
            <a:off x="1051560" y="3037673"/>
            <a:ext cx="2834640" cy="502920"/>
          </a:xfrm>
          <a:prstGeom prst="rect">
            <a:avLst/>
          </a:prstGeom>
          <a:noFill/>
        </p:spPr>
        <p:txBody>
          <a:bodyPr wrap="square" lIns="0" tIns="0" rIns="0" bIns="0" anchor="t">
            <a:spAutoFit/>
          </a:bodyPr>
          <a:lstStyle/>
          <a:p>
            <a:pPr algn="l">
              <a:lnSpc>
                <a:spcPct val="115000"/>
              </a:lnSpc>
              <a:spcAft>
                <a:spcPts val="600"/>
              </a:spcAft>
            </a:pPr>
            <a:r>
              <a:rPr lang="en-AU" sz="1500" b="1" i="0" dirty="0">
                <a:solidFill>
                  <a:srgbClr val="1B2A4A"/>
                </a:solidFill>
                <a:latin typeface="Calibri"/>
              </a:rPr>
              <a:t>distinct reason strings</a:t>
            </a:r>
          </a:p>
        </p:txBody>
      </p:sp>
      <p:sp>
        <p:nvSpPr>
          <p:cNvPr id="7" name="TextBox 6"/>
          <p:cNvSpPr txBox="1"/>
          <p:nvPr/>
        </p:nvSpPr>
        <p:spPr>
          <a:xfrm>
            <a:off x="1051560" y="3697906"/>
            <a:ext cx="2834640" cy="754053"/>
          </a:xfrm>
          <a:prstGeom prst="rect">
            <a:avLst/>
          </a:prstGeom>
          <a:noFill/>
        </p:spPr>
        <p:txBody>
          <a:bodyPr wrap="square" lIns="0" tIns="0" rIns="0" bIns="0" anchor="t">
            <a:spAutoFit/>
          </a:bodyPr>
          <a:lstStyle/>
          <a:p>
            <a:pPr algn="l">
              <a:spcAft>
                <a:spcPts val="600"/>
              </a:spcAft>
            </a:pPr>
            <a:r>
              <a:rPr lang="en-AU" sz="1300" b="0" i="0" dirty="0">
                <a:solidFill>
                  <a:srgbClr val="6B7686"/>
                </a:solidFill>
                <a:latin typeface="Calibri"/>
              </a:rPr>
              <a:t>Rough template: </a:t>
            </a:r>
          </a:p>
          <a:p>
            <a:pPr algn="l">
              <a:spcAft>
                <a:spcPts val="600"/>
              </a:spcAft>
            </a:pPr>
            <a:r>
              <a:rPr lang="en-AU" sz="1300" b="0" i="0" dirty="0">
                <a:solidFill>
                  <a:srgbClr val="6B7686"/>
                </a:solidFill>
                <a:latin typeface="Calibri"/>
              </a:rPr>
              <a:t>"Injury/Illness - Left Ankle; Sprain”</a:t>
            </a:r>
          </a:p>
          <a:p>
            <a:pPr algn="l">
              <a:spcAft>
                <a:spcPts val="600"/>
              </a:spcAft>
            </a:pPr>
            <a:r>
              <a:rPr lang="en-AU" sz="1300" dirty="0">
                <a:solidFill>
                  <a:srgbClr val="6B7686"/>
                </a:solidFill>
                <a:latin typeface="Calibri"/>
              </a:rPr>
              <a:t>Availability signal NOT factual diagnosis</a:t>
            </a:r>
            <a:endParaRPr lang="en-AU" sz="1300" b="0" i="0" dirty="0">
              <a:solidFill>
                <a:srgbClr val="6B7686"/>
              </a:solidFill>
              <a:latin typeface="Calibri"/>
            </a:endParaRPr>
          </a:p>
        </p:txBody>
      </p:sp>
      <p:sp>
        <p:nvSpPr>
          <p:cNvPr id="8" name="Rounded Rectangle 7"/>
          <p:cNvSpPr/>
          <p:nvPr/>
        </p:nvSpPr>
        <p:spPr>
          <a:xfrm>
            <a:off x="4434840" y="2196425"/>
            <a:ext cx="3383280" cy="242316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TextBox 8"/>
          <p:cNvSpPr txBox="1"/>
          <p:nvPr/>
        </p:nvSpPr>
        <p:spPr>
          <a:xfrm>
            <a:off x="4709159" y="2379305"/>
            <a:ext cx="2834640" cy="615553"/>
          </a:xfrm>
          <a:prstGeom prst="rect">
            <a:avLst/>
          </a:prstGeom>
          <a:noFill/>
        </p:spPr>
        <p:txBody>
          <a:bodyPr wrap="square" lIns="0" tIns="0" rIns="0" bIns="0" anchor="t">
            <a:spAutoFit/>
          </a:bodyPr>
          <a:lstStyle/>
          <a:p>
            <a:pPr algn="l">
              <a:spcAft>
                <a:spcPts val="600"/>
              </a:spcAft>
            </a:pPr>
            <a:r>
              <a:rPr lang="en-AU" sz="4000" b="1" i="0" dirty="0">
                <a:solidFill>
                  <a:schemeClr val="accent6"/>
                </a:solidFill>
                <a:latin typeface="Calibri"/>
              </a:rPr>
              <a:t>4</a:t>
            </a:r>
          </a:p>
        </p:txBody>
      </p:sp>
      <p:sp>
        <p:nvSpPr>
          <p:cNvPr id="10" name="TextBox 9"/>
          <p:cNvSpPr txBox="1"/>
          <p:nvPr/>
        </p:nvSpPr>
        <p:spPr>
          <a:xfrm>
            <a:off x="4709159" y="3037673"/>
            <a:ext cx="2834640" cy="249877"/>
          </a:xfrm>
          <a:prstGeom prst="rect">
            <a:avLst/>
          </a:prstGeom>
          <a:noFill/>
        </p:spPr>
        <p:txBody>
          <a:bodyPr wrap="square" lIns="0" tIns="0" rIns="0" bIns="0" anchor="t">
            <a:spAutoFit/>
          </a:bodyPr>
          <a:lstStyle/>
          <a:p>
            <a:pPr algn="l">
              <a:lnSpc>
                <a:spcPct val="115000"/>
              </a:lnSpc>
              <a:spcAft>
                <a:spcPts val="600"/>
              </a:spcAft>
            </a:pPr>
            <a:r>
              <a:rPr lang="en-AU" sz="1500" b="1" i="0" dirty="0">
                <a:solidFill>
                  <a:srgbClr val="1B2A4A"/>
                </a:solidFill>
                <a:latin typeface="Calibri"/>
              </a:rPr>
              <a:t>IOC axes (new injury vs recurrence)</a:t>
            </a:r>
          </a:p>
        </p:txBody>
      </p:sp>
      <p:sp>
        <p:nvSpPr>
          <p:cNvPr id="11" name="TextBox 10"/>
          <p:cNvSpPr txBox="1"/>
          <p:nvPr/>
        </p:nvSpPr>
        <p:spPr>
          <a:xfrm>
            <a:off x="4709159" y="3461836"/>
            <a:ext cx="2834640" cy="1031051"/>
          </a:xfrm>
          <a:prstGeom prst="rect">
            <a:avLst/>
          </a:prstGeom>
          <a:noFill/>
        </p:spPr>
        <p:txBody>
          <a:bodyPr wrap="square" lIns="0" tIns="0" rIns="0" bIns="0" anchor="t">
            <a:spAutoFit/>
          </a:bodyPr>
          <a:lstStyle/>
          <a:p>
            <a:pPr algn="l">
              <a:spcAft>
                <a:spcPts val="600"/>
              </a:spcAft>
            </a:pPr>
            <a:r>
              <a:rPr lang="en-AU" sz="1300" b="0" i="0" dirty="0">
                <a:solidFill>
                  <a:srgbClr val="6B7686"/>
                </a:solidFill>
                <a:latin typeface="Calibri"/>
              </a:rPr>
              <a:t>Body region </a:t>
            </a:r>
          </a:p>
          <a:p>
            <a:pPr algn="l">
              <a:spcAft>
                <a:spcPts val="600"/>
              </a:spcAft>
            </a:pPr>
            <a:r>
              <a:rPr lang="en-AU" sz="1300" dirty="0">
                <a:solidFill>
                  <a:srgbClr val="6B7686"/>
                </a:solidFill>
                <a:latin typeface="Calibri"/>
              </a:rPr>
              <a:t>T</a:t>
            </a:r>
            <a:r>
              <a:rPr lang="en-AU" sz="1300" b="0" i="0" dirty="0">
                <a:solidFill>
                  <a:srgbClr val="6B7686"/>
                </a:solidFill>
                <a:latin typeface="Calibri"/>
              </a:rPr>
              <a:t>issue type </a:t>
            </a:r>
            <a:endParaRPr lang="en-AU" sz="1300" dirty="0">
              <a:solidFill>
                <a:srgbClr val="6B7686"/>
              </a:solidFill>
              <a:latin typeface="Calibri"/>
            </a:endParaRPr>
          </a:p>
          <a:p>
            <a:pPr algn="l">
              <a:spcAft>
                <a:spcPts val="600"/>
              </a:spcAft>
            </a:pPr>
            <a:r>
              <a:rPr lang="en-AU" sz="1300" b="0" i="0" dirty="0">
                <a:solidFill>
                  <a:srgbClr val="6B7686"/>
                </a:solidFill>
                <a:latin typeface="Calibri"/>
              </a:rPr>
              <a:t>Mechanism </a:t>
            </a:r>
          </a:p>
          <a:p>
            <a:pPr algn="l">
              <a:spcAft>
                <a:spcPts val="600"/>
              </a:spcAft>
            </a:pPr>
            <a:r>
              <a:rPr lang="en-AU" sz="1300" dirty="0">
                <a:solidFill>
                  <a:srgbClr val="6B7686"/>
                </a:solidFill>
                <a:latin typeface="Calibri"/>
              </a:rPr>
              <a:t>S</a:t>
            </a:r>
            <a:r>
              <a:rPr lang="en-AU" sz="1300" b="0" i="0" dirty="0">
                <a:solidFill>
                  <a:srgbClr val="6B7686"/>
                </a:solidFill>
                <a:latin typeface="Calibri"/>
              </a:rPr>
              <a:t>everity. </a:t>
            </a:r>
          </a:p>
        </p:txBody>
      </p:sp>
      <p:sp>
        <p:nvSpPr>
          <p:cNvPr id="12" name="Rounded Rectangle 11"/>
          <p:cNvSpPr/>
          <p:nvPr/>
        </p:nvSpPr>
        <p:spPr>
          <a:xfrm>
            <a:off x="8092440" y="2196425"/>
            <a:ext cx="3383280" cy="242316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p:cNvSpPr txBox="1"/>
          <p:nvPr/>
        </p:nvSpPr>
        <p:spPr>
          <a:xfrm>
            <a:off x="8366760" y="2379305"/>
            <a:ext cx="2834640" cy="615553"/>
          </a:xfrm>
          <a:prstGeom prst="rect">
            <a:avLst/>
          </a:prstGeom>
          <a:noFill/>
        </p:spPr>
        <p:txBody>
          <a:bodyPr wrap="square" lIns="0" tIns="0" rIns="0" bIns="0" anchor="t">
            <a:spAutoFit/>
          </a:bodyPr>
          <a:lstStyle/>
          <a:p>
            <a:pPr algn="l">
              <a:spcAft>
                <a:spcPts val="600"/>
              </a:spcAft>
            </a:pPr>
            <a:r>
              <a:rPr lang="en-AU" sz="4000" b="1" dirty="0">
                <a:solidFill>
                  <a:schemeClr val="accent6"/>
                </a:solidFill>
                <a:latin typeface="Calibri"/>
              </a:rPr>
              <a:t>3 </a:t>
            </a:r>
            <a:r>
              <a:rPr lang="en-AU" sz="2800" b="1" dirty="0">
                <a:solidFill>
                  <a:schemeClr val="accent6"/>
                </a:solidFill>
                <a:latin typeface="Calibri"/>
              </a:rPr>
              <a:t>split into</a:t>
            </a:r>
            <a:r>
              <a:rPr lang="en-AU" sz="4000" b="1" dirty="0">
                <a:solidFill>
                  <a:schemeClr val="accent6"/>
                </a:solidFill>
                <a:latin typeface="Calibri"/>
              </a:rPr>
              <a:t> 4</a:t>
            </a:r>
            <a:endParaRPr lang="en-AU" sz="4000" b="1" i="0" dirty="0">
              <a:solidFill>
                <a:schemeClr val="accent6"/>
              </a:solidFill>
              <a:latin typeface="Calibri"/>
            </a:endParaRPr>
          </a:p>
        </p:txBody>
      </p:sp>
      <p:sp>
        <p:nvSpPr>
          <p:cNvPr id="14" name="TextBox 13"/>
          <p:cNvSpPr txBox="1"/>
          <p:nvPr/>
        </p:nvSpPr>
        <p:spPr>
          <a:xfrm>
            <a:off x="8366760" y="3037673"/>
            <a:ext cx="2834640" cy="469359"/>
          </a:xfrm>
          <a:prstGeom prst="rect">
            <a:avLst/>
          </a:prstGeom>
          <a:noFill/>
        </p:spPr>
        <p:txBody>
          <a:bodyPr wrap="square" lIns="0" tIns="0" rIns="0" bIns="0" anchor="t">
            <a:spAutoFit/>
          </a:bodyPr>
          <a:lstStyle/>
          <a:p>
            <a:pPr algn="l">
              <a:spcAft>
                <a:spcPts val="600"/>
              </a:spcAft>
            </a:pPr>
            <a:r>
              <a:rPr lang="en-AU" sz="1500" b="1" i="0" dirty="0">
                <a:solidFill>
                  <a:srgbClr val="1B2A4A"/>
                </a:solidFill>
                <a:latin typeface="Calibri"/>
              </a:rPr>
              <a:t>IOC mechanism tiers </a:t>
            </a:r>
          </a:p>
          <a:p>
            <a:pPr algn="l">
              <a:spcAft>
                <a:spcPts val="600"/>
              </a:spcAft>
            </a:pPr>
            <a:r>
              <a:rPr lang="en-AU" sz="1050" b="1" i="1" dirty="0">
                <a:solidFill>
                  <a:srgbClr val="1B2A4A"/>
                </a:solidFill>
                <a:latin typeface="Calibri"/>
              </a:rPr>
              <a:t>(event definitions)</a:t>
            </a:r>
          </a:p>
        </p:txBody>
      </p:sp>
      <p:sp>
        <p:nvSpPr>
          <p:cNvPr id="15" name="TextBox 14"/>
          <p:cNvSpPr txBox="1"/>
          <p:nvPr/>
        </p:nvSpPr>
        <p:spPr>
          <a:xfrm>
            <a:off x="8366760" y="3679424"/>
            <a:ext cx="2834640" cy="754053"/>
          </a:xfrm>
          <a:prstGeom prst="rect">
            <a:avLst/>
          </a:prstGeom>
          <a:noFill/>
        </p:spPr>
        <p:txBody>
          <a:bodyPr wrap="square" lIns="0" tIns="0" rIns="0" bIns="0" anchor="t">
            <a:spAutoFit/>
          </a:bodyPr>
          <a:lstStyle/>
          <a:p>
            <a:pPr algn="l">
              <a:spcAft>
                <a:spcPts val="600"/>
              </a:spcAft>
            </a:pPr>
            <a:r>
              <a:rPr lang="en-AU" sz="1300" b="0" i="1" dirty="0">
                <a:solidFill>
                  <a:srgbClr val="6B7686"/>
                </a:solidFill>
                <a:latin typeface="Calibri"/>
              </a:rPr>
              <a:t>Overuse </a:t>
            </a:r>
            <a:r>
              <a:rPr lang="en-AU" sz="1300" b="1" i="1" dirty="0">
                <a:solidFill>
                  <a:srgbClr val="6B7686"/>
                </a:solidFill>
                <a:latin typeface="Calibri"/>
              </a:rPr>
              <a:t>(Split with or without Pathology)</a:t>
            </a:r>
          </a:p>
          <a:p>
            <a:pPr algn="l">
              <a:spcAft>
                <a:spcPts val="600"/>
              </a:spcAft>
            </a:pPr>
            <a:r>
              <a:rPr lang="en-AU" sz="1300" i="1" dirty="0">
                <a:solidFill>
                  <a:srgbClr val="6B7686"/>
                </a:solidFill>
                <a:latin typeface="Calibri"/>
              </a:rPr>
              <a:t>Acute noncontact</a:t>
            </a:r>
          </a:p>
          <a:p>
            <a:pPr algn="l">
              <a:spcAft>
                <a:spcPts val="600"/>
              </a:spcAft>
            </a:pPr>
            <a:r>
              <a:rPr lang="en-AU" sz="1300" i="1" dirty="0">
                <a:solidFill>
                  <a:srgbClr val="6B7686"/>
                </a:solidFill>
                <a:latin typeface="Calibri"/>
              </a:rPr>
              <a:t>Acute Impact</a:t>
            </a:r>
            <a:endParaRPr lang="en-AU" sz="1300" b="0" i="1" dirty="0">
              <a:solidFill>
                <a:srgbClr val="6B7686"/>
              </a:solidFill>
              <a:latin typeface="Calibri"/>
            </a:endParaRPr>
          </a:p>
        </p:txBody>
      </p:sp>
      <p:sp>
        <p:nvSpPr>
          <p:cNvPr id="16" name="Rounded Rectangle 15"/>
          <p:cNvSpPr/>
          <p:nvPr/>
        </p:nvSpPr>
        <p:spPr>
          <a:xfrm>
            <a:off x="777240" y="4802465"/>
            <a:ext cx="10607040" cy="67564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7" name="TextBox 16"/>
          <p:cNvSpPr txBox="1"/>
          <p:nvPr/>
        </p:nvSpPr>
        <p:spPr>
          <a:xfrm>
            <a:off x="1051560" y="4985345"/>
            <a:ext cx="10058400" cy="284950"/>
          </a:xfrm>
          <a:prstGeom prst="rect">
            <a:avLst/>
          </a:prstGeom>
          <a:noFill/>
        </p:spPr>
        <p:txBody>
          <a:bodyPr wrap="square" lIns="0" tIns="0" rIns="0" bIns="0" anchor="t">
            <a:spAutoFit/>
          </a:bodyPr>
          <a:lstStyle/>
          <a:p>
            <a:pPr algn="l">
              <a:lnSpc>
                <a:spcPct val="125000"/>
              </a:lnSpc>
              <a:spcAft>
                <a:spcPts val="600"/>
              </a:spcAft>
            </a:pPr>
            <a:r>
              <a:rPr lang="en-AU" sz="1600" b="1" i="0" dirty="0">
                <a:solidFill>
                  <a:srgbClr val="B2182B"/>
                </a:solidFill>
                <a:latin typeface="Calibri"/>
              </a:rPr>
              <a:t>The tiers follow the IOC consensus, therefore variations in the second and third step of classification can affect results. </a:t>
            </a:r>
          </a:p>
        </p:txBody>
      </p:sp>
      <p:sp>
        <p:nvSpPr>
          <p:cNvPr id="18" name="Oval 17">
            <a:extLst>
              <a:ext uri="{FF2B5EF4-FFF2-40B4-BE49-F238E27FC236}">
                <a16:creationId xmlns:a16="http://schemas.microsoft.com/office/drawing/2014/main" id="{68EBF835-3747-388E-5C02-BDAC5D500533}"/>
              </a:ext>
            </a:extLst>
          </p:cNvPr>
          <p:cNvSpPr/>
          <p:nvPr/>
        </p:nvSpPr>
        <p:spPr>
          <a:xfrm>
            <a:off x="549027" y="1951103"/>
            <a:ext cx="456424" cy="456424"/>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9" name="TextBox 18">
            <a:extLst>
              <a:ext uri="{FF2B5EF4-FFF2-40B4-BE49-F238E27FC236}">
                <a16:creationId xmlns:a16="http://schemas.microsoft.com/office/drawing/2014/main" id="{BFCC39FD-B382-BF50-79D1-F259FC26DD61}"/>
              </a:ext>
            </a:extLst>
          </p:cNvPr>
          <p:cNvSpPr txBox="1"/>
          <p:nvPr/>
        </p:nvSpPr>
        <p:spPr>
          <a:xfrm>
            <a:off x="549027" y="2024033"/>
            <a:ext cx="456424" cy="276999"/>
          </a:xfrm>
          <a:prstGeom prst="rect">
            <a:avLst/>
          </a:prstGeom>
          <a:noFill/>
        </p:spPr>
        <p:txBody>
          <a:bodyPr wrap="square" lIns="0" tIns="0" rIns="0" bIns="0" anchor="t">
            <a:spAutoFit/>
          </a:bodyPr>
          <a:lstStyle/>
          <a:p>
            <a:pPr algn="ctr">
              <a:spcAft>
                <a:spcPts val="600"/>
              </a:spcAft>
            </a:pPr>
            <a:r>
              <a:rPr lang="en-AU" b="1" i="0" dirty="0">
                <a:solidFill>
                  <a:srgbClr val="FFFFFF"/>
                </a:solidFill>
                <a:latin typeface="Calibri"/>
              </a:rPr>
              <a:t>1</a:t>
            </a:r>
          </a:p>
        </p:txBody>
      </p:sp>
      <p:sp>
        <p:nvSpPr>
          <p:cNvPr id="20" name="Oval 19">
            <a:extLst>
              <a:ext uri="{FF2B5EF4-FFF2-40B4-BE49-F238E27FC236}">
                <a16:creationId xmlns:a16="http://schemas.microsoft.com/office/drawing/2014/main" id="{DCD6030D-02FB-B9DF-994B-DEC67DE1BDF1}"/>
              </a:ext>
            </a:extLst>
          </p:cNvPr>
          <p:cNvSpPr/>
          <p:nvPr/>
        </p:nvSpPr>
        <p:spPr>
          <a:xfrm>
            <a:off x="4218657" y="1954589"/>
            <a:ext cx="456424" cy="456424"/>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1" name="TextBox 20">
            <a:extLst>
              <a:ext uri="{FF2B5EF4-FFF2-40B4-BE49-F238E27FC236}">
                <a16:creationId xmlns:a16="http://schemas.microsoft.com/office/drawing/2014/main" id="{65A259A0-6A07-19EB-99A9-BA1EB11D563A}"/>
              </a:ext>
            </a:extLst>
          </p:cNvPr>
          <p:cNvSpPr txBox="1"/>
          <p:nvPr/>
        </p:nvSpPr>
        <p:spPr>
          <a:xfrm>
            <a:off x="4218657" y="2027519"/>
            <a:ext cx="456424" cy="276999"/>
          </a:xfrm>
          <a:prstGeom prst="rect">
            <a:avLst/>
          </a:prstGeom>
          <a:noFill/>
        </p:spPr>
        <p:txBody>
          <a:bodyPr wrap="square" lIns="0" tIns="0" rIns="0" bIns="0" anchor="t">
            <a:spAutoFit/>
          </a:bodyPr>
          <a:lstStyle/>
          <a:p>
            <a:pPr algn="ctr">
              <a:spcAft>
                <a:spcPts val="600"/>
              </a:spcAft>
            </a:pPr>
            <a:r>
              <a:rPr lang="en-AU" b="1" i="0" dirty="0">
                <a:solidFill>
                  <a:srgbClr val="FFFFFF"/>
                </a:solidFill>
                <a:latin typeface="Calibri"/>
              </a:rPr>
              <a:t>2</a:t>
            </a:r>
          </a:p>
        </p:txBody>
      </p:sp>
      <p:sp>
        <p:nvSpPr>
          <p:cNvPr id="22" name="Oval 21">
            <a:extLst>
              <a:ext uri="{FF2B5EF4-FFF2-40B4-BE49-F238E27FC236}">
                <a16:creationId xmlns:a16="http://schemas.microsoft.com/office/drawing/2014/main" id="{B5EB9EC8-6EB8-B58C-FE5B-1EC91C2286FC}"/>
              </a:ext>
            </a:extLst>
          </p:cNvPr>
          <p:cNvSpPr/>
          <p:nvPr/>
        </p:nvSpPr>
        <p:spPr>
          <a:xfrm>
            <a:off x="7889451" y="1951103"/>
            <a:ext cx="456424" cy="456424"/>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3" name="TextBox 22">
            <a:extLst>
              <a:ext uri="{FF2B5EF4-FFF2-40B4-BE49-F238E27FC236}">
                <a16:creationId xmlns:a16="http://schemas.microsoft.com/office/drawing/2014/main" id="{2927BB0A-12C9-E62E-A913-8717456F117F}"/>
              </a:ext>
            </a:extLst>
          </p:cNvPr>
          <p:cNvSpPr txBox="1"/>
          <p:nvPr/>
        </p:nvSpPr>
        <p:spPr>
          <a:xfrm>
            <a:off x="7889451" y="2024033"/>
            <a:ext cx="456424" cy="276999"/>
          </a:xfrm>
          <a:prstGeom prst="rect">
            <a:avLst/>
          </a:prstGeom>
          <a:noFill/>
        </p:spPr>
        <p:txBody>
          <a:bodyPr wrap="square" lIns="0" tIns="0" rIns="0" bIns="0" anchor="t">
            <a:spAutoFit/>
          </a:bodyPr>
          <a:lstStyle/>
          <a:p>
            <a:pPr algn="ctr">
              <a:spcAft>
                <a:spcPts val="600"/>
              </a:spcAft>
            </a:pPr>
            <a:r>
              <a:rPr lang="en-AU" b="1" dirty="0">
                <a:solidFill>
                  <a:srgbClr val="FFFFFF"/>
                </a:solidFill>
                <a:latin typeface="Calibri"/>
              </a:rPr>
              <a:t>3</a:t>
            </a:r>
            <a:endParaRPr lang="en-AU" b="1" i="0" dirty="0">
              <a:solidFill>
                <a:srgbClr val="FFFFFF"/>
              </a:solidFill>
              <a:latin typeface="Calibri"/>
            </a:endParaRPr>
          </a:p>
        </p:txBody>
      </p:sp>
      <p:sp>
        <p:nvSpPr>
          <p:cNvPr id="24" name="Slide Number Placeholder 23">
            <a:extLst>
              <a:ext uri="{FF2B5EF4-FFF2-40B4-BE49-F238E27FC236}">
                <a16:creationId xmlns:a16="http://schemas.microsoft.com/office/drawing/2014/main" id="{18FD0F3F-126B-5200-DBDF-1554A50FEDF8}"/>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0" grpId="0"/>
      <p:bldP spid="11" grpId="0"/>
      <p:bldP spid="12" grpId="0" animBg="1"/>
      <p:bldP spid="13" grpId="0"/>
      <p:bldP spid="14" grpId="0"/>
      <p:bldP spid="15" grpId="0"/>
      <p:bldP spid="16" grpId="0" animBg="1"/>
      <p:bldP spid="17" grpId="0"/>
      <p:bldP spid="20" grpId="0" animBg="1"/>
      <p:bldP spid="21" grpId="0"/>
      <p:bldP spid="22" grpId="0" animBg="1"/>
      <p:bldP spid="23"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Why survival analysis</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A yes-or-no season outcome cannot say when risk moved</a:t>
            </a:r>
          </a:p>
        </p:txBody>
      </p:sp>
      <p:sp>
        <p:nvSpPr>
          <p:cNvPr id="4" name="Rounded Rectangle 3"/>
          <p:cNvSpPr/>
          <p:nvPr/>
        </p:nvSpPr>
        <p:spPr>
          <a:xfrm>
            <a:off x="548640" y="2849880"/>
            <a:ext cx="5120640" cy="2987604"/>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822960" y="3078480"/>
            <a:ext cx="4572000" cy="184666"/>
          </a:xfrm>
          <a:prstGeom prst="rect">
            <a:avLst/>
          </a:prstGeom>
          <a:noFill/>
        </p:spPr>
        <p:txBody>
          <a:bodyPr wrap="square" lIns="0" tIns="0" rIns="0" bIns="0" anchor="t">
            <a:spAutoFit/>
          </a:bodyPr>
          <a:lstStyle/>
          <a:p>
            <a:pPr>
              <a:spcAft>
                <a:spcPts val="600"/>
              </a:spcAft>
            </a:pPr>
            <a:r>
              <a:rPr lang="en-AU" sz="1200" b="1" i="0" dirty="0">
                <a:solidFill>
                  <a:srgbClr val="B2182B"/>
                </a:solidFill>
                <a:latin typeface="Calibri"/>
              </a:rPr>
              <a:t>THE USUAL APPROACH</a:t>
            </a:r>
            <a:endParaRPr lang="en-AU" sz="1200" b="1" i="0" dirty="0">
              <a:solidFill>
                <a:srgbClr val="6B7686"/>
              </a:solidFill>
              <a:latin typeface="Calibri"/>
            </a:endParaRPr>
          </a:p>
        </p:txBody>
      </p:sp>
      <p:sp>
        <p:nvSpPr>
          <p:cNvPr id="6" name="TextBox 5"/>
          <p:cNvSpPr txBox="1"/>
          <p:nvPr/>
        </p:nvSpPr>
        <p:spPr>
          <a:xfrm>
            <a:off x="822960" y="3535680"/>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Injured this season, yes or no.</a:t>
            </a:r>
          </a:p>
        </p:txBody>
      </p:sp>
      <p:sp>
        <p:nvSpPr>
          <p:cNvPr id="7" name="Rounded Rectangle 6"/>
          <p:cNvSpPr/>
          <p:nvPr/>
        </p:nvSpPr>
        <p:spPr>
          <a:xfrm>
            <a:off x="6583680" y="2849880"/>
            <a:ext cx="5120640" cy="2987604"/>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6858000" y="3078480"/>
            <a:ext cx="4572000" cy="184666"/>
          </a:xfrm>
          <a:prstGeom prst="rect">
            <a:avLst/>
          </a:prstGeom>
          <a:noFill/>
        </p:spPr>
        <p:txBody>
          <a:bodyPr wrap="square" lIns="0" tIns="0" rIns="0" bIns="0" anchor="t">
            <a:spAutoFit/>
          </a:bodyPr>
          <a:lstStyle/>
          <a:p>
            <a:pPr algn="l">
              <a:spcAft>
                <a:spcPts val="600"/>
              </a:spcAft>
            </a:pPr>
            <a:r>
              <a:rPr lang="en-AU" sz="1200" b="1" i="0" dirty="0">
                <a:solidFill>
                  <a:srgbClr val="00B050"/>
                </a:solidFill>
                <a:latin typeface="Calibri"/>
              </a:rPr>
              <a:t>THIS STUDY</a:t>
            </a:r>
          </a:p>
        </p:txBody>
      </p:sp>
      <p:sp>
        <p:nvSpPr>
          <p:cNvPr id="9" name="TextBox 8"/>
          <p:cNvSpPr txBox="1"/>
          <p:nvPr/>
        </p:nvSpPr>
        <p:spPr>
          <a:xfrm>
            <a:off x="6842455" y="3535199"/>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Hazard that moves game by game.</a:t>
            </a:r>
          </a:p>
        </p:txBody>
      </p:sp>
      <p:sp>
        <p:nvSpPr>
          <p:cNvPr id="10" name="TextBox 9"/>
          <p:cNvSpPr txBox="1"/>
          <p:nvPr/>
        </p:nvSpPr>
        <p:spPr>
          <a:xfrm>
            <a:off x="777240" y="1747942"/>
            <a:ext cx="10607040" cy="729687"/>
          </a:xfrm>
          <a:prstGeom prst="rect">
            <a:avLst/>
          </a:prstGeom>
          <a:noFill/>
        </p:spPr>
        <p:txBody>
          <a:bodyPr wrap="square" lIns="0" tIns="0" rIns="0" bIns="0" anchor="t">
            <a:spAutoFit/>
          </a:bodyPr>
          <a:lstStyle/>
          <a:p>
            <a:pPr algn="l">
              <a:lnSpc>
                <a:spcPct val="130000"/>
              </a:lnSpc>
              <a:spcAft>
                <a:spcPts val="600"/>
              </a:spcAft>
            </a:pPr>
            <a:r>
              <a:rPr lang="en-AU" sz="1700" b="1" i="0" dirty="0">
                <a:solidFill>
                  <a:srgbClr val="1B2A4A"/>
                </a:solidFill>
                <a:latin typeface="Calibri"/>
              </a:rPr>
              <a:t>The question changes from “did this player get injured” </a:t>
            </a:r>
          </a:p>
          <a:p>
            <a:pPr algn="l">
              <a:lnSpc>
                <a:spcPct val="130000"/>
              </a:lnSpc>
              <a:spcAft>
                <a:spcPts val="600"/>
              </a:spcAft>
            </a:pPr>
            <a:r>
              <a:rPr lang="en-AU" sz="1700" b="1" i="0" dirty="0">
                <a:solidFill>
                  <a:srgbClr val="1B2A4A"/>
                </a:solidFill>
                <a:latin typeface="Calibri"/>
              </a:rPr>
              <a:t>to “how high is their risk currently?</a:t>
            </a:r>
            <a:r>
              <a:rPr lang="en-AU" sz="1700" b="1" dirty="0">
                <a:solidFill>
                  <a:srgbClr val="1B2A4A"/>
                </a:solidFill>
                <a:latin typeface="Calibri"/>
              </a:rPr>
              <a:t> </a:t>
            </a:r>
            <a:r>
              <a:rPr lang="en-AU" sz="1700" b="1" i="0" dirty="0">
                <a:solidFill>
                  <a:srgbClr val="1B2A4A"/>
                </a:solidFill>
                <a:latin typeface="Calibri"/>
              </a:rPr>
              <a:t>what was happening right before it?”.</a:t>
            </a:r>
          </a:p>
        </p:txBody>
      </p:sp>
      <p:sp>
        <p:nvSpPr>
          <p:cNvPr id="13" name="Slide Number Placeholder 12">
            <a:extLst>
              <a:ext uri="{FF2B5EF4-FFF2-40B4-BE49-F238E27FC236}">
                <a16:creationId xmlns:a16="http://schemas.microsoft.com/office/drawing/2014/main" id="{71C6F0C9-44D2-C5DB-2246-436B5CB07D1F}"/>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8</a:t>
            </a:fld>
            <a:endParaRPr lang="en-US"/>
          </a:p>
        </p:txBody>
      </p:sp>
      <p:cxnSp>
        <p:nvCxnSpPr>
          <p:cNvPr id="15" name="Straight Arrow Connector 14">
            <a:extLst>
              <a:ext uri="{FF2B5EF4-FFF2-40B4-BE49-F238E27FC236}">
                <a16:creationId xmlns:a16="http://schemas.microsoft.com/office/drawing/2014/main" id="{22E88E7A-EF2D-1110-0A45-98E4A038A244}"/>
              </a:ext>
            </a:extLst>
          </p:cNvPr>
          <p:cNvCxnSpPr>
            <a:cxnSpLocks/>
          </p:cNvCxnSpPr>
          <p:nvPr/>
        </p:nvCxnSpPr>
        <p:spPr>
          <a:xfrm>
            <a:off x="5810250" y="5034270"/>
            <a:ext cx="601674"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B42FAF1F-FA42-1B85-0A69-AC43C72EF3C1}"/>
              </a:ext>
            </a:extLst>
          </p:cNvPr>
          <p:cNvCxnSpPr>
            <a:cxnSpLocks/>
          </p:cNvCxnSpPr>
          <p:nvPr/>
        </p:nvCxnSpPr>
        <p:spPr>
          <a:xfrm>
            <a:off x="5795010" y="4286114"/>
            <a:ext cx="601674"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BBF55495-4743-5016-CA42-C5ECC2F3C27C}"/>
              </a:ext>
            </a:extLst>
          </p:cNvPr>
          <p:cNvCxnSpPr>
            <a:cxnSpLocks/>
          </p:cNvCxnSpPr>
          <p:nvPr/>
        </p:nvCxnSpPr>
        <p:spPr>
          <a:xfrm>
            <a:off x="5779923" y="3673122"/>
            <a:ext cx="601674"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
        <p:nvSpPr>
          <p:cNvPr id="12" name="TextBox 11">
            <a:extLst>
              <a:ext uri="{FF2B5EF4-FFF2-40B4-BE49-F238E27FC236}">
                <a16:creationId xmlns:a16="http://schemas.microsoft.com/office/drawing/2014/main" id="{BC349671-080B-AF19-1285-64C7ABE197FF}"/>
              </a:ext>
            </a:extLst>
          </p:cNvPr>
          <p:cNvSpPr txBox="1"/>
          <p:nvPr/>
        </p:nvSpPr>
        <p:spPr>
          <a:xfrm>
            <a:off x="802296" y="4145844"/>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One row per player per season.</a:t>
            </a:r>
          </a:p>
        </p:txBody>
      </p:sp>
      <p:sp>
        <p:nvSpPr>
          <p:cNvPr id="14" name="TextBox 13">
            <a:extLst>
              <a:ext uri="{FF2B5EF4-FFF2-40B4-BE49-F238E27FC236}">
                <a16:creationId xmlns:a16="http://schemas.microsoft.com/office/drawing/2014/main" id="{9763907C-35ED-CE3D-DEA2-F70A2CB89326}"/>
              </a:ext>
            </a:extLst>
          </p:cNvPr>
          <p:cNvSpPr txBox="1"/>
          <p:nvPr/>
        </p:nvSpPr>
        <p:spPr>
          <a:xfrm>
            <a:off x="822960" y="4728460"/>
            <a:ext cx="4572000" cy="575927"/>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Collapses a whole year of exposure into a single number, so it cannot say when risk moved or what moved it.</a:t>
            </a:r>
          </a:p>
        </p:txBody>
      </p:sp>
      <p:sp>
        <p:nvSpPr>
          <p:cNvPr id="16" name="TextBox 15">
            <a:extLst>
              <a:ext uri="{FF2B5EF4-FFF2-40B4-BE49-F238E27FC236}">
                <a16:creationId xmlns:a16="http://schemas.microsoft.com/office/drawing/2014/main" id="{F4095768-EF4F-08E8-784E-174A88659034}"/>
              </a:ext>
            </a:extLst>
          </p:cNvPr>
          <p:cNvSpPr txBox="1"/>
          <p:nvPr/>
        </p:nvSpPr>
        <p:spPr>
          <a:xfrm>
            <a:off x="6858000" y="4167462"/>
            <a:ext cx="4572000" cy="275845"/>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One row per player per game.</a:t>
            </a:r>
          </a:p>
        </p:txBody>
      </p:sp>
      <p:sp>
        <p:nvSpPr>
          <p:cNvPr id="19" name="TextBox 18">
            <a:extLst>
              <a:ext uri="{FF2B5EF4-FFF2-40B4-BE49-F238E27FC236}">
                <a16:creationId xmlns:a16="http://schemas.microsoft.com/office/drawing/2014/main" id="{4133829B-122B-EBD8-FF50-E3E30A158F02}"/>
              </a:ext>
            </a:extLst>
          </p:cNvPr>
          <p:cNvSpPr txBox="1"/>
          <p:nvPr/>
        </p:nvSpPr>
        <p:spPr>
          <a:xfrm>
            <a:off x="6858000" y="4746306"/>
            <a:ext cx="4572000" cy="575927"/>
          </a:xfrm>
          <a:prstGeom prst="rect">
            <a:avLst/>
          </a:prstGeom>
          <a:noFill/>
        </p:spPr>
        <p:txBody>
          <a:bodyPr wrap="square" lIns="0" tIns="0" rIns="0" bIns="0" anchor="t">
            <a:spAutoFit/>
          </a:bodyPr>
          <a:lstStyle/>
          <a:p>
            <a:pPr algn="l">
              <a:lnSpc>
                <a:spcPct val="130000"/>
              </a:lnSpc>
              <a:spcAft>
                <a:spcPts val="600"/>
              </a:spcAft>
            </a:pPr>
            <a:r>
              <a:rPr lang="en-AU" sz="1500" b="0" i="0" dirty="0">
                <a:solidFill>
                  <a:srgbClr val="333D4D"/>
                </a:solidFill>
                <a:latin typeface="Calibri"/>
              </a:rPr>
              <a:t>Covariates update at every fixture, so the model can locate risk in time and relate it to what 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2" grpId="0"/>
      <p:bldP spid="14" grpId="0"/>
      <p:bldP spid="16" grpId="0"/>
      <p:bldP spid="19"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Who is in the comparison pool, and when</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Every injured player leaves the risk set, then rejoins it</a:t>
            </a:r>
          </a:p>
        </p:txBody>
      </p:sp>
      <p:pic>
        <p:nvPicPr>
          <p:cNvPr id="4" name="Picture 3" descr="P6_risk_set.png"/>
          <p:cNvPicPr>
            <a:picLocks noChangeAspect="1"/>
          </p:cNvPicPr>
          <p:nvPr/>
        </p:nvPicPr>
        <p:blipFill>
          <a:blip r:embed="rId3"/>
          <a:srcRect b="18215"/>
          <a:stretch>
            <a:fillRect/>
          </a:stretch>
        </p:blipFill>
        <p:spPr>
          <a:xfrm>
            <a:off x="371442" y="1434846"/>
            <a:ext cx="11543053" cy="4405515"/>
          </a:xfrm>
          <a:prstGeom prst="rect">
            <a:avLst/>
          </a:prstGeom>
        </p:spPr>
      </p:pic>
      <p:sp>
        <p:nvSpPr>
          <p:cNvPr id="5" name="Slide Number Placeholder 4">
            <a:extLst>
              <a:ext uri="{FF2B5EF4-FFF2-40B4-BE49-F238E27FC236}">
                <a16:creationId xmlns:a16="http://schemas.microsoft.com/office/drawing/2014/main" id="{C021D33D-FCC3-CBA2-E99A-250579945146}"/>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9</a:t>
            </a:fld>
            <a:endParaRPr lang="en-US"/>
          </a:p>
        </p:txBody>
      </p:sp>
      <p:sp>
        <p:nvSpPr>
          <p:cNvPr id="6" name="Rectangle 5">
            <a:extLst>
              <a:ext uri="{FF2B5EF4-FFF2-40B4-BE49-F238E27FC236}">
                <a16:creationId xmlns:a16="http://schemas.microsoft.com/office/drawing/2014/main" id="{9C643F79-E337-0D94-3D9F-2BCB029E802C}"/>
              </a:ext>
            </a:extLst>
          </p:cNvPr>
          <p:cNvSpPr/>
          <p:nvPr/>
        </p:nvSpPr>
        <p:spPr>
          <a:xfrm>
            <a:off x="1343757" y="1750313"/>
            <a:ext cx="2177210" cy="2170045"/>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8" name="Rectangle 7">
            <a:extLst>
              <a:ext uri="{FF2B5EF4-FFF2-40B4-BE49-F238E27FC236}">
                <a16:creationId xmlns:a16="http://schemas.microsoft.com/office/drawing/2014/main" id="{49D4B579-D64E-9052-C07D-394435FDBE4D}"/>
              </a:ext>
            </a:extLst>
          </p:cNvPr>
          <p:cNvSpPr/>
          <p:nvPr/>
        </p:nvSpPr>
        <p:spPr>
          <a:xfrm>
            <a:off x="2876425" y="1750313"/>
            <a:ext cx="1289084" cy="782837"/>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9" name="Rectangle 8">
            <a:extLst>
              <a:ext uri="{FF2B5EF4-FFF2-40B4-BE49-F238E27FC236}">
                <a16:creationId xmlns:a16="http://schemas.microsoft.com/office/drawing/2014/main" id="{874ADC8F-E237-03E2-DBFB-F39428E9B4E2}"/>
              </a:ext>
            </a:extLst>
          </p:cNvPr>
          <p:cNvSpPr/>
          <p:nvPr/>
        </p:nvSpPr>
        <p:spPr>
          <a:xfrm>
            <a:off x="7381951" y="2716228"/>
            <a:ext cx="1289084" cy="120413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10" name="Rectangle 9">
            <a:extLst>
              <a:ext uri="{FF2B5EF4-FFF2-40B4-BE49-F238E27FC236}">
                <a16:creationId xmlns:a16="http://schemas.microsoft.com/office/drawing/2014/main" id="{E7CEF75A-0BCC-7B38-2CAD-2F07F95E86F3}"/>
              </a:ext>
            </a:extLst>
          </p:cNvPr>
          <p:cNvSpPr/>
          <p:nvPr/>
        </p:nvSpPr>
        <p:spPr>
          <a:xfrm>
            <a:off x="8432290" y="1599202"/>
            <a:ext cx="2004481" cy="782837"/>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11" name="Rectangle 10">
            <a:extLst>
              <a:ext uri="{FF2B5EF4-FFF2-40B4-BE49-F238E27FC236}">
                <a16:creationId xmlns:a16="http://schemas.microsoft.com/office/drawing/2014/main" id="{0FF5FBEE-7B25-4F22-D7E2-B3578021BC7C}"/>
              </a:ext>
            </a:extLst>
          </p:cNvPr>
          <p:cNvSpPr/>
          <p:nvPr/>
        </p:nvSpPr>
        <p:spPr>
          <a:xfrm>
            <a:off x="9396617" y="2368362"/>
            <a:ext cx="167798" cy="1551996"/>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12" name="TextBox 11">
            <a:extLst>
              <a:ext uri="{FF2B5EF4-FFF2-40B4-BE49-F238E27FC236}">
                <a16:creationId xmlns:a16="http://schemas.microsoft.com/office/drawing/2014/main" id="{F0948E1C-A562-55EE-B242-31FE48FD307A}"/>
              </a:ext>
            </a:extLst>
          </p:cNvPr>
          <p:cNvSpPr txBox="1"/>
          <p:nvPr/>
        </p:nvSpPr>
        <p:spPr>
          <a:xfrm>
            <a:off x="1112881" y="1972978"/>
            <a:ext cx="2510624" cy="469359"/>
          </a:xfrm>
          <a:prstGeom prst="rect">
            <a:avLst/>
          </a:prstGeom>
          <a:noFill/>
        </p:spPr>
        <p:txBody>
          <a:bodyPr wrap="none" rtlCol="0">
            <a:spAutoFit/>
          </a:bodyPr>
          <a:lstStyle/>
          <a:p>
            <a:pPr algn="ctr"/>
            <a:r>
              <a:rPr lang="en-AU" sz="1400" b="1" dirty="0"/>
              <a:t>First 14 Games are dropped </a:t>
            </a:r>
          </a:p>
          <a:p>
            <a:pPr algn="ctr"/>
            <a:r>
              <a:rPr lang="en-AU" sz="1050" i="1" dirty="0">
                <a:solidFill>
                  <a:schemeClr val="bg1">
                    <a:lumMod val="50000"/>
                  </a:schemeClr>
                </a:solidFill>
              </a:rPr>
              <a:t>(no workload data prior to injury time loss)</a:t>
            </a:r>
          </a:p>
        </p:txBody>
      </p:sp>
      <p:cxnSp>
        <p:nvCxnSpPr>
          <p:cNvPr id="14" name="Straight Arrow Connector 13">
            <a:extLst>
              <a:ext uri="{FF2B5EF4-FFF2-40B4-BE49-F238E27FC236}">
                <a16:creationId xmlns:a16="http://schemas.microsoft.com/office/drawing/2014/main" id="{7466FCFD-C5A7-53E9-9F8F-3CCABC9370B4}"/>
              </a:ext>
            </a:extLst>
          </p:cNvPr>
          <p:cNvCxnSpPr>
            <a:cxnSpLocks/>
          </p:cNvCxnSpPr>
          <p:nvPr/>
        </p:nvCxnSpPr>
        <p:spPr>
          <a:xfrm>
            <a:off x="2368193" y="2528543"/>
            <a:ext cx="0" cy="96462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5" name="Right Brace 14">
            <a:extLst>
              <a:ext uri="{FF2B5EF4-FFF2-40B4-BE49-F238E27FC236}">
                <a16:creationId xmlns:a16="http://schemas.microsoft.com/office/drawing/2014/main" id="{975AFC34-DB32-50BA-0C98-3B4B54905535}"/>
              </a:ext>
            </a:extLst>
          </p:cNvPr>
          <p:cNvSpPr/>
          <p:nvPr/>
        </p:nvSpPr>
        <p:spPr>
          <a:xfrm rot="16200000">
            <a:off x="2140620" y="2939972"/>
            <a:ext cx="433136" cy="1783986"/>
          </a:xfrm>
          <a:prstGeom prst="rightBrace">
            <a:avLst>
              <a:gd name="adj1" fmla="val 8333"/>
              <a:gd name="adj2" fmla="val 50899"/>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AU"/>
          </a:p>
        </p:txBody>
      </p:sp>
      <p:sp>
        <p:nvSpPr>
          <p:cNvPr id="17" name="TextBox 16">
            <a:extLst>
              <a:ext uri="{FF2B5EF4-FFF2-40B4-BE49-F238E27FC236}">
                <a16:creationId xmlns:a16="http://schemas.microsoft.com/office/drawing/2014/main" id="{75C16360-DECB-DB52-9DA7-4A8E3EFA0EE4}"/>
              </a:ext>
            </a:extLst>
          </p:cNvPr>
          <p:cNvSpPr txBox="1"/>
          <p:nvPr/>
        </p:nvSpPr>
        <p:spPr>
          <a:xfrm>
            <a:off x="6739337" y="2001212"/>
            <a:ext cx="1762021" cy="469359"/>
          </a:xfrm>
          <a:prstGeom prst="rect">
            <a:avLst/>
          </a:prstGeom>
          <a:noFill/>
        </p:spPr>
        <p:txBody>
          <a:bodyPr wrap="none" rtlCol="0">
            <a:spAutoFit/>
          </a:bodyPr>
          <a:lstStyle/>
          <a:p>
            <a:pPr algn="ctr"/>
            <a:r>
              <a:rPr lang="en-AU" sz="1400" b="1" dirty="0"/>
              <a:t>Rest included</a:t>
            </a:r>
          </a:p>
          <a:p>
            <a:pPr algn="ctr"/>
            <a:r>
              <a:rPr lang="en-AU" sz="1050" i="1" dirty="0">
                <a:solidFill>
                  <a:schemeClr val="bg1">
                    <a:lumMod val="50000"/>
                  </a:schemeClr>
                </a:solidFill>
              </a:rPr>
              <a:t>(still appear in injury reports)</a:t>
            </a:r>
          </a:p>
        </p:txBody>
      </p:sp>
      <p:sp>
        <p:nvSpPr>
          <p:cNvPr id="18" name="TextBox 17">
            <a:extLst>
              <a:ext uri="{FF2B5EF4-FFF2-40B4-BE49-F238E27FC236}">
                <a16:creationId xmlns:a16="http://schemas.microsoft.com/office/drawing/2014/main" id="{36898214-6C0E-051F-C57C-3FC69B239E29}"/>
              </a:ext>
            </a:extLst>
          </p:cNvPr>
          <p:cNvSpPr txBox="1"/>
          <p:nvPr/>
        </p:nvSpPr>
        <p:spPr>
          <a:xfrm>
            <a:off x="8652577" y="2010573"/>
            <a:ext cx="2509021" cy="469359"/>
          </a:xfrm>
          <a:prstGeom prst="rect">
            <a:avLst/>
          </a:prstGeom>
          <a:noFill/>
        </p:spPr>
        <p:txBody>
          <a:bodyPr wrap="none" rtlCol="0">
            <a:spAutoFit/>
          </a:bodyPr>
          <a:lstStyle/>
          <a:p>
            <a:pPr algn="ctr"/>
            <a:r>
              <a:rPr lang="en-AU" sz="1400" b="1" dirty="0"/>
              <a:t>Changes IOC axes mid absence</a:t>
            </a:r>
          </a:p>
          <a:p>
            <a:pPr algn="ctr"/>
            <a:r>
              <a:rPr lang="en-AU" sz="1050" i="1" dirty="0">
                <a:solidFill>
                  <a:schemeClr val="bg1">
                    <a:lumMod val="50000"/>
                  </a:schemeClr>
                </a:solidFill>
              </a:rPr>
              <a:t>(take the first injury as the casual absence)</a:t>
            </a:r>
          </a:p>
        </p:txBody>
      </p:sp>
      <p:cxnSp>
        <p:nvCxnSpPr>
          <p:cNvPr id="19" name="Straight Arrow Connector 18">
            <a:extLst>
              <a:ext uri="{FF2B5EF4-FFF2-40B4-BE49-F238E27FC236}">
                <a16:creationId xmlns:a16="http://schemas.microsoft.com/office/drawing/2014/main" id="{F5A530F7-177B-764E-933B-5BF640B318D0}"/>
              </a:ext>
            </a:extLst>
          </p:cNvPr>
          <p:cNvCxnSpPr>
            <a:cxnSpLocks/>
          </p:cNvCxnSpPr>
          <p:nvPr/>
        </p:nvCxnSpPr>
        <p:spPr>
          <a:xfrm>
            <a:off x="9460091" y="2464375"/>
            <a:ext cx="0" cy="96462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0" name="Right Brace 19">
            <a:extLst>
              <a:ext uri="{FF2B5EF4-FFF2-40B4-BE49-F238E27FC236}">
                <a16:creationId xmlns:a16="http://schemas.microsoft.com/office/drawing/2014/main" id="{6A0C0FAB-16BB-4D3F-828F-82E4F1475670}"/>
              </a:ext>
            </a:extLst>
          </p:cNvPr>
          <p:cNvSpPr/>
          <p:nvPr/>
        </p:nvSpPr>
        <p:spPr>
          <a:xfrm rot="16200000">
            <a:off x="9247267" y="3604141"/>
            <a:ext cx="433136" cy="265328"/>
          </a:xfrm>
          <a:prstGeom prst="rightBrace">
            <a:avLst>
              <a:gd name="adj1" fmla="val 8333"/>
              <a:gd name="adj2" fmla="val 50899"/>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AU"/>
          </a:p>
        </p:txBody>
      </p:sp>
      <p:sp>
        <p:nvSpPr>
          <p:cNvPr id="21" name="Rectangle 20">
            <a:extLst>
              <a:ext uri="{FF2B5EF4-FFF2-40B4-BE49-F238E27FC236}">
                <a16:creationId xmlns:a16="http://schemas.microsoft.com/office/drawing/2014/main" id="{DA29E920-48E8-3F10-37A4-DCD9EB3569C8}"/>
              </a:ext>
            </a:extLst>
          </p:cNvPr>
          <p:cNvSpPr/>
          <p:nvPr/>
        </p:nvSpPr>
        <p:spPr>
          <a:xfrm>
            <a:off x="8047282" y="2400446"/>
            <a:ext cx="167798" cy="1551996"/>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cxnSp>
        <p:nvCxnSpPr>
          <p:cNvPr id="22" name="Straight Arrow Connector 21">
            <a:extLst>
              <a:ext uri="{FF2B5EF4-FFF2-40B4-BE49-F238E27FC236}">
                <a16:creationId xmlns:a16="http://schemas.microsoft.com/office/drawing/2014/main" id="{C0629C63-365F-F42D-EB41-D7E4EB8E0746}"/>
              </a:ext>
            </a:extLst>
          </p:cNvPr>
          <p:cNvCxnSpPr>
            <a:cxnSpLocks/>
          </p:cNvCxnSpPr>
          <p:nvPr/>
        </p:nvCxnSpPr>
        <p:spPr>
          <a:xfrm>
            <a:off x="8047282" y="2496459"/>
            <a:ext cx="0" cy="96462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3" name="Right Brace 22">
            <a:extLst>
              <a:ext uri="{FF2B5EF4-FFF2-40B4-BE49-F238E27FC236}">
                <a16:creationId xmlns:a16="http://schemas.microsoft.com/office/drawing/2014/main" id="{2CF7ECC8-604B-8646-CAB5-B0EAE5C04F0D}"/>
              </a:ext>
            </a:extLst>
          </p:cNvPr>
          <p:cNvSpPr/>
          <p:nvPr/>
        </p:nvSpPr>
        <p:spPr>
          <a:xfrm rot="16200000">
            <a:off x="7821777" y="3704429"/>
            <a:ext cx="433136" cy="128919"/>
          </a:xfrm>
          <a:prstGeom prst="rightBrace">
            <a:avLst>
              <a:gd name="adj1" fmla="val 8333"/>
              <a:gd name="adj2" fmla="val 50899"/>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AU"/>
          </a:p>
        </p:txBody>
      </p:sp>
      <p:pic>
        <p:nvPicPr>
          <p:cNvPr id="7" name="Picture 6">
            <a:extLst>
              <a:ext uri="{FF2B5EF4-FFF2-40B4-BE49-F238E27FC236}">
                <a16:creationId xmlns:a16="http://schemas.microsoft.com/office/drawing/2014/main" id="{332A5895-5B96-2F38-23ED-5B346139D1AC}"/>
              </a:ext>
            </a:extLst>
          </p:cNvPr>
          <p:cNvPicPr>
            <a:picLocks noChangeAspect="1"/>
          </p:cNvPicPr>
          <p:nvPr/>
        </p:nvPicPr>
        <p:blipFill>
          <a:blip r:embed="rId4"/>
          <a:stretch>
            <a:fillRect/>
          </a:stretch>
        </p:blipFill>
        <p:spPr>
          <a:xfrm>
            <a:off x="370369" y="2609221"/>
            <a:ext cx="1407967" cy="1028382"/>
          </a:xfrm>
          <a:prstGeom prst="rect">
            <a:avLst/>
          </a:prstGeom>
          <a:ln w="38100">
            <a:solidFill>
              <a:schemeClr val="tx1"/>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animBg="1"/>
      <p:bldP spid="17" grpId="0"/>
      <p:bldP spid="18" grpId="0"/>
      <p:bldP spid="20" grpId="0" animBg="1"/>
      <p:bldP spid="2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model</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Our requirements land us on selecting a cox proportional hazard model</a:t>
            </a:r>
          </a:p>
        </p:txBody>
      </p:sp>
      <p:sp>
        <p:nvSpPr>
          <p:cNvPr id="4" name="Rounded Rectangle 3"/>
          <p:cNvSpPr/>
          <p:nvPr/>
        </p:nvSpPr>
        <p:spPr>
          <a:xfrm>
            <a:off x="777240" y="4122482"/>
            <a:ext cx="10607040" cy="109728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051560" y="4415090"/>
            <a:ext cx="10058400" cy="430887"/>
          </a:xfrm>
          <a:prstGeom prst="rect">
            <a:avLst/>
          </a:prstGeom>
          <a:noFill/>
        </p:spPr>
        <p:txBody>
          <a:bodyPr wrap="square" lIns="0" tIns="0" rIns="0" bIns="0" anchor="t">
            <a:spAutoFit/>
          </a:bodyPr>
          <a:lstStyle/>
          <a:p>
            <a:pPr algn="ctr">
              <a:spcAft>
                <a:spcPts val="600"/>
              </a:spcAft>
            </a:pPr>
            <a:r>
              <a:rPr lang="en-AU" sz="2800" b="1" i="0" dirty="0">
                <a:solidFill>
                  <a:schemeClr val="accent6"/>
                </a:solidFill>
                <a:latin typeface="Calibri"/>
              </a:rPr>
              <a:t>h(t | X)  =  h₀ₛ(t) · exp(β′X(t))</a:t>
            </a:r>
          </a:p>
        </p:txBody>
      </p:sp>
      <p:sp>
        <p:nvSpPr>
          <p:cNvPr id="6" name="TextBox 5"/>
          <p:cNvSpPr txBox="1"/>
          <p:nvPr/>
        </p:nvSpPr>
        <p:spPr>
          <a:xfrm>
            <a:off x="777240" y="1901721"/>
            <a:ext cx="10607040" cy="1918667"/>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Baseline hazard h₀ₛ(t) is left unspecified: </a:t>
            </a:r>
            <a:r>
              <a:rPr lang="en-AU" sz="1700" dirty="0">
                <a:solidFill>
                  <a:srgbClr val="333D4D"/>
                </a:solidFill>
                <a:latin typeface="Calibri"/>
              </a:rPr>
              <a:t>no assumption about the shape of risk across a season, which suits a cox model where logistic regression requires a shape</a:t>
            </a:r>
          </a:p>
          <a:p>
            <a:pPr>
              <a:lnSpc>
                <a:spcPct val="125000"/>
              </a:lnSpc>
              <a:spcAft>
                <a:spcPts val="1200"/>
              </a:spcAft>
            </a:pPr>
            <a:r>
              <a:rPr lang="en-AU" sz="1700" b="1" dirty="0">
                <a:solidFill>
                  <a:srgbClr val="1B2A4A"/>
                </a:solidFill>
                <a:latin typeface="Calibri"/>
              </a:rPr>
              <a:t>Stratified by season: </a:t>
            </a:r>
            <a:r>
              <a:rPr lang="en-AU" sz="1700" dirty="0">
                <a:solidFill>
                  <a:srgbClr val="333D4D"/>
                </a:solidFill>
                <a:latin typeface="Calibri"/>
              </a:rPr>
              <a:t>the COVID-affected seasons had a different shape; I assume workload acts the same way each year, not that each year is equally dangerous</a:t>
            </a:r>
          </a:p>
          <a:p>
            <a:pPr>
              <a:lnSpc>
                <a:spcPct val="125000"/>
              </a:lnSpc>
              <a:spcAft>
                <a:spcPts val="1200"/>
              </a:spcAft>
            </a:pPr>
            <a:r>
              <a:rPr lang="en-AU" sz="1700" b="1" dirty="0">
                <a:solidFill>
                  <a:srgbClr val="1B2A4A"/>
                </a:solidFill>
                <a:latin typeface="Calibri"/>
              </a:rPr>
              <a:t>Clustered on player: </a:t>
            </a:r>
            <a:r>
              <a:rPr lang="en-AU" sz="1700" dirty="0">
                <a:solidFill>
                  <a:srgbClr val="333D4D"/>
                </a:solidFill>
                <a:latin typeface="Calibri"/>
              </a:rPr>
              <a:t>LeBron's 300+ rows are one body observed repeatedly, not 300 independent facts</a:t>
            </a:r>
          </a:p>
        </p:txBody>
      </p:sp>
      <p:sp>
        <p:nvSpPr>
          <p:cNvPr id="7" name="Rounded Rectangle 6"/>
          <p:cNvSpPr/>
          <p:nvPr/>
        </p:nvSpPr>
        <p:spPr>
          <a:xfrm>
            <a:off x="777240" y="5337731"/>
            <a:ext cx="10607040" cy="82296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1051560" y="5594882"/>
            <a:ext cx="10058400" cy="502920"/>
          </a:xfrm>
          <a:prstGeom prst="rect">
            <a:avLst/>
          </a:prstGeom>
          <a:noFill/>
        </p:spPr>
        <p:txBody>
          <a:bodyPr wrap="square" lIns="0" tIns="0" rIns="0" bIns="0" anchor="t">
            <a:spAutoFit/>
          </a:bodyPr>
          <a:lstStyle/>
          <a:p>
            <a:pPr algn="l">
              <a:spcAft>
                <a:spcPts val="600"/>
              </a:spcAft>
            </a:pPr>
            <a:r>
              <a:rPr lang="en-AU" sz="1500" b="1" i="0" dirty="0">
                <a:solidFill>
                  <a:srgbClr val="B2182B"/>
                </a:solidFill>
                <a:latin typeface="Calibri"/>
              </a:rPr>
              <a:t>Because the baseline cancels from a ratio, the model identifies relative risk between players, not anyone's absolute probability.</a:t>
            </a:r>
          </a:p>
        </p:txBody>
      </p:sp>
      <p:sp>
        <p:nvSpPr>
          <p:cNvPr id="9" name="Slide Number Placeholder 8">
            <a:extLst>
              <a:ext uri="{FF2B5EF4-FFF2-40B4-BE49-F238E27FC236}">
                <a16:creationId xmlns:a16="http://schemas.microsoft.com/office/drawing/2014/main" id="{816391D2-DEF9-C3A6-F2AA-A65D318B84CD}"/>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7" grpId="0" animBg="1"/>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problem with workload findings</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Including, at first, mine</a:t>
            </a:r>
          </a:p>
        </p:txBody>
      </p:sp>
      <p:sp>
        <p:nvSpPr>
          <p:cNvPr id="4" name="Rounded Rectangle 3"/>
          <p:cNvSpPr/>
          <p:nvPr/>
        </p:nvSpPr>
        <p:spPr>
          <a:xfrm>
            <a:off x="777240" y="2152107"/>
            <a:ext cx="10607040" cy="132588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097280" y="2377440"/>
            <a:ext cx="10058400" cy="844655"/>
          </a:xfrm>
          <a:prstGeom prst="rect">
            <a:avLst/>
          </a:prstGeom>
          <a:noFill/>
        </p:spPr>
        <p:txBody>
          <a:bodyPr wrap="square" lIns="0" tIns="0" rIns="0" bIns="0" anchor="t">
            <a:spAutoFit/>
          </a:bodyPr>
          <a:lstStyle/>
          <a:p>
            <a:pPr>
              <a:lnSpc>
                <a:spcPct val="130000"/>
              </a:lnSpc>
              <a:spcAft>
                <a:spcPts val="600"/>
              </a:spcAft>
            </a:pPr>
            <a:r>
              <a:rPr lang="en-AU" sz="2200" b="1" dirty="0">
                <a:solidFill>
                  <a:srgbClr val="B2182B"/>
                </a:solidFill>
                <a:latin typeface="Calibri"/>
              </a:rPr>
              <a:t>Most studies in my literature review report a workload-injury association as Explanation 1, Explanation 2 is just as plausible.</a:t>
            </a:r>
          </a:p>
        </p:txBody>
      </p:sp>
      <p:sp>
        <p:nvSpPr>
          <p:cNvPr id="6" name="TextBox 5"/>
          <p:cNvSpPr txBox="1"/>
          <p:nvPr/>
        </p:nvSpPr>
        <p:spPr>
          <a:xfrm>
            <a:off x="777240" y="3794760"/>
            <a:ext cx="10607040" cy="1591654"/>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Explanation 1: </a:t>
            </a:r>
            <a:r>
              <a:rPr lang="en-AU" sz="1700" dirty="0">
                <a:solidFill>
                  <a:srgbClr val="333D4D"/>
                </a:solidFill>
                <a:latin typeface="Calibri"/>
              </a:rPr>
              <a:t>fatigue. Load accumulates; tissue fails. The causal story.</a:t>
            </a:r>
          </a:p>
          <a:p>
            <a:pPr>
              <a:lnSpc>
                <a:spcPct val="125000"/>
              </a:lnSpc>
              <a:spcAft>
                <a:spcPts val="1200"/>
              </a:spcAft>
            </a:pPr>
            <a:r>
              <a:rPr lang="en-AU" sz="1700" b="1" dirty="0">
                <a:solidFill>
                  <a:srgbClr val="1B2A4A"/>
                </a:solidFill>
                <a:latin typeface="Calibri"/>
              </a:rPr>
              <a:t>Explanation 2: </a:t>
            </a:r>
            <a:r>
              <a:rPr lang="en-AU" sz="1700" dirty="0">
                <a:solidFill>
                  <a:srgbClr val="333D4D"/>
                </a:solidFill>
                <a:latin typeface="Calibri"/>
              </a:rPr>
              <a:t>exposure and selection. More court time means more of everything happens to you, and healthy players get more court time.</a:t>
            </a:r>
          </a:p>
          <a:p>
            <a:pPr>
              <a:lnSpc>
                <a:spcPct val="125000"/>
              </a:lnSpc>
              <a:spcAft>
                <a:spcPts val="1200"/>
              </a:spcAft>
            </a:pPr>
            <a:r>
              <a:rPr lang="en-AU" sz="1700" dirty="0">
                <a:solidFill>
                  <a:srgbClr val="1B2A4A"/>
                </a:solidFill>
                <a:latin typeface="Calibri"/>
              </a:rPr>
              <a:t>The thing </a:t>
            </a:r>
            <a:r>
              <a:rPr lang="en-AU" sz="1700" b="1" dirty="0">
                <a:solidFill>
                  <a:srgbClr val="333D4D"/>
                </a:solidFill>
                <a:latin typeface="Calibri"/>
              </a:rPr>
              <a:t>confounding</a:t>
            </a:r>
            <a:r>
              <a:rPr lang="en-AU" sz="1700" dirty="0">
                <a:solidFill>
                  <a:srgbClr val="333D4D"/>
                </a:solidFill>
                <a:latin typeface="Calibri"/>
              </a:rPr>
              <a:t> the </a:t>
            </a:r>
            <a:r>
              <a:rPr lang="en-AU" sz="1700" b="1" dirty="0">
                <a:solidFill>
                  <a:srgbClr val="333D4D"/>
                </a:solidFill>
                <a:latin typeface="Calibri"/>
              </a:rPr>
              <a:t>injuries</a:t>
            </a:r>
            <a:r>
              <a:rPr lang="en-AU" sz="1700" dirty="0">
                <a:solidFill>
                  <a:srgbClr val="333D4D"/>
                </a:solidFill>
                <a:latin typeface="Calibri"/>
              </a:rPr>
              <a:t> may be the </a:t>
            </a:r>
            <a:r>
              <a:rPr lang="en-AU" sz="1700" b="1" dirty="0">
                <a:solidFill>
                  <a:srgbClr val="333D4D"/>
                </a:solidFill>
                <a:latin typeface="Calibri"/>
              </a:rPr>
              <a:t>exposure</a:t>
            </a:r>
            <a:r>
              <a:rPr lang="en-AU" sz="1700" dirty="0">
                <a:solidFill>
                  <a:srgbClr val="333D4D"/>
                </a:solidFill>
                <a:latin typeface="Calibri"/>
              </a:rPr>
              <a:t> itself.</a:t>
            </a:r>
          </a:p>
        </p:txBody>
      </p:sp>
      <p:sp>
        <p:nvSpPr>
          <p:cNvPr id="7" name="Slide Number Placeholder 6">
            <a:extLst>
              <a:ext uri="{FF2B5EF4-FFF2-40B4-BE49-F238E27FC236}">
                <a16:creationId xmlns:a16="http://schemas.microsoft.com/office/drawing/2014/main" id="{5932ACB6-C241-779C-EB42-3274F71F735C}"/>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cxnSp>
        <p:nvCxnSpPr>
          <p:cNvPr id="31" name="Straight Connector 30">
            <a:extLst>
              <a:ext uri="{FF2B5EF4-FFF2-40B4-BE49-F238E27FC236}">
                <a16:creationId xmlns:a16="http://schemas.microsoft.com/office/drawing/2014/main" id="{7598B8E8-B181-4774-B096-4C7BA519AE47}"/>
              </a:ext>
            </a:extLst>
          </p:cNvPr>
          <p:cNvCxnSpPr>
            <a:stCxn id="29" idx="1"/>
          </p:cNvCxnSpPr>
          <p:nvPr/>
        </p:nvCxnSpPr>
        <p:spPr>
          <a:xfrm flipV="1">
            <a:off x="3383280" y="2171985"/>
            <a:ext cx="0" cy="576565"/>
          </a:xfrm>
          <a:prstGeom prst="line">
            <a:avLst/>
          </a:prstGeom>
          <a:ln w="38100">
            <a:solidFill>
              <a:schemeClr val="accent6">
                <a:lumMod val="20000"/>
                <a:lumOff val="80000"/>
              </a:schemeClr>
            </a:solidFill>
          </a:ln>
        </p:spPr>
        <p:style>
          <a:lnRef idx="1">
            <a:schemeClr val="accent3"/>
          </a:lnRef>
          <a:fillRef idx="0">
            <a:schemeClr val="accent3"/>
          </a:fillRef>
          <a:effectRef idx="0">
            <a:schemeClr val="accent3"/>
          </a:effectRef>
          <a:fontRef idx="minor">
            <a:schemeClr val="tx1"/>
          </a:fontRef>
        </p:style>
      </p:cxn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test: an outcome load rarely causes</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If fatigue drives it, the effect should depend on injury type</a:t>
            </a:r>
          </a:p>
        </p:txBody>
      </p:sp>
      <p:sp>
        <p:nvSpPr>
          <p:cNvPr id="4" name="Rounded Rectangle 3"/>
          <p:cNvSpPr/>
          <p:nvPr/>
        </p:nvSpPr>
        <p:spPr>
          <a:xfrm>
            <a:off x="777240" y="2962766"/>
            <a:ext cx="2514600" cy="1935802"/>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p:cNvSpPr txBox="1"/>
          <p:nvPr/>
        </p:nvSpPr>
        <p:spPr>
          <a:xfrm>
            <a:off x="996695" y="3509222"/>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429 episodes</a:t>
            </a:r>
          </a:p>
        </p:txBody>
      </p:sp>
      <p:sp>
        <p:nvSpPr>
          <p:cNvPr id="7" name="TextBox 6"/>
          <p:cNvSpPr txBox="1"/>
          <p:nvPr/>
        </p:nvSpPr>
        <p:spPr>
          <a:xfrm>
            <a:off x="996695" y="3716441"/>
            <a:ext cx="2103120" cy="4284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Tendinopathy, stress fracture, </a:t>
            </a:r>
            <a:r>
              <a:rPr lang="en-AU" sz="1200" b="0" i="1" dirty="0" err="1">
                <a:solidFill>
                  <a:srgbClr val="6B7686"/>
                </a:solidFill>
                <a:latin typeface="Calibri"/>
              </a:rPr>
              <a:t>fasciopathy</a:t>
            </a:r>
            <a:endParaRPr lang="en-AU" sz="1200" b="0" i="1" dirty="0">
              <a:solidFill>
                <a:srgbClr val="6B7686"/>
              </a:solidFill>
              <a:latin typeface="Calibri"/>
            </a:endParaRPr>
          </a:p>
        </p:txBody>
      </p:sp>
      <p:sp>
        <p:nvSpPr>
          <p:cNvPr id="8" name="TextBox 7"/>
          <p:cNvSpPr txBox="1"/>
          <p:nvPr/>
        </p:nvSpPr>
        <p:spPr>
          <a:xfrm>
            <a:off x="996695" y="4242159"/>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A reported pathology. Load should act most directly here.</a:t>
            </a:r>
          </a:p>
        </p:txBody>
      </p:sp>
      <p:sp>
        <p:nvSpPr>
          <p:cNvPr id="9" name="Rounded Rectangle 8"/>
          <p:cNvSpPr/>
          <p:nvPr/>
        </p:nvSpPr>
        <p:spPr>
          <a:xfrm>
            <a:off x="3474720" y="2978328"/>
            <a:ext cx="2514600" cy="192024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0" name="TextBox 9"/>
          <p:cNvSpPr txBox="1"/>
          <p:nvPr/>
        </p:nvSpPr>
        <p:spPr>
          <a:xfrm>
            <a:off x="3680460" y="3102246"/>
            <a:ext cx="2103120" cy="266483"/>
          </a:xfrm>
          <a:prstGeom prst="rect">
            <a:avLst/>
          </a:prstGeom>
          <a:noFill/>
        </p:spPr>
        <p:txBody>
          <a:bodyPr wrap="square" lIns="0" tIns="0" rIns="0" bIns="0" anchor="t">
            <a:spAutoFit/>
          </a:bodyPr>
          <a:lstStyle/>
          <a:p>
            <a:pPr algn="l">
              <a:lnSpc>
                <a:spcPct val="115000"/>
              </a:lnSpc>
              <a:spcAft>
                <a:spcPts val="600"/>
              </a:spcAft>
            </a:pPr>
            <a:r>
              <a:rPr lang="en-AU" sz="1600" b="1" i="0" dirty="0">
                <a:solidFill>
                  <a:schemeClr val="accent6"/>
                </a:solidFill>
                <a:latin typeface="Calibri"/>
              </a:rPr>
              <a:t>Symptom only</a:t>
            </a:r>
          </a:p>
        </p:txBody>
      </p:sp>
      <p:sp>
        <p:nvSpPr>
          <p:cNvPr id="11" name="TextBox 10"/>
          <p:cNvSpPr txBox="1"/>
          <p:nvPr/>
        </p:nvSpPr>
        <p:spPr>
          <a:xfrm>
            <a:off x="3694176" y="3556670"/>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1,351 episodes</a:t>
            </a:r>
          </a:p>
        </p:txBody>
      </p:sp>
      <p:sp>
        <p:nvSpPr>
          <p:cNvPr id="12" name="TextBox 11"/>
          <p:cNvSpPr txBox="1"/>
          <p:nvPr/>
        </p:nvSpPr>
        <p:spPr>
          <a:xfrm>
            <a:off x="3680460" y="3826695"/>
            <a:ext cx="2103120" cy="2068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"Soreness", "tightness", "spasm”</a:t>
            </a:r>
          </a:p>
        </p:txBody>
      </p:sp>
      <p:sp>
        <p:nvSpPr>
          <p:cNvPr id="13" name="TextBox 12"/>
          <p:cNvSpPr txBox="1"/>
          <p:nvPr/>
        </p:nvSpPr>
        <p:spPr>
          <a:xfrm>
            <a:off x="3694176" y="4242159"/>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Repetitive mechanism, but nothing diagnosed.</a:t>
            </a:r>
          </a:p>
        </p:txBody>
      </p:sp>
      <p:sp>
        <p:nvSpPr>
          <p:cNvPr id="14" name="Rounded Rectangle 13"/>
          <p:cNvSpPr/>
          <p:nvPr/>
        </p:nvSpPr>
        <p:spPr>
          <a:xfrm>
            <a:off x="6172200" y="2526470"/>
            <a:ext cx="2514600" cy="2502730"/>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5" name="TextBox 14"/>
          <p:cNvSpPr txBox="1"/>
          <p:nvPr/>
        </p:nvSpPr>
        <p:spPr>
          <a:xfrm>
            <a:off x="6391656" y="2668737"/>
            <a:ext cx="2103120" cy="626582"/>
          </a:xfrm>
          <a:prstGeom prst="rect">
            <a:avLst/>
          </a:prstGeom>
          <a:noFill/>
        </p:spPr>
        <p:txBody>
          <a:bodyPr wrap="square" lIns="0" tIns="0" rIns="0" bIns="0" anchor="t">
            <a:spAutoFit/>
          </a:bodyPr>
          <a:lstStyle/>
          <a:p>
            <a:pPr algn="l">
              <a:lnSpc>
                <a:spcPct val="115000"/>
              </a:lnSpc>
              <a:spcAft>
                <a:spcPts val="600"/>
              </a:spcAft>
            </a:pPr>
            <a:r>
              <a:rPr lang="en-AU" sz="1600" b="1" i="0" dirty="0">
                <a:solidFill>
                  <a:schemeClr val="accent6"/>
                </a:solidFill>
                <a:latin typeface="Calibri"/>
              </a:rPr>
              <a:t>Acute</a:t>
            </a:r>
          </a:p>
          <a:p>
            <a:pPr algn="l">
              <a:lnSpc>
                <a:spcPct val="115000"/>
              </a:lnSpc>
              <a:spcAft>
                <a:spcPts val="600"/>
              </a:spcAft>
            </a:pPr>
            <a:r>
              <a:rPr lang="en-AU" sz="1600" b="1" i="1" dirty="0">
                <a:solidFill>
                  <a:schemeClr val="accent6"/>
                </a:solidFill>
                <a:latin typeface="Calibri"/>
              </a:rPr>
              <a:t>Non-contact</a:t>
            </a:r>
          </a:p>
        </p:txBody>
      </p:sp>
      <p:sp>
        <p:nvSpPr>
          <p:cNvPr id="16" name="TextBox 15"/>
          <p:cNvSpPr txBox="1"/>
          <p:nvPr/>
        </p:nvSpPr>
        <p:spPr>
          <a:xfrm>
            <a:off x="6391656" y="3499361"/>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1,442 episodes</a:t>
            </a:r>
          </a:p>
        </p:txBody>
      </p:sp>
      <p:sp>
        <p:nvSpPr>
          <p:cNvPr id="17" name="TextBox 16"/>
          <p:cNvSpPr txBox="1"/>
          <p:nvPr/>
        </p:nvSpPr>
        <p:spPr>
          <a:xfrm>
            <a:off x="6391656" y="3786319"/>
            <a:ext cx="2103120" cy="2068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Strains, sprains, non-contact tears</a:t>
            </a:r>
          </a:p>
        </p:txBody>
      </p:sp>
      <p:sp>
        <p:nvSpPr>
          <p:cNvPr id="18" name="TextBox 17"/>
          <p:cNvSpPr txBox="1"/>
          <p:nvPr/>
        </p:nvSpPr>
        <p:spPr>
          <a:xfrm>
            <a:off x="6391656" y="4389120"/>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Fatigue can plausibly set these up.</a:t>
            </a:r>
          </a:p>
        </p:txBody>
      </p:sp>
      <p:sp>
        <p:nvSpPr>
          <p:cNvPr id="19" name="Rounded Rectangle 18"/>
          <p:cNvSpPr/>
          <p:nvPr/>
        </p:nvSpPr>
        <p:spPr>
          <a:xfrm>
            <a:off x="8869680" y="2526470"/>
            <a:ext cx="2514600" cy="2502730"/>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0" name="TextBox 19"/>
          <p:cNvSpPr txBox="1"/>
          <p:nvPr/>
        </p:nvSpPr>
        <p:spPr>
          <a:xfrm>
            <a:off x="9089136" y="2663402"/>
            <a:ext cx="2103120" cy="626582"/>
          </a:xfrm>
          <a:prstGeom prst="rect">
            <a:avLst/>
          </a:prstGeom>
          <a:noFill/>
        </p:spPr>
        <p:txBody>
          <a:bodyPr wrap="square" lIns="0" tIns="0" rIns="0" bIns="0" anchor="t">
            <a:spAutoFit/>
          </a:bodyPr>
          <a:lstStyle/>
          <a:p>
            <a:pPr algn="l">
              <a:lnSpc>
                <a:spcPct val="115000"/>
              </a:lnSpc>
              <a:spcAft>
                <a:spcPts val="600"/>
              </a:spcAft>
            </a:pPr>
            <a:r>
              <a:rPr lang="en-AU" sz="1600" b="1" i="0" dirty="0">
                <a:solidFill>
                  <a:srgbClr val="B2182B"/>
                </a:solidFill>
                <a:latin typeface="Calibri"/>
              </a:rPr>
              <a:t>Acute </a:t>
            </a:r>
          </a:p>
          <a:p>
            <a:pPr algn="l">
              <a:lnSpc>
                <a:spcPct val="115000"/>
              </a:lnSpc>
              <a:spcAft>
                <a:spcPts val="600"/>
              </a:spcAft>
            </a:pPr>
            <a:r>
              <a:rPr lang="en-AU" sz="1600" b="1" dirty="0">
                <a:solidFill>
                  <a:srgbClr val="B2182B"/>
                </a:solidFill>
                <a:latin typeface="Calibri"/>
              </a:rPr>
              <a:t>I</a:t>
            </a:r>
            <a:r>
              <a:rPr lang="en-AU" sz="1600" b="1" i="0" dirty="0">
                <a:solidFill>
                  <a:srgbClr val="B2182B"/>
                </a:solidFill>
                <a:latin typeface="Calibri"/>
              </a:rPr>
              <a:t>mpact</a:t>
            </a:r>
          </a:p>
        </p:txBody>
      </p:sp>
      <p:sp>
        <p:nvSpPr>
          <p:cNvPr id="21" name="TextBox 20"/>
          <p:cNvSpPr txBox="1"/>
          <p:nvPr/>
        </p:nvSpPr>
        <p:spPr>
          <a:xfrm>
            <a:off x="9075420" y="3498453"/>
            <a:ext cx="2103120" cy="320040"/>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604 episodes</a:t>
            </a:r>
          </a:p>
        </p:txBody>
      </p:sp>
      <p:sp>
        <p:nvSpPr>
          <p:cNvPr id="22" name="TextBox 21"/>
          <p:cNvSpPr txBox="1"/>
          <p:nvPr/>
        </p:nvSpPr>
        <p:spPr>
          <a:xfrm>
            <a:off x="9075420" y="3796273"/>
            <a:ext cx="2103120" cy="206851"/>
          </a:xfrm>
          <a:prstGeom prst="rect">
            <a:avLst/>
          </a:prstGeom>
          <a:noFill/>
        </p:spPr>
        <p:txBody>
          <a:bodyPr wrap="square" lIns="0" tIns="0" rIns="0" bIns="0" anchor="t">
            <a:spAutoFit/>
          </a:bodyPr>
          <a:lstStyle/>
          <a:p>
            <a:pPr algn="l">
              <a:lnSpc>
                <a:spcPct val="120000"/>
              </a:lnSpc>
              <a:spcAft>
                <a:spcPts val="600"/>
              </a:spcAft>
            </a:pPr>
            <a:r>
              <a:rPr lang="en-AU" sz="1200" b="0" i="1" dirty="0">
                <a:solidFill>
                  <a:srgbClr val="6B7686"/>
                </a:solidFill>
                <a:latin typeface="Calibri"/>
              </a:rPr>
              <a:t>Finger, eye, face, concussion</a:t>
            </a:r>
          </a:p>
        </p:txBody>
      </p:sp>
      <p:sp>
        <p:nvSpPr>
          <p:cNvPr id="23" name="TextBox 22"/>
          <p:cNvSpPr txBox="1"/>
          <p:nvPr/>
        </p:nvSpPr>
        <p:spPr>
          <a:xfrm>
            <a:off x="9089136" y="4389120"/>
            <a:ext cx="2103120" cy="868680"/>
          </a:xfrm>
          <a:prstGeom prst="rect">
            <a:avLst/>
          </a:prstGeom>
          <a:noFill/>
        </p:spPr>
        <p:txBody>
          <a:bodyPr wrap="square" lIns="0" tIns="0" rIns="0" bIns="0" anchor="t">
            <a:spAutoFit/>
          </a:bodyPr>
          <a:lstStyle/>
          <a:p>
            <a:pPr algn="l">
              <a:lnSpc>
                <a:spcPct val="125000"/>
              </a:lnSpc>
              <a:spcAft>
                <a:spcPts val="600"/>
              </a:spcAft>
            </a:pPr>
            <a:r>
              <a:rPr lang="en-AU" sz="1300" b="0" i="0" dirty="0">
                <a:solidFill>
                  <a:srgbClr val="333D4D"/>
                </a:solidFill>
                <a:latin typeface="Calibri"/>
              </a:rPr>
              <a:t>Contact. The weakest link to load.</a:t>
            </a:r>
          </a:p>
        </p:txBody>
      </p:sp>
      <p:sp>
        <p:nvSpPr>
          <p:cNvPr id="24" name="Rounded Rectangle 23"/>
          <p:cNvSpPr/>
          <p:nvPr/>
        </p:nvSpPr>
        <p:spPr>
          <a:xfrm>
            <a:off x="977336" y="6198445"/>
            <a:ext cx="10255162" cy="508213"/>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5" name="TextBox 24"/>
          <p:cNvSpPr txBox="1"/>
          <p:nvPr/>
        </p:nvSpPr>
        <p:spPr>
          <a:xfrm>
            <a:off x="1174098" y="6305227"/>
            <a:ext cx="10058400" cy="249299"/>
          </a:xfrm>
          <a:prstGeom prst="rect">
            <a:avLst/>
          </a:prstGeom>
          <a:noFill/>
        </p:spPr>
        <p:txBody>
          <a:bodyPr wrap="square" lIns="0" tIns="0" rIns="0" bIns="0" anchor="t">
            <a:spAutoFit/>
          </a:bodyPr>
          <a:lstStyle/>
          <a:p>
            <a:pPr algn="l">
              <a:lnSpc>
                <a:spcPct val="125000"/>
              </a:lnSpc>
              <a:spcAft>
                <a:spcPts val="600"/>
              </a:spcAft>
            </a:pPr>
            <a:r>
              <a:rPr lang="en-AU" sz="1400" b="1" i="0" dirty="0">
                <a:solidFill>
                  <a:srgbClr val="B2182B"/>
                </a:solidFill>
                <a:latin typeface="Calibri"/>
              </a:rPr>
              <a:t>If workload predicts the </a:t>
            </a:r>
            <a:r>
              <a:rPr lang="en-AU" sz="1400" b="1" dirty="0">
                <a:solidFill>
                  <a:srgbClr val="B2182B"/>
                </a:solidFill>
                <a:latin typeface="Calibri"/>
              </a:rPr>
              <a:t>a</a:t>
            </a:r>
            <a:r>
              <a:rPr lang="en-AU" sz="1400" b="1" i="0" dirty="0">
                <a:solidFill>
                  <a:srgbClr val="B2182B"/>
                </a:solidFill>
                <a:latin typeface="Calibri"/>
              </a:rPr>
              <a:t>cute </a:t>
            </a:r>
            <a:r>
              <a:rPr lang="en-AU" sz="1400" b="1" dirty="0">
                <a:solidFill>
                  <a:srgbClr val="B2182B"/>
                </a:solidFill>
                <a:latin typeface="Calibri"/>
              </a:rPr>
              <a:t>i</a:t>
            </a:r>
            <a:r>
              <a:rPr lang="en-AU" sz="1400" b="1" i="0" dirty="0">
                <a:solidFill>
                  <a:srgbClr val="B2182B"/>
                </a:solidFill>
                <a:latin typeface="Calibri"/>
              </a:rPr>
              <a:t>mpact injuries as strongly as overuse injuries, the association looks more like exposure, than fatigue.</a:t>
            </a:r>
          </a:p>
        </p:txBody>
      </p:sp>
      <p:sp>
        <p:nvSpPr>
          <p:cNvPr id="26" name="Slide Number Placeholder 25">
            <a:extLst>
              <a:ext uri="{FF2B5EF4-FFF2-40B4-BE49-F238E27FC236}">
                <a16:creationId xmlns:a16="http://schemas.microsoft.com/office/drawing/2014/main" id="{9AAFE194-F2AF-96B7-F9B9-B5BB227CE991}"/>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12</a:t>
            </a:fld>
            <a:endParaRPr lang="en-US"/>
          </a:p>
        </p:txBody>
      </p:sp>
      <p:sp>
        <p:nvSpPr>
          <p:cNvPr id="28" name="Rounded Rectangle 27">
            <a:extLst>
              <a:ext uri="{FF2B5EF4-FFF2-40B4-BE49-F238E27FC236}">
                <a16:creationId xmlns:a16="http://schemas.microsoft.com/office/drawing/2014/main" id="{31E3A0C7-C9AA-C538-280F-A842A04F125D}"/>
              </a:ext>
            </a:extLst>
          </p:cNvPr>
          <p:cNvSpPr/>
          <p:nvPr/>
        </p:nvSpPr>
        <p:spPr>
          <a:xfrm>
            <a:off x="2808470" y="2090652"/>
            <a:ext cx="1149620" cy="431308"/>
          </a:xfrm>
          <a:prstGeom prst="roundRect">
            <a:avLst>
              <a:gd name="adj" fmla="val 21897"/>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29" name="Left Bracket 28">
            <a:extLst>
              <a:ext uri="{FF2B5EF4-FFF2-40B4-BE49-F238E27FC236}">
                <a16:creationId xmlns:a16="http://schemas.microsoft.com/office/drawing/2014/main" id="{1EA79A6D-40B3-B370-A1FC-F4F0DFD6C9A4}"/>
              </a:ext>
            </a:extLst>
          </p:cNvPr>
          <p:cNvSpPr/>
          <p:nvPr/>
        </p:nvSpPr>
        <p:spPr>
          <a:xfrm rot="5400000">
            <a:off x="3203303" y="1339616"/>
            <a:ext cx="359955" cy="3177823"/>
          </a:xfrm>
          <a:prstGeom prst="leftBracket">
            <a:avLst>
              <a:gd name="adj" fmla="val 0"/>
            </a:avLst>
          </a:prstGeom>
          <a:ln w="38100">
            <a:solidFill>
              <a:schemeClr val="accent6">
                <a:lumMod val="20000"/>
                <a:lumOff val="80000"/>
              </a:schemeClr>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AU"/>
          </a:p>
        </p:txBody>
      </p:sp>
      <p:sp>
        <p:nvSpPr>
          <p:cNvPr id="5" name="TextBox 4"/>
          <p:cNvSpPr txBox="1"/>
          <p:nvPr/>
        </p:nvSpPr>
        <p:spPr>
          <a:xfrm>
            <a:off x="2899671" y="2160199"/>
            <a:ext cx="967218" cy="266483"/>
          </a:xfrm>
          <a:prstGeom prst="rect">
            <a:avLst/>
          </a:prstGeom>
          <a:noFill/>
        </p:spPr>
        <p:txBody>
          <a:bodyPr wrap="square" lIns="0" tIns="0" rIns="0" bIns="0" anchor="t">
            <a:spAutoFit/>
          </a:bodyPr>
          <a:lstStyle/>
          <a:p>
            <a:pPr algn="ctr">
              <a:lnSpc>
                <a:spcPct val="115000"/>
              </a:lnSpc>
              <a:spcAft>
                <a:spcPts val="600"/>
              </a:spcAft>
            </a:pPr>
            <a:r>
              <a:rPr lang="en-AU" sz="1600" b="1" dirty="0">
                <a:solidFill>
                  <a:schemeClr val="accent6"/>
                </a:solidFill>
                <a:latin typeface="Calibri"/>
              </a:rPr>
              <a:t>Overuse</a:t>
            </a:r>
            <a:endParaRPr lang="en-AU" sz="1600" b="1" i="0" dirty="0">
              <a:solidFill>
                <a:schemeClr val="accent6"/>
              </a:solidFill>
              <a:latin typeface="Calibri"/>
            </a:endParaRPr>
          </a:p>
        </p:txBody>
      </p:sp>
      <p:sp>
        <p:nvSpPr>
          <p:cNvPr id="32" name="TextBox 31">
            <a:extLst>
              <a:ext uri="{FF2B5EF4-FFF2-40B4-BE49-F238E27FC236}">
                <a16:creationId xmlns:a16="http://schemas.microsoft.com/office/drawing/2014/main" id="{6BC4FBE6-E740-8A01-0DE8-846197E3D372}"/>
              </a:ext>
            </a:extLst>
          </p:cNvPr>
          <p:cNvSpPr txBox="1"/>
          <p:nvPr/>
        </p:nvSpPr>
        <p:spPr>
          <a:xfrm>
            <a:off x="977336" y="3102246"/>
            <a:ext cx="2103120" cy="266483"/>
          </a:xfrm>
          <a:prstGeom prst="rect">
            <a:avLst/>
          </a:prstGeom>
          <a:noFill/>
        </p:spPr>
        <p:txBody>
          <a:bodyPr wrap="square" lIns="0" tIns="0" rIns="0" bIns="0" anchor="t">
            <a:spAutoFit/>
          </a:bodyPr>
          <a:lstStyle/>
          <a:p>
            <a:pPr algn="l">
              <a:lnSpc>
                <a:spcPct val="115000"/>
              </a:lnSpc>
              <a:spcAft>
                <a:spcPts val="600"/>
              </a:spcAft>
            </a:pPr>
            <a:r>
              <a:rPr lang="en-AU" sz="1600" b="1" i="0" dirty="0">
                <a:solidFill>
                  <a:schemeClr val="accent6"/>
                </a:solidFill>
                <a:latin typeface="Calibri"/>
              </a:rPr>
              <a:t>Pathology</a:t>
            </a:r>
          </a:p>
        </p:txBody>
      </p:sp>
      <p:sp>
        <p:nvSpPr>
          <p:cNvPr id="33" name="TextBox 32">
            <a:extLst>
              <a:ext uri="{FF2B5EF4-FFF2-40B4-BE49-F238E27FC236}">
                <a16:creationId xmlns:a16="http://schemas.microsoft.com/office/drawing/2014/main" id="{7452B178-AF27-4501-BD8F-9BBAF2B1D070}"/>
              </a:ext>
            </a:extLst>
          </p:cNvPr>
          <p:cNvSpPr txBox="1"/>
          <p:nvPr/>
        </p:nvSpPr>
        <p:spPr>
          <a:xfrm>
            <a:off x="9089136" y="2122410"/>
            <a:ext cx="2103120" cy="299826"/>
          </a:xfrm>
          <a:prstGeom prst="rect">
            <a:avLst/>
          </a:prstGeom>
          <a:noFill/>
        </p:spPr>
        <p:txBody>
          <a:bodyPr wrap="square" lIns="0" tIns="0" rIns="0" bIns="0" anchor="t">
            <a:spAutoFit/>
          </a:bodyPr>
          <a:lstStyle/>
          <a:p>
            <a:pPr algn="l">
              <a:lnSpc>
                <a:spcPct val="115000"/>
              </a:lnSpc>
              <a:spcAft>
                <a:spcPts val="600"/>
              </a:spcAft>
            </a:pPr>
            <a:r>
              <a:rPr lang="en-AU" b="1" i="0" dirty="0">
                <a:solidFill>
                  <a:srgbClr val="B2182B"/>
                </a:solidFill>
                <a:latin typeface="Calibri"/>
              </a:rPr>
              <a:t>NEGATIVE CONTROL</a:t>
            </a:r>
          </a:p>
        </p:txBody>
      </p:sp>
      <p:cxnSp>
        <p:nvCxnSpPr>
          <p:cNvPr id="35" name="Straight Connector 34">
            <a:extLst>
              <a:ext uri="{FF2B5EF4-FFF2-40B4-BE49-F238E27FC236}">
                <a16:creationId xmlns:a16="http://schemas.microsoft.com/office/drawing/2014/main" id="{2651BFA0-4059-9428-5F89-B50BC0AC0863}"/>
              </a:ext>
            </a:extLst>
          </p:cNvPr>
          <p:cNvCxnSpPr/>
          <p:nvPr/>
        </p:nvCxnSpPr>
        <p:spPr>
          <a:xfrm>
            <a:off x="763592" y="5175912"/>
            <a:ext cx="0" cy="583442"/>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F41E756-2087-86FC-3534-08769A340FC8}"/>
              </a:ext>
            </a:extLst>
          </p:cNvPr>
          <p:cNvCxnSpPr/>
          <p:nvPr/>
        </p:nvCxnSpPr>
        <p:spPr>
          <a:xfrm>
            <a:off x="11359032" y="5175912"/>
            <a:ext cx="0" cy="583442"/>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3EE2CA2-07CF-1E92-7B15-0192B4C395AB}"/>
              </a:ext>
            </a:extLst>
          </p:cNvPr>
          <p:cNvCxnSpPr>
            <a:cxnSpLocks/>
          </p:cNvCxnSpPr>
          <p:nvPr/>
        </p:nvCxnSpPr>
        <p:spPr>
          <a:xfrm flipH="1">
            <a:off x="793767" y="5462515"/>
            <a:ext cx="10579744"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3649D15F-8904-B17B-AA38-0D4928684E61}"/>
              </a:ext>
            </a:extLst>
          </p:cNvPr>
          <p:cNvSpPr txBox="1"/>
          <p:nvPr/>
        </p:nvSpPr>
        <p:spPr>
          <a:xfrm>
            <a:off x="10829560" y="5704854"/>
            <a:ext cx="1058944" cy="369332"/>
          </a:xfrm>
          <a:prstGeom prst="rect">
            <a:avLst/>
          </a:prstGeom>
          <a:noFill/>
        </p:spPr>
        <p:txBody>
          <a:bodyPr wrap="none" rtlCol="0">
            <a:spAutoFit/>
          </a:bodyPr>
          <a:lstStyle/>
          <a:p>
            <a:r>
              <a:rPr lang="en-AU" b="1" dirty="0"/>
              <a:t>Exposure</a:t>
            </a:r>
          </a:p>
        </p:txBody>
      </p:sp>
      <p:sp>
        <p:nvSpPr>
          <p:cNvPr id="41" name="TextBox 40">
            <a:extLst>
              <a:ext uri="{FF2B5EF4-FFF2-40B4-BE49-F238E27FC236}">
                <a16:creationId xmlns:a16="http://schemas.microsoft.com/office/drawing/2014/main" id="{494FBF71-2CF4-8184-43BA-278DBAD218CC}"/>
              </a:ext>
            </a:extLst>
          </p:cNvPr>
          <p:cNvSpPr txBox="1"/>
          <p:nvPr/>
        </p:nvSpPr>
        <p:spPr>
          <a:xfrm>
            <a:off x="323600" y="5719434"/>
            <a:ext cx="879984" cy="369332"/>
          </a:xfrm>
          <a:prstGeom prst="rect">
            <a:avLst/>
          </a:prstGeom>
          <a:noFill/>
        </p:spPr>
        <p:txBody>
          <a:bodyPr wrap="none" rtlCol="0">
            <a:spAutoFit/>
          </a:bodyPr>
          <a:lstStyle/>
          <a:p>
            <a:r>
              <a:rPr lang="en-AU" b="1" dirty="0"/>
              <a:t>Fatigue</a:t>
            </a:r>
          </a:p>
        </p:txBody>
      </p:sp>
      <p:sp>
        <p:nvSpPr>
          <p:cNvPr id="42" name="TextBox 41">
            <a:extLst>
              <a:ext uri="{FF2B5EF4-FFF2-40B4-BE49-F238E27FC236}">
                <a16:creationId xmlns:a16="http://schemas.microsoft.com/office/drawing/2014/main" id="{46F7A3F5-AF2B-28A8-48D3-95D60186857A}"/>
              </a:ext>
            </a:extLst>
          </p:cNvPr>
          <p:cNvSpPr txBox="1"/>
          <p:nvPr/>
        </p:nvSpPr>
        <p:spPr>
          <a:xfrm>
            <a:off x="5004668" y="5546000"/>
            <a:ext cx="2018886" cy="307777"/>
          </a:xfrm>
          <a:prstGeom prst="rect">
            <a:avLst/>
          </a:prstGeom>
          <a:noFill/>
        </p:spPr>
        <p:txBody>
          <a:bodyPr wrap="none" rtlCol="0">
            <a:spAutoFit/>
          </a:bodyPr>
          <a:lstStyle/>
          <a:p>
            <a:r>
              <a:rPr lang="en-AU" sz="1400" b="1" i="1" dirty="0">
                <a:solidFill>
                  <a:schemeClr val="bg1">
                    <a:lumMod val="50000"/>
                  </a:schemeClr>
                </a:solidFill>
              </a:rPr>
              <a:t>Hypothesised load effect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p:bldP spid="9" grpId="0" animBg="1"/>
      <p:bldP spid="10" grpId="0"/>
      <p:bldP spid="11" grpId="0"/>
      <p:bldP spid="12" grpId="0"/>
      <p:bldP spid="13" grpId="0"/>
      <p:bldP spid="14" grpId="0" animBg="1"/>
      <p:bldP spid="15" grpId="0"/>
      <p:bldP spid="16" grpId="0"/>
      <p:bldP spid="17" grpId="0"/>
      <p:bldP spid="18" grpId="0"/>
      <p:bldP spid="24" grpId="0" animBg="1"/>
      <p:bldP spid="25" grpId="0"/>
      <p:bldP spid="28" grpId="0" animBg="1"/>
      <p:bldP spid="29" grpId="0" animBg="1"/>
      <p:bldP spid="5" grpId="0"/>
      <p:bldP spid="32" grpId="0"/>
      <p:bldP spid="41" grpId="0"/>
      <p:bldP spid="4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Oval 1"/>
          <p:cNvSpPr/>
          <p:nvPr/>
        </p:nvSpPr>
        <p:spPr>
          <a:xfrm>
            <a:off x="777240" y="2331720"/>
            <a:ext cx="868680" cy="868680"/>
          </a:xfrm>
          <a:prstGeom prst="ellipse">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3" name="TextBox 2"/>
          <p:cNvSpPr txBox="1"/>
          <p:nvPr/>
        </p:nvSpPr>
        <p:spPr>
          <a:xfrm>
            <a:off x="777240" y="2487168"/>
            <a:ext cx="868680" cy="548640"/>
          </a:xfrm>
          <a:prstGeom prst="rect">
            <a:avLst/>
          </a:prstGeom>
          <a:noFill/>
        </p:spPr>
        <p:txBody>
          <a:bodyPr wrap="square" lIns="0" tIns="0" rIns="0" bIns="0" anchor="t">
            <a:spAutoFit/>
          </a:bodyPr>
          <a:lstStyle/>
          <a:p>
            <a:pPr algn="ctr">
              <a:spcAft>
                <a:spcPts val="600"/>
              </a:spcAft>
            </a:pPr>
            <a:r>
              <a:rPr lang="en-AU" sz="3000" b="1" i="0" dirty="0">
                <a:solidFill>
                  <a:srgbClr val="FFFFFF"/>
                </a:solidFill>
                <a:latin typeface="Calibri"/>
              </a:rPr>
              <a:t>2</a:t>
            </a:r>
          </a:p>
        </p:txBody>
      </p:sp>
      <p:sp>
        <p:nvSpPr>
          <p:cNvPr id="4" name="TextBox 3"/>
          <p:cNvSpPr txBox="1"/>
          <p:nvPr/>
        </p:nvSpPr>
        <p:spPr>
          <a:xfrm>
            <a:off x="1965960" y="2240280"/>
            <a:ext cx="8686800" cy="230832"/>
          </a:xfrm>
          <a:prstGeom prst="rect">
            <a:avLst/>
          </a:prstGeom>
          <a:noFill/>
        </p:spPr>
        <p:txBody>
          <a:bodyPr wrap="square" lIns="0" tIns="0" rIns="0" bIns="0" anchor="t">
            <a:spAutoFit/>
          </a:bodyPr>
          <a:lstStyle/>
          <a:p>
            <a:pPr algn="l">
              <a:spcAft>
                <a:spcPts val="600"/>
              </a:spcAft>
            </a:pPr>
            <a:r>
              <a:rPr lang="en-AU" sz="1500" b="1" i="0" dirty="0">
                <a:solidFill>
                  <a:schemeClr val="accent6"/>
                </a:solidFill>
                <a:latin typeface="Calibri"/>
              </a:rPr>
              <a:t>PART TWO</a:t>
            </a:r>
          </a:p>
        </p:txBody>
      </p:sp>
      <p:sp>
        <p:nvSpPr>
          <p:cNvPr id="5" name="TextBox 4"/>
          <p:cNvSpPr txBox="1"/>
          <p:nvPr/>
        </p:nvSpPr>
        <p:spPr>
          <a:xfrm>
            <a:off x="1965960" y="2606040"/>
            <a:ext cx="8961120" cy="731520"/>
          </a:xfrm>
          <a:prstGeom prst="rect">
            <a:avLst/>
          </a:prstGeom>
          <a:noFill/>
        </p:spPr>
        <p:txBody>
          <a:bodyPr wrap="square" lIns="0" tIns="0" rIns="0" bIns="0" anchor="t">
            <a:spAutoFit/>
          </a:bodyPr>
          <a:lstStyle/>
          <a:p>
            <a:pPr algn="l">
              <a:spcAft>
                <a:spcPts val="600"/>
              </a:spcAft>
            </a:pPr>
            <a:r>
              <a:rPr lang="en-AU" sz="4000" b="1" i="0" dirty="0">
                <a:solidFill>
                  <a:srgbClr val="FFFFFF"/>
                </a:solidFill>
                <a:latin typeface="Calibri"/>
              </a:rPr>
              <a:t>What the data said</a:t>
            </a:r>
          </a:p>
        </p:txBody>
      </p:sp>
      <p:sp>
        <p:nvSpPr>
          <p:cNvPr id="6" name="TextBox 5"/>
          <p:cNvSpPr txBox="1"/>
          <p:nvPr/>
        </p:nvSpPr>
        <p:spPr>
          <a:xfrm>
            <a:off x="1965960" y="3429000"/>
            <a:ext cx="8961120" cy="261610"/>
          </a:xfrm>
          <a:prstGeom prst="rect">
            <a:avLst/>
          </a:prstGeom>
          <a:noFill/>
        </p:spPr>
        <p:txBody>
          <a:bodyPr wrap="square" lIns="0" tIns="0" rIns="0" bIns="0" anchor="t">
            <a:spAutoFit/>
          </a:bodyPr>
          <a:lstStyle/>
          <a:p>
            <a:pPr algn="l">
              <a:spcAft>
                <a:spcPts val="600"/>
              </a:spcAft>
            </a:pPr>
            <a:r>
              <a:rPr lang="en-AU" sz="1700" b="0" i="1" dirty="0">
                <a:solidFill>
                  <a:srgbClr val="C9D4E4"/>
                </a:solidFill>
                <a:latin typeface="Calibri"/>
              </a:rPr>
              <a:t>What do our headline results look like?</a:t>
            </a:r>
          </a:p>
        </p:txBody>
      </p:sp>
      <p:sp>
        <p:nvSpPr>
          <p:cNvPr id="9" name="Slide Number Placeholder 8">
            <a:extLst>
              <a:ext uri="{FF2B5EF4-FFF2-40B4-BE49-F238E27FC236}">
                <a16:creationId xmlns:a16="http://schemas.microsoft.com/office/drawing/2014/main" id="{007AFE4B-545F-A3CC-B04C-E287BF8E419E}"/>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Every domain earns its place</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Concordance improves at each step</a:t>
            </a:r>
          </a:p>
        </p:txBody>
      </p:sp>
      <p:sp>
        <p:nvSpPr>
          <p:cNvPr id="4" name="Rounded Rectangle 3"/>
          <p:cNvSpPr/>
          <p:nvPr/>
        </p:nvSpPr>
        <p:spPr>
          <a:xfrm>
            <a:off x="1440627" y="2148840"/>
            <a:ext cx="2497301" cy="2148840"/>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1696658" y="2359152"/>
            <a:ext cx="2880360" cy="320040"/>
          </a:xfrm>
          <a:prstGeom prst="rect">
            <a:avLst/>
          </a:prstGeom>
          <a:noFill/>
        </p:spPr>
        <p:txBody>
          <a:bodyPr wrap="square" lIns="0" tIns="0" rIns="0" bIns="0" anchor="t">
            <a:spAutoFit/>
          </a:bodyPr>
          <a:lstStyle/>
          <a:p>
            <a:pPr algn="l">
              <a:spcAft>
                <a:spcPts val="600"/>
              </a:spcAft>
            </a:pPr>
            <a:r>
              <a:rPr lang="en-AU" sz="1300" b="1" i="0" dirty="0">
                <a:solidFill>
                  <a:srgbClr val="6B7686"/>
                </a:solidFill>
                <a:latin typeface="Calibri"/>
              </a:rPr>
              <a:t>Model 1</a:t>
            </a:r>
          </a:p>
        </p:txBody>
      </p:sp>
      <p:sp>
        <p:nvSpPr>
          <p:cNvPr id="6" name="TextBox 5"/>
          <p:cNvSpPr txBox="1"/>
          <p:nvPr/>
        </p:nvSpPr>
        <p:spPr>
          <a:xfrm>
            <a:off x="1696658" y="2724912"/>
            <a:ext cx="2880360" cy="457200"/>
          </a:xfrm>
          <a:prstGeom prst="rect">
            <a:avLst/>
          </a:prstGeom>
          <a:noFill/>
        </p:spPr>
        <p:txBody>
          <a:bodyPr wrap="square" lIns="0" tIns="0" rIns="0" bIns="0" anchor="t">
            <a:spAutoFit/>
          </a:bodyPr>
          <a:lstStyle/>
          <a:p>
            <a:pPr algn="l">
              <a:spcAft>
                <a:spcPts val="600"/>
              </a:spcAft>
            </a:pPr>
            <a:r>
              <a:rPr lang="en-AU" sz="1600" b="1" i="0" dirty="0">
                <a:solidFill>
                  <a:srgbClr val="1B2A4A"/>
                </a:solidFill>
                <a:latin typeface="Calibri"/>
              </a:rPr>
              <a:t>Workload</a:t>
            </a:r>
          </a:p>
        </p:txBody>
      </p:sp>
      <p:sp>
        <p:nvSpPr>
          <p:cNvPr id="7" name="TextBox 6"/>
          <p:cNvSpPr txBox="1"/>
          <p:nvPr/>
        </p:nvSpPr>
        <p:spPr>
          <a:xfrm>
            <a:off x="1696658" y="3291840"/>
            <a:ext cx="2880360" cy="584775"/>
          </a:xfrm>
          <a:prstGeom prst="rect">
            <a:avLst/>
          </a:prstGeom>
          <a:noFill/>
        </p:spPr>
        <p:txBody>
          <a:bodyPr wrap="square" lIns="0" tIns="0" rIns="0" bIns="0" anchor="t">
            <a:spAutoFit/>
          </a:bodyPr>
          <a:lstStyle/>
          <a:p>
            <a:pPr algn="l">
              <a:spcAft>
                <a:spcPts val="600"/>
              </a:spcAft>
            </a:pPr>
            <a:r>
              <a:rPr lang="en-AU" sz="3800" b="1" i="0" dirty="0">
                <a:solidFill>
                  <a:srgbClr val="90B14A"/>
                </a:solidFill>
                <a:latin typeface="Calibri"/>
              </a:rPr>
              <a:t>0.713</a:t>
            </a:r>
          </a:p>
        </p:txBody>
      </p:sp>
      <p:sp>
        <p:nvSpPr>
          <p:cNvPr id="8" name="Rounded Rectangle 7"/>
          <p:cNvSpPr/>
          <p:nvPr/>
        </p:nvSpPr>
        <p:spPr>
          <a:xfrm>
            <a:off x="4833049" y="2148840"/>
            <a:ext cx="2497301" cy="2148840"/>
          </a:xfrm>
          <a:prstGeom prst="roundRect">
            <a:avLst>
              <a:gd name="adj" fmla="val 6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9" name="TextBox 8"/>
          <p:cNvSpPr txBox="1"/>
          <p:nvPr/>
        </p:nvSpPr>
        <p:spPr>
          <a:xfrm>
            <a:off x="5089081" y="2359152"/>
            <a:ext cx="2880360" cy="320040"/>
          </a:xfrm>
          <a:prstGeom prst="rect">
            <a:avLst/>
          </a:prstGeom>
          <a:noFill/>
        </p:spPr>
        <p:txBody>
          <a:bodyPr wrap="square" lIns="0" tIns="0" rIns="0" bIns="0" anchor="t">
            <a:spAutoFit/>
          </a:bodyPr>
          <a:lstStyle/>
          <a:p>
            <a:pPr algn="l">
              <a:spcAft>
                <a:spcPts val="600"/>
              </a:spcAft>
            </a:pPr>
            <a:r>
              <a:rPr lang="en-AU" sz="1300" b="1" i="0" dirty="0">
                <a:solidFill>
                  <a:srgbClr val="6B7686"/>
                </a:solidFill>
                <a:latin typeface="Calibri"/>
              </a:rPr>
              <a:t>Model 2</a:t>
            </a:r>
          </a:p>
        </p:txBody>
      </p:sp>
      <p:sp>
        <p:nvSpPr>
          <p:cNvPr id="10" name="TextBox 9"/>
          <p:cNvSpPr txBox="1"/>
          <p:nvPr/>
        </p:nvSpPr>
        <p:spPr>
          <a:xfrm>
            <a:off x="5089081" y="2724912"/>
            <a:ext cx="2880360" cy="457200"/>
          </a:xfrm>
          <a:prstGeom prst="rect">
            <a:avLst/>
          </a:prstGeom>
          <a:noFill/>
        </p:spPr>
        <p:txBody>
          <a:bodyPr wrap="square" lIns="0" tIns="0" rIns="0" bIns="0" anchor="t">
            <a:spAutoFit/>
          </a:bodyPr>
          <a:lstStyle/>
          <a:p>
            <a:pPr algn="l">
              <a:spcAft>
                <a:spcPts val="600"/>
              </a:spcAft>
            </a:pPr>
            <a:r>
              <a:rPr lang="en-AU" sz="1600" b="1" i="0" dirty="0">
                <a:solidFill>
                  <a:srgbClr val="1B2A4A"/>
                </a:solidFill>
                <a:latin typeface="Calibri"/>
              </a:rPr>
              <a:t>+ Schedule congestion</a:t>
            </a:r>
          </a:p>
        </p:txBody>
      </p:sp>
      <p:sp>
        <p:nvSpPr>
          <p:cNvPr id="11" name="TextBox 10"/>
          <p:cNvSpPr txBox="1"/>
          <p:nvPr/>
        </p:nvSpPr>
        <p:spPr>
          <a:xfrm>
            <a:off x="5089081" y="3291840"/>
            <a:ext cx="2880360" cy="584775"/>
          </a:xfrm>
          <a:prstGeom prst="rect">
            <a:avLst/>
          </a:prstGeom>
          <a:noFill/>
        </p:spPr>
        <p:txBody>
          <a:bodyPr wrap="square" lIns="0" tIns="0" rIns="0" bIns="0" anchor="t">
            <a:spAutoFit/>
          </a:bodyPr>
          <a:lstStyle/>
          <a:p>
            <a:pPr algn="l">
              <a:spcAft>
                <a:spcPts val="600"/>
              </a:spcAft>
            </a:pPr>
            <a:r>
              <a:rPr lang="en-AU" sz="3800" b="1" i="0" dirty="0">
                <a:solidFill>
                  <a:schemeClr val="accent3">
                    <a:lumMod val="75000"/>
                  </a:schemeClr>
                </a:solidFill>
                <a:latin typeface="Calibri"/>
              </a:rPr>
              <a:t>0.721</a:t>
            </a:r>
          </a:p>
        </p:txBody>
      </p:sp>
      <p:sp>
        <p:nvSpPr>
          <p:cNvPr id="12" name="Rounded Rectangle 11"/>
          <p:cNvSpPr/>
          <p:nvPr/>
        </p:nvSpPr>
        <p:spPr>
          <a:xfrm>
            <a:off x="8225471" y="2162009"/>
            <a:ext cx="2497301" cy="2148840"/>
          </a:xfrm>
          <a:prstGeom prst="roundRect">
            <a:avLst>
              <a:gd name="adj" fmla="val 6000"/>
            </a:avLst>
          </a:prstGeom>
          <a:solidFill>
            <a:schemeClr val="accent3">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p:cNvSpPr txBox="1"/>
          <p:nvPr/>
        </p:nvSpPr>
        <p:spPr>
          <a:xfrm>
            <a:off x="8481502" y="2372321"/>
            <a:ext cx="2880360" cy="320040"/>
          </a:xfrm>
          <a:prstGeom prst="rect">
            <a:avLst/>
          </a:prstGeom>
          <a:noFill/>
        </p:spPr>
        <p:txBody>
          <a:bodyPr wrap="square" lIns="0" tIns="0" rIns="0" bIns="0" anchor="t">
            <a:spAutoFit/>
          </a:bodyPr>
          <a:lstStyle/>
          <a:p>
            <a:pPr algn="l">
              <a:spcAft>
                <a:spcPts val="600"/>
              </a:spcAft>
            </a:pPr>
            <a:r>
              <a:rPr lang="en-AU" sz="1300" b="1" i="0" dirty="0">
                <a:solidFill>
                  <a:srgbClr val="6B7686"/>
                </a:solidFill>
                <a:latin typeface="Calibri"/>
              </a:rPr>
              <a:t>Model 3</a:t>
            </a:r>
          </a:p>
        </p:txBody>
      </p:sp>
      <p:sp>
        <p:nvSpPr>
          <p:cNvPr id="14" name="TextBox 13"/>
          <p:cNvSpPr txBox="1"/>
          <p:nvPr/>
        </p:nvSpPr>
        <p:spPr>
          <a:xfrm>
            <a:off x="8481502" y="2738081"/>
            <a:ext cx="2880360" cy="457200"/>
          </a:xfrm>
          <a:prstGeom prst="rect">
            <a:avLst/>
          </a:prstGeom>
          <a:noFill/>
        </p:spPr>
        <p:txBody>
          <a:bodyPr wrap="square" lIns="0" tIns="0" rIns="0" bIns="0" anchor="t">
            <a:spAutoFit/>
          </a:bodyPr>
          <a:lstStyle/>
          <a:p>
            <a:pPr algn="l">
              <a:spcAft>
                <a:spcPts val="600"/>
              </a:spcAft>
            </a:pPr>
            <a:r>
              <a:rPr lang="en-AU" sz="1600" b="1" i="0" dirty="0">
                <a:solidFill>
                  <a:srgbClr val="1B2A4A"/>
                </a:solidFill>
                <a:latin typeface="Calibri"/>
              </a:rPr>
              <a:t>+ Player context</a:t>
            </a:r>
          </a:p>
        </p:txBody>
      </p:sp>
      <p:sp>
        <p:nvSpPr>
          <p:cNvPr id="15" name="TextBox 14"/>
          <p:cNvSpPr txBox="1"/>
          <p:nvPr/>
        </p:nvSpPr>
        <p:spPr>
          <a:xfrm>
            <a:off x="8481502" y="3305009"/>
            <a:ext cx="2880360" cy="584775"/>
          </a:xfrm>
          <a:prstGeom prst="rect">
            <a:avLst/>
          </a:prstGeom>
          <a:noFill/>
        </p:spPr>
        <p:txBody>
          <a:bodyPr wrap="square" lIns="0" tIns="0" rIns="0" bIns="0" anchor="t">
            <a:spAutoFit/>
          </a:bodyPr>
          <a:lstStyle/>
          <a:p>
            <a:pPr algn="l">
              <a:spcAft>
                <a:spcPts val="600"/>
              </a:spcAft>
            </a:pPr>
            <a:r>
              <a:rPr lang="en-AU" sz="3800" b="1" i="0" dirty="0">
                <a:solidFill>
                  <a:schemeClr val="accent3">
                    <a:lumMod val="50000"/>
                  </a:schemeClr>
                </a:solidFill>
                <a:latin typeface="Calibri"/>
              </a:rPr>
              <a:t>0.738</a:t>
            </a:r>
          </a:p>
        </p:txBody>
      </p:sp>
      <p:sp>
        <p:nvSpPr>
          <p:cNvPr id="16" name="TextBox 15"/>
          <p:cNvSpPr txBox="1"/>
          <p:nvPr/>
        </p:nvSpPr>
        <p:spPr>
          <a:xfrm>
            <a:off x="777240" y="4526280"/>
            <a:ext cx="10607040" cy="365760"/>
          </a:xfrm>
          <a:prstGeom prst="rect">
            <a:avLst/>
          </a:prstGeom>
          <a:noFill/>
        </p:spPr>
        <p:txBody>
          <a:bodyPr wrap="square" lIns="0" tIns="0" rIns="0" bIns="0" anchor="t">
            <a:spAutoFit/>
          </a:bodyPr>
          <a:lstStyle/>
          <a:p>
            <a:pPr algn="ctr">
              <a:spcAft>
                <a:spcPts val="600"/>
              </a:spcAft>
            </a:pPr>
            <a:r>
              <a:rPr lang="en-AU" sz="1200" b="1" i="0" dirty="0">
                <a:solidFill>
                  <a:srgbClr val="6B7686"/>
                </a:solidFill>
                <a:latin typeface="Calibri"/>
              </a:rPr>
              <a:t>CONCORDANCE</a:t>
            </a:r>
          </a:p>
        </p:txBody>
      </p:sp>
      <p:sp>
        <p:nvSpPr>
          <p:cNvPr id="17" name="TextBox 16"/>
          <p:cNvSpPr txBox="1"/>
          <p:nvPr/>
        </p:nvSpPr>
        <p:spPr>
          <a:xfrm>
            <a:off x="777240" y="4892040"/>
            <a:ext cx="10607040" cy="1110753"/>
          </a:xfrm>
          <a:prstGeom prst="rect">
            <a:avLst/>
          </a:prstGeom>
          <a:noFill/>
        </p:spPr>
        <p:txBody>
          <a:bodyPr wrap="square" lIns="0" tIns="0" rIns="0" bIns="0">
            <a:spAutoFit/>
          </a:bodyPr>
          <a:lstStyle/>
          <a:p>
            <a:pPr>
              <a:lnSpc>
                <a:spcPct val="125000"/>
              </a:lnSpc>
              <a:spcAft>
                <a:spcPts val="1200"/>
              </a:spcAft>
            </a:pPr>
            <a:r>
              <a:rPr lang="en-AU" sz="1700" b="1" dirty="0">
                <a:solidFill>
                  <a:srgbClr val="333D4D"/>
                </a:solidFill>
                <a:latin typeface="Calibri"/>
              </a:rPr>
              <a:t>Concordance: </a:t>
            </a:r>
            <a:r>
              <a:rPr lang="en-AU" sz="1700" dirty="0">
                <a:solidFill>
                  <a:srgbClr val="333D4D"/>
                </a:solidFill>
                <a:latin typeface="Calibri"/>
              </a:rPr>
              <a:t>given two comparable player-games, the model ranks the one that actually got injured as higher risk about 74% of the time. Chance is 50%.</a:t>
            </a:r>
          </a:p>
          <a:p>
            <a:pPr>
              <a:lnSpc>
                <a:spcPct val="125000"/>
              </a:lnSpc>
              <a:spcAft>
                <a:spcPts val="1200"/>
              </a:spcAft>
            </a:pPr>
            <a:r>
              <a:rPr lang="en-AU" sz="1700" b="1" dirty="0">
                <a:solidFill>
                  <a:srgbClr val="333D4D"/>
                </a:solidFill>
                <a:latin typeface="Calibri"/>
              </a:rPr>
              <a:t>Built entirely from public data: </a:t>
            </a:r>
            <a:r>
              <a:rPr lang="en-AU" sz="1700" dirty="0">
                <a:solidFill>
                  <a:srgbClr val="333D4D"/>
                </a:solidFill>
                <a:latin typeface="Calibri"/>
              </a:rPr>
              <a:t>That may be close to what public data allow, which is itself useful to know.</a:t>
            </a:r>
          </a:p>
        </p:txBody>
      </p:sp>
      <p:sp>
        <p:nvSpPr>
          <p:cNvPr id="18" name="Slide Number Placeholder 17">
            <a:extLst>
              <a:ext uri="{FF2B5EF4-FFF2-40B4-BE49-F238E27FC236}">
                <a16:creationId xmlns:a16="http://schemas.microsoft.com/office/drawing/2014/main" id="{C7869872-694B-94B1-3DF5-A5F4FE83E995}"/>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14</a:t>
            </a:fld>
            <a:endParaRPr lang="en-US"/>
          </a:p>
        </p:txBody>
      </p:sp>
      <p:cxnSp>
        <p:nvCxnSpPr>
          <p:cNvPr id="19" name="Straight Arrow Connector 18">
            <a:extLst>
              <a:ext uri="{FF2B5EF4-FFF2-40B4-BE49-F238E27FC236}">
                <a16:creationId xmlns:a16="http://schemas.microsoft.com/office/drawing/2014/main" id="{20E6AB02-FAB7-B58F-5918-3D3239873868}"/>
              </a:ext>
            </a:extLst>
          </p:cNvPr>
          <p:cNvCxnSpPr/>
          <p:nvPr/>
        </p:nvCxnSpPr>
        <p:spPr>
          <a:xfrm>
            <a:off x="4067633" y="3291840"/>
            <a:ext cx="597625" cy="0"/>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cxnSp>
        <p:nvCxnSpPr>
          <p:cNvPr id="20" name="Straight Arrow Connector 19">
            <a:extLst>
              <a:ext uri="{FF2B5EF4-FFF2-40B4-BE49-F238E27FC236}">
                <a16:creationId xmlns:a16="http://schemas.microsoft.com/office/drawing/2014/main" id="{981C1DD7-AC19-9A12-A06A-826C175C3230}"/>
              </a:ext>
            </a:extLst>
          </p:cNvPr>
          <p:cNvCxnSpPr/>
          <p:nvPr/>
        </p:nvCxnSpPr>
        <p:spPr>
          <a:xfrm>
            <a:off x="7479390" y="3306802"/>
            <a:ext cx="597625" cy="0"/>
          </a:xfrm>
          <a:prstGeom prst="straightConnector1">
            <a:avLst/>
          </a:prstGeom>
          <a:ln>
            <a:tailEnd type="triangle"/>
          </a:ln>
        </p:spPr>
        <p:style>
          <a:lnRef idx="3">
            <a:schemeClr val="accent3"/>
          </a:lnRef>
          <a:fillRef idx="0">
            <a:schemeClr val="accent3"/>
          </a:fillRef>
          <a:effectRef idx="2">
            <a:schemeClr val="accent3"/>
          </a:effectRef>
          <a:fontRef idx="minor">
            <a:schemeClr val="tx1"/>
          </a:fontRef>
        </p:style>
      </p:cxnSp>
      <p:sp>
        <p:nvSpPr>
          <p:cNvPr id="21" name="TextBox 20">
            <a:extLst>
              <a:ext uri="{FF2B5EF4-FFF2-40B4-BE49-F238E27FC236}">
                <a16:creationId xmlns:a16="http://schemas.microsoft.com/office/drawing/2014/main" id="{E8DD867E-6858-8E53-F825-7C91AA2BB255}"/>
              </a:ext>
            </a:extLst>
          </p:cNvPr>
          <p:cNvSpPr txBox="1"/>
          <p:nvPr/>
        </p:nvSpPr>
        <p:spPr>
          <a:xfrm>
            <a:off x="4121025" y="2796338"/>
            <a:ext cx="389850" cy="584775"/>
          </a:xfrm>
          <a:prstGeom prst="rect">
            <a:avLst/>
          </a:prstGeom>
          <a:noFill/>
        </p:spPr>
        <p:txBody>
          <a:bodyPr wrap="none" rtlCol="0">
            <a:spAutoFit/>
          </a:bodyPr>
          <a:lstStyle/>
          <a:p>
            <a:r>
              <a:rPr lang="en-AU" sz="3200" b="1" dirty="0">
                <a:solidFill>
                  <a:srgbClr val="9BBB59"/>
                </a:solidFill>
              </a:rPr>
              <a:t>+</a:t>
            </a:r>
          </a:p>
        </p:txBody>
      </p:sp>
      <p:sp>
        <p:nvSpPr>
          <p:cNvPr id="22" name="TextBox 21">
            <a:extLst>
              <a:ext uri="{FF2B5EF4-FFF2-40B4-BE49-F238E27FC236}">
                <a16:creationId xmlns:a16="http://schemas.microsoft.com/office/drawing/2014/main" id="{5A5F77F7-A044-3050-C58B-78DE8DF0B79B}"/>
              </a:ext>
            </a:extLst>
          </p:cNvPr>
          <p:cNvSpPr txBox="1"/>
          <p:nvPr/>
        </p:nvSpPr>
        <p:spPr>
          <a:xfrm>
            <a:off x="7558430" y="2800805"/>
            <a:ext cx="389850" cy="584775"/>
          </a:xfrm>
          <a:prstGeom prst="rect">
            <a:avLst/>
          </a:prstGeom>
          <a:noFill/>
        </p:spPr>
        <p:txBody>
          <a:bodyPr wrap="none" rtlCol="0">
            <a:spAutoFit/>
          </a:bodyPr>
          <a:lstStyle/>
          <a:p>
            <a:r>
              <a:rPr lang="en-AU" sz="3200" b="1" dirty="0">
                <a:solidFill>
                  <a:srgbClr val="9BBB59"/>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10" grpId="0"/>
      <p:bldP spid="11" grpId="0"/>
      <p:bldP spid="12" grpId="0" animBg="1"/>
      <p:bldP spid="13" grpId="0"/>
      <p:bldP spid="14" grpId="0"/>
      <p:bldP spid="15" grpId="0"/>
      <p:bldP spid="16" grpId="0"/>
      <p:bldP spid="21" grpId="0"/>
      <p:bldP spid="2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headline result</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Hazard ratio per one standard deviation</a:t>
            </a:r>
          </a:p>
        </p:txBody>
      </p:sp>
      <p:sp>
        <p:nvSpPr>
          <p:cNvPr id="4" name="Rounded Rectangle 3"/>
          <p:cNvSpPr/>
          <p:nvPr/>
        </p:nvSpPr>
        <p:spPr>
          <a:xfrm>
            <a:off x="299948" y="1882183"/>
            <a:ext cx="2464725" cy="1572768"/>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33250" y="2046775"/>
            <a:ext cx="288036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2.11</a:t>
            </a:r>
          </a:p>
        </p:txBody>
      </p:sp>
      <p:sp>
        <p:nvSpPr>
          <p:cNvPr id="6" name="TextBox 5"/>
          <p:cNvSpPr txBox="1"/>
          <p:nvPr/>
        </p:nvSpPr>
        <p:spPr>
          <a:xfrm>
            <a:off x="33250" y="2888023"/>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chronic load, 28-day</a:t>
            </a:r>
          </a:p>
          <a:p>
            <a:pPr algn="ctr">
              <a:lnSpc>
                <a:spcPct val="110000"/>
              </a:lnSpc>
              <a:spcAft>
                <a:spcPts val="600"/>
              </a:spcAft>
            </a:pPr>
            <a:r>
              <a:rPr lang="en-AU" sz="1300" b="0" i="0" dirty="0">
                <a:solidFill>
                  <a:srgbClr val="6B7686"/>
                </a:solidFill>
                <a:latin typeface="Calibri"/>
              </a:rPr>
              <a:t>(95% CI 1.92 to 2.32)</a:t>
            </a:r>
          </a:p>
        </p:txBody>
      </p:sp>
      <p:sp>
        <p:nvSpPr>
          <p:cNvPr id="7" name="Rounded Rectangle 6"/>
          <p:cNvSpPr/>
          <p:nvPr/>
        </p:nvSpPr>
        <p:spPr>
          <a:xfrm>
            <a:off x="299948" y="3771409"/>
            <a:ext cx="2464725" cy="1277814"/>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117068" y="3836249"/>
            <a:ext cx="288036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2.05</a:t>
            </a:r>
          </a:p>
        </p:txBody>
      </p:sp>
      <p:sp>
        <p:nvSpPr>
          <p:cNvPr id="9" name="TextBox 8"/>
          <p:cNvSpPr txBox="1"/>
          <p:nvPr/>
        </p:nvSpPr>
        <p:spPr>
          <a:xfrm>
            <a:off x="117068" y="4677497"/>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games played, previous 7 days</a:t>
            </a:r>
          </a:p>
        </p:txBody>
      </p:sp>
      <p:sp>
        <p:nvSpPr>
          <p:cNvPr id="10" name="Rounded Rectangle 9"/>
          <p:cNvSpPr/>
          <p:nvPr/>
        </p:nvSpPr>
        <p:spPr>
          <a:xfrm>
            <a:off x="299948" y="5406698"/>
            <a:ext cx="2456567" cy="1152772"/>
          </a:xfrm>
          <a:prstGeom prst="roundRect">
            <a:avLst>
              <a:gd name="adj" fmla="val 6000"/>
            </a:avLst>
          </a:prstGeom>
          <a:solidFill>
            <a:schemeClr val="accent6">
              <a:lumMod val="20000"/>
              <a:lumOff val="80000"/>
            </a:schemeClr>
          </a:solidFill>
          <a:ln w="19050">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solidFill>
                <a:schemeClr val="accent6"/>
              </a:solidFill>
            </a:endParaRPr>
          </a:p>
        </p:txBody>
      </p:sp>
      <p:sp>
        <p:nvSpPr>
          <p:cNvPr id="11" name="TextBox 10"/>
          <p:cNvSpPr txBox="1"/>
          <p:nvPr/>
        </p:nvSpPr>
        <p:spPr>
          <a:xfrm>
            <a:off x="-172490" y="5467029"/>
            <a:ext cx="3291840" cy="707886"/>
          </a:xfrm>
          <a:prstGeom prst="rect">
            <a:avLst/>
          </a:prstGeom>
          <a:noFill/>
        </p:spPr>
        <p:txBody>
          <a:bodyPr wrap="square" lIns="0" tIns="0" rIns="0" bIns="0" anchor="t">
            <a:spAutoFit/>
          </a:bodyPr>
          <a:lstStyle/>
          <a:p>
            <a:pPr algn="ctr">
              <a:spcAft>
                <a:spcPts val="600"/>
              </a:spcAft>
            </a:pPr>
            <a:r>
              <a:rPr lang="en-AU" sz="4600" b="1" i="0" dirty="0">
                <a:solidFill>
                  <a:schemeClr val="accent6"/>
                </a:solidFill>
                <a:latin typeface="Calibri"/>
              </a:rPr>
              <a:t>0.96</a:t>
            </a:r>
          </a:p>
        </p:txBody>
      </p:sp>
      <p:sp>
        <p:nvSpPr>
          <p:cNvPr id="12" name="TextBox 11"/>
          <p:cNvSpPr txBox="1"/>
          <p:nvPr/>
        </p:nvSpPr>
        <p:spPr>
          <a:xfrm>
            <a:off x="-85370" y="6281351"/>
            <a:ext cx="329184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acute load, 7-day (not significant)</a:t>
            </a:r>
          </a:p>
        </p:txBody>
      </p:sp>
      <p:sp>
        <p:nvSpPr>
          <p:cNvPr id="13" name="Rounded Rectangle 12"/>
          <p:cNvSpPr/>
          <p:nvPr/>
        </p:nvSpPr>
        <p:spPr>
          <a:xfrm>
            <a:off x="3320931" y="5212441"/>
            <a:ext cx="8273403" cy="1419278"/>
          </a:xfrm>
          <a:prstGeom prst="roundRect">
            <a:avLst>
              <a:gd name="adj" fmla="val 6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4" name="TextBox 13"/>
          <p:cNvSpPr txBox="1"/>
          <p:nvPr/>
        </p:nvSpPr>
        <p:spPr>
          <a:xfrm>
            <a:off x="3640971" y="5450510"/>
            <a:ext cx="7724764" cy="184666"/>
          </a:xfrm>
          <a:prstGeom prst="rect">
            <a:avLst/>
          </a:prstGeom>
          <a:noFill/>
        </p:spPr>
        <p:txBody>
          <a:bodyPr wrap="square" lIns="0" tIns="0" rIns="0" bIns="0" anchor="t">
            <a:spAutoFit/>
          </a:bodyPr>
          <a:lstStyle/>
          <a:p>
            <a:pPr algn="l">
              <a:spcAft>
                <a:spcPts val="600"/>
              </a:spcAft>
            </a:pPr>
            <a:r>
              <a:rPr lang="en-AU" sz="1200" b="1" i="0" dirty="0">
                <a:solidFill>
                  <a:srgbClr val="6B7686"/>
                </a:solidFill>
                <a:latin typeface="Calibri"/>
              </a:rPr>
              <a:t>Rest relating to the existing literature</a:t>
            </a:r>
          </a:p>
        </p:txBody>
      </p:sp>
      <p:sp>
        <p:nvSpPr>
          <p:cNvPr id="15" name="TextBox 14"/>
          <p:cNvSpPr txBox="1"/>
          <p:nvPr/>
        </p:nvSpPr>
        <p:spPr>
          <a:xfrm>
            <a:off x="3640971" y="5744752"/>
            <a:ext cx="7633323" cy="592726"/>
          </a:xfrm>
          <a:prstGeom prst="rect">
            <a:avLst/>
          </a:prstGeom>
          <a:noFill/>
        </p:spPr>
        <p:txBody>
          <a:bodyPr wrap="square" lIns="0" tIns="0" rIns="0" bIns="0">
            <a:spAutoFit/>
          </a:bodyPr>
          <a:lstStyle/>
          <a:p>
            <a:pPr>
              <a:lnSpc>
                <a:spcPct val="125000"/>
              </a:lnSpc>
              <a:spcAft>
                <a:spcPts val="800"/>
              </a:spcAft>
            </a:pPr>
            <a:r>
              <a:rPr lang="en-AU" sz="1500" dirty="0">
                <a:solidFill>
                  <a:srgbClr val="333D4D"/>
                </a:solidFill>
                <a:latin typeface="Calibri"/>
              </a:rPr>
              <a:t>Team days rest (0.87) a 12.4 % lower hazard per additional rest day. </a:t>
            </a:r>
            <a:r>
              <a:rPr lang="en-AU" sz="1600" b="1" dirty="0"/>
              <a:t>Lewis reported a 15.96 per cent reduction, on different seasons with a different model and outcome definition. </a:t>
            </a:r>
            <a:endParaRPr lang="en-AU" sz="1500" dirty="0">
              <a:solidFill>
                <a:srgbClr val="333D4D"/>
              </a:solidFill>
              <a:latin typeface="Calibri"/>
            </a:endParaRPr>
          </a:p>
        </p:txBody>
      </p:sp>
      <p:sp>
        <p:nvSpPr>
          <p:cNvPr id="16" name="Slide Number Placeholder 15">
            <a:extLst>
              <a:ext uri="{FF2B5EF4-FFF2-40B4-BE49-F238E27FC236}">
                <a16:creationId xmlns:a16="http://schemas.microsoft.com/office/drawing/2014/main" id="{4F33C699-C237-297B-30DB-A1ED82B11BD7}"/>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15</a:t>
            </a:fld>
            <a:endParaRPr lang="en-US"/>
          </a:p>
        </p:txBody>
      </p:sp>
      <p:pic>
        <p:nvPicPr>
          <p:cNvPr id="17" name="Picture 16">
            <a:extLst>
              <a:ext uri="{FF2B5EF4-FFF2-40B4-BE49-F238E27FC236}">
                <a16:creationId xmlns:a16="http://schemas.microsoft.com/office/drawing/2014/main" id="{BABD34D8-F6B0-1926-0158-72BDB8BCE6D1}"/>
              </a:ext>
            </a:extLst>
          </p:cNvPr>
          <p:cNvPicPr>
            <a:picLocks noChangeAspect="1"/>
          </p:cNvPicPr>
          <p:nvPr/>
        </p:nvPicPr>
        <p:blipFill>
          <a:blip r:embed="rId3"/>
          <a:srcRect l="110" t="17964"/>
          <a:stretch>
            <a:fillRect/>
          </a:stretch>
        </p:blipFill>
        <p:spPr>
          <a:xfrm>
            <a:off x="3119351" y="1545274"/>
            <a:ext cx="7732856" cy="3579484"/>
          </a:xfrm>
          <a:prstGeom prst="rect">
            <a:avLst/>
          </a:prstGeom>
        </p:spPr>
      </p:pic>
      <p:pic>
        <p:nvPicPr>
          <p:cNvPr id="24" name="Picture 23">
            <a:extLst>
              <a:ext uri="{FF2B5EF4-FFF2-40B4-BE49-F238E27FC236}">
                <a16:creationId xmlns:a16="http://schemas.microsoft.com/office/drawing/2014/main" id="{6C7ACDC3-8FBA-FF62-7586-4A2C05DA5418}"/>
              </a:ext>
            </a:extLst>
          </p:cNvPr>
          <p:cNvPicPr>
            <a:picLocks noChangeAspect="1"/>
          </p:cNvPicPr>
          <p:nvPr/>
        </p:nvPicPr>
        <p:blipFill>
          <a:blip r:embed="rId4"/>
          <a:srcRect t="19878"/>
          <a:stretch>
            <a:fillRect/>
          </a:stretch>
        </p:blipFill>
        <p:spPr>
          <a:xfrm>
            <a:off x="8817495" y="1458474"/>
            <a:ext cx="3374505" cy="2465133"/>
          </a:xfrm>
          <a:prstGeom prst="rect">
            <a:avLst/>
          </a:prstGeom>
        </p:spPr>
      </p:pic>
      <p:sp>
        <p:nvSpPr>
          <p:cNvPr id="26" name="Rectangle 25">
            <a:extLst>
              <a:ext uri="{FF2B5EF4-FFF2-40B4-BE49-F238E27FC236}">
                <a16:creationId xmlns:a16="http://schemas.microsoft.com/office/drawing/2014/main" id="{A55A96AB-7CFF-6EDB-581F-B4CA14A4A97A}"/>
              </a:ext>
            </a:extLst>
          </p:cNvPr>
          <p:cNvSpPr/>
          <p:nvPr/>
        </p:nvSpPr>
        <p:spPr>
          <a:xfrm>
            <a:off x="4049222" y="1598985"/>
            <a:ext cx="748145" cy="501501"/>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AU"/>
          </a:p>
        </p:txBody>
      </p:sp>
      <p:sp>
        <p:nvSpPr>
          <p:cNvPr id="28" name="TextBox 27">
            <a:extLst>
              <a:ext uri="{FF2B5EF4-FFF2-40B4-BE49-F238E27FC236}">
                <a16:creationId xmlns:a16="http://schemas.microsoft.com/office/drawing/2014/main" id="{E0BC8A1E-02CF-7B27-83A7-A7765C173C89}"/>
              </a:ext>
            </a:extLst>
          </p:cNvPr>
          <p:cNvSpPr txBox="1"/>
          <p:nvPr/>
        </p:nvSpPr>
        <p:spPr>
          <a:xfrm>
            <a:off x="3320931" y="6600051"/>
            <a:ext cx="6686550" cy="276999"/>
          </a:xfrm>
          <a:prstGeom prst="rect">
            <a:avLst/>
          </a:prstGeom>
          <a:noFill/>
        </p:spPr>
        <p:txBody>
          <a:bodyPr wrap="square">
            <a:spAutoFit/>
          </a:bodyPr>
          <a:lstStyle/>
          <a:p>
            <a:r>
              <a:rPr lang="en-AU" sz="1200" i="1" dirty="0">
                <a:solidFill>
                  <a:srgbClr val="6B7686"/>
                </a:solidFill>
                <a:latin typeface="Calibri"/>
              </a:rPr>
              <a:t>(Lewis, 2018) </a:t>
            </a:r>
            <a:endParaRPr lang="en-AU"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p:bldP spid="9" grpId="0"/>
      <p:bldP spid="10" grpId="0" animBg="1"/>
      <p:bldP spid="11" grpId="0"/>
      <p:bldP spid="12" grpId="0"/>
      <p:bldP spid="13" grpId="0" animBg="1"/>
      <p:bldP spid="14" grpId="0"/>
      <p:bldP spid="15" grpId="0"/>
      <p:bldP spid="28"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test result, part one: chronic load</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The same model, run separately on each injury tier</a:t>
            </a:r>
          </a:p>
        </p:txBody>
      </p:sp>
      <p:pic>
        <p:nvPicPr>
          <p:cNvPr id="4" name="Picture 3" descr="P1a_chronic_only.png"/>
          <p:cNvPicPr>
            <a:picLocks noChangeAspect="1"/>
          </p:cNvPicPr>
          <p:nvPr/>
        </p:nvPicPr>
        <p:blipFill>
          <a:blip r:embed="rId3"/>
          <a:srcRect t="16206"/>
          <a:stretch>
            <a:fillRect/>
          </a:stretch>
        </p:blipFill>
        <p:spPr>
          <a:xfrm>
            <a:off x="1512917" y="1551041"/>
            <a:ext cx="8554876" cy="4040447"/>
          </a:xfrm>
          <a:prstGeom prst="rect">
            <a:avLst/>
          </a:prstGeom>
        </p:spPr>
      </p:pic>
      <p:sp>
        <p:nvSpPr>
          <p:cNvPr id="5" name="Slide Number Placeholder 4">
            <a:extLst>
              <a:ext uri="{FF2B5EF4-FFF2-40B4-BE49-F238E27FC236}">
                <a16:creationId xmlns:a16="http://schemas.microsoft.com/office/drawing/2014/main" id="{78342FC3-425C-8897-3E6E-61C9C715BF01}"/>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16</a:t>
            </a:fld>
            <a:endParaRPr lang="en-US"/>
          </a:p>
        </p:txBody>
      </p:sp>
      <p:sp>
        <p:nvSpPr>
          <p:cNvPr id="7" name="TextBox 6">
            <a:extLst>
              <a:ext uri="{FF2B5EF4-FFF2-40B4-BE49-F238E27FC236}">
                <a16:creationId xmlns:a16="http://schemas.microsoft.com/office/drawing/2014/main" id="{0E906D4E-29E1-3099-9849-DC16CD56256C}"/>
              </a:ext>
            </a:extLst>
          </p:cNvPr>
          <p:cNvSpPr txBox="1"/>
          <p:nvPr/>
        </p:nvSpPr>
        <p:spPr>
          <a:xfrm>
            <a:off x="1843346" y="5782151"/>
            <a:ext cx="8060268" cy="369332"/>
          </a:xfrm>
          <a:prstGeom prst="rect">
            <a:avLst/>
          </a:prstGeom>
          <a:noFill/>
        </p:spPr>
        <p:txBody>
          <a:bodyPr wrap="square">
            <a:spAutoFit/>
          </a:bodyPr>
          <a:lstStyle/>
          <a:p>
            <a:r>
              <a:rPr lang="en-AU" b="1" dirty="0">
                <a:solidFill>
                  <a:srgbClr val="333D4D"/>
                </a:solidFill>
              </a:rPr>
              <a:t>Expected:</a:t>
            </a:r>
            <a:r>
              <a:rPr lang="en-AU" dirty="0">
                <a:solidFill>
                  <a:srgbClr val="333D4D"/>
                </a:solidFill>
              </a:rPr>
              <a:t> a heavy month raises overuse injuries most. </a:t>
            </a:r>
          </a:p>
        </p:txBody>
      </p:sp>
      <p:sp>
        <p:nvSpPr>
          <p:cNvPr id="8" name="Rounded Rectangle 7">
            <a:extLst>
              <a:ext uri="{FF2B5EF4-FFF2-40B4-BE49-F238E27FC236}">
                <a16:creationId xmlns:a16="http://schemas.microsoft.com/office/drawing/2014/main" id="{E855F202-3D0F-E0D4-9E24-5DC75425A1C9}"/>
              </a:ext>
            </a:extLst>
          </p:cNvPr>
          <p:cNvSpPr/>
          <p:nvPr/>
        </p:nvSpPr>
        <p:spPr>
          <a:xfrm>
            <a:off x="2610196" y="2776451"/>
            <a:ext cx="748146" cy="1263534"/>
          </a:xfrm>
          <a:prstGeom prst="round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AU"/>
          </a:p>
        </p:txBody>
      </p:sp>
      <p:sp>
        <p:nvSpPr>
          <p:cNvPr id="9" name="TextBox 8">
            <a:extLst>
              <a:ext uri="{FF2B5EF4-FFF2-40B4-BE49-F238E27FC236}">
                <a16:creationId xmlns:a16="http://schemas.microsoft.com/office/drawing/2014/main" id="{EA19292A-B352-081E-946E-4A0F8B586845}"/>
              </a:ext>
            </a:extLst>
          </p:cNvPr>
          <p:cNvSpPr txBox="1"/>
          <p:nvPr/>
        </p:nvSpPr>
        <p:spPr>
          <a:xfrm>
            <a:off x="1843346" y="6232448"/>
            <a:ext cx="8060268" cy="369332"/>
          </a:xfrm>
          <a:prstGeom prst="rect">
            <a:avLst/>
          </a:prstGeom>
          <a:noFill/>
        </p:spPr>
        <p:txBody>
          <a:bodyPr wrap="square">
            <a:spAutoFit/>
          </a:bodyPr>
          <a:lstStyle/>
          <a:p>
            <a:r>
              <a:rPr lang="en-AU" b="1" dirty="0">
                <a:solidFill>
                  <a:srgbClr val="333D4D"/>
                </a:solidFill>
              </a:rPr>
              <a:t>Found:</a:t>
            </a:r>
            <a:r>
              <a:rPr lang="en-AU" dirty="0">
                <a:solidFill>
                  <a:srgbClr val="333D4D"/>
                </a:solidFill>
              </a:rPr>
              <a:t> it raises impact injuries just as much, which looks like exposure, not fatigue. </a:t>
            </a:r>
          </a:p>
        </p:txBody>
      </p:sp>
      <p:sp>
        <p:nvSpPr>
          <p:cNvPr id="10" name="Rounded Rectangle 9">
            <a:extLst>
              <a:ext uri="{FF2B5EF4-FFF2-40B4-BE49-F238E27FC236}">
                <a16:creationId xmlns:a16="http://schemas.microsoft.com/office/drawing/2014/main" id="{2EF1BEBC-7AA2-947C-12A6-917EB0C7DD82}"/>
              </a:ext>
            </a:extLst>
          </p:cNvPr>
          <p:cNvSpPr/>
          <p:nvPr/>
        </p:nvSpPr>
        <p:spPr>
          <a:xfrm>
            <a:off x="8459587" y="2590363"/>
            <a:ext cx="748146" cy="1263534"/>
          </a:xfrm>
          <a:prstGeom prst="round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AU"/>
          </a:p>
        </p:txBody>
      </p:sp>
      <p:sp>
        <p:nvSpPr>
          <p:cNvPr id="11" name="TextBox 10">
            <a:extLst>
              <a:ext uri="{FF2B5EF4-FFF2-40B4-BE49-F238E27FC236}">
                <a16:creationId xmlns:a16="http://schemas.microsoft.com/office/drawing/2014/main" id="{2B1080EB-4C53-1310-5F4E-AFA9DEA96B8C}"/>
              </a:ext>
            </a:extLst>
          </p:cNvPr>
          <p:cNvSpPr txBox="1"/>
          <p:nvPr/>
        </p:nvSpPr>
        <p:spPr>
          <a:xfrm>
            <a:off x="9095822" y="3059668"/>
            <a:ext cx="1817870" cy="369332"/>
          </a:xfrm>
          <a:prstGeom prst="rect">
            <a:avLst/>
          </a:prstGeom>
          <a:noFill/>
        </p:spPr>
        <p:txBody>
          <a:bodyPr wrap="none" rtlCol="0">
            <a:spAutoFit/>
          </a:bodyPr>
          <a:lstStyle/>
          <a:p>
            <a:r>
              <a:rPr lang="en-AU" b="1" dirty="0">
                <a:solidFill>
                  <a:srgbClr val="2066AC"/>
                </a:solidFill>
              </a:rPr>
              <a:t>Exposure Pattern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p:bldP spid="10" grpId="0" animBg="1"/>
      <p:bldP spid="11"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The test result, part two: acute load</a:t>
            </a:r>
          </a:p>
        </p:txBody>
      </p:sp>
      <p:sp>
        <p:nvSpPr>
          <p:cNvPr id="3" name="TextBox 2"/>
          <p:cNvSpPr txBox="1"/>
          <p:nvPr/>
        </p:nvSpPr>
        <p:spPr>
          <a:xfrm>
            <a:off x="777240" y="118338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Add the second series: acute load stands out in one tier only</a:t>
            </a:r>
          </a:p>
        </p:txBody>
      </p:sp>
      <p:pic>
        <p:nvPicPr>
          <p:cNvPr id="4" name="Picture 3" descr="P1_negative_control.png"/>
          <p:cNvPicPr>
            <a:picLocks noChangeAspect="1"/>
          </p:cNvPicPr>
          <p:nvPr/>
        </p:nvPicPr>
        <p:blipFill>
          <a:blip r:embed="rId3"/>
          <a:srcRect t="17608"/>
          <a:stretch>
            <a:fillRect/>
          </a:stretch>
        </p:blipFill>
        <p:spPr>
          <a:xfrm>
            <a:off x="1595584" y="1609528"/>
            <a:ext cx="8499764" cy="3947231"/>
          </a:xfrm>
          <a:prstGeom prst="rect">
            <a:avLst/>
          </a:prstGeom>
        </p:spPr>
      </p:pic>
      <p:sp>
        <p:nvSpPr>
          <p:cNvPr id="5" name="Slide Number Placeholder 4">
            <a:extLst>
              <a:ext uri="{FF2B5EF4-FFF2-40B4-BE49-F238E27FC236}">
                <a16:creationId xmlns:a16="http://schemas.microsoft.com/office/drawing/2014/main" id="{67B7C972-9D05-F653-B5B7-B306E08FF65D}"/>
              </a:ext>
            </a:extLst>
          </p:cNvPr>
          <p:cNvSpPr>
            <a:spLocks noGrp="1"/>
          </p:cNvSpPr>
          <p:nvPr>
            <p:ph type="sldNum" sz="quarter" idx="12"/>
          </p:nvPr>
        </p:nvSpPr>
        <p:spPr>
          <a:xfrm>
            <a:off x="11451316" y="6160690"/>
            <a:ext cx="744363" cy="697310"/>
          </a:xfrm>
        </p:spPr>
        <p:txBody>
          <a:bodyPr/>
          <a:lstStyle/>
          <a:p>
            <a:fld id="{C1FF6DA9-008F-8B48-92A6-B652298478BF}" type="slidenum">
              <a:rPr lang="en-US" smtClean="0"/>
              <a:pPr/>
              <a:t>17</a:t>
            </a:fld>
            <a:endParaRPr lang="en-US"/>
          </a:p>
        </p:txBody>
      </p:sp>
      <p:sp>
        <p:nvSpPr>
          <p:cNvPr id="6" name="TextBox 5">
            <a:extLst>
              <a:ext uri="{FF2B5EF4-FFF2-40B4-BE49-F238E27FC236}">
                <a16:creationId xmlns:a16="http://schemas.microsoft.com/office/drawing/2014/main" id="{66571133-941D-66E9-7A3E-791B76246159}"/>
              </a:ext>
            </a:extLst>
          </p:cNvPr>
          <p:cNvSpPr txBox="1"/>
          <p:nvPr/>
        </p:nvSpPr>
        <p:spPr>
          <a:xfrm>
            <a:off x="9095822" y="3059668"/>
            <a:ext cx="1817870" cy="369332"/>
          </a:xfrm>
          <a:prstGeom prst="rect">
            <a:avLst/>
          </a:prstGeom>
          <a:noFill/>
        </p:spPr>
        <p:txBody>
          <a:bodyPr wrap="none" rtlCol="0">
            <a:spAutoFit/>
          </a:bodyPr>
          <a:lstStyle/>
          <a:p>
            <a:r>
              <a:rPr lang="en-AU" b="1" dirty="0">
                <a:solidFill>
                  <a:srgbClr val="2066AC"/>
                </a:solidFill>
              </a:rPr>
              <a:t>Exposure Pattern</a:t>
            </a:r>
          </a:p>
        </p:txBody>
      </p:sp>
      <p:sp>
        <p:nvSpPr>
          <p:cNvPr id="7" name="TextBox 6">
            <a:extLst>
              <a:ext uri="{FF2B5EF4-FFF2-40B4-BE49-F238E27FC236}">
                <a16:creationId xmlns:a16="http://schemas.microsoft.com/office/drawing/2014/main" id="{6F0146C0-EA96-EFB0-B4D9-1DB24DA8831B}"/>
              </a:ext>
            </a:extLst>
          </p:cNvPr>
          <p:cNvSpPr txBox="1"/>
          <p:nvPr/>
        </p:nvSpPr>
        <p:spPr>
          <a:xfrm>
            <a:off x="9249443" y="3855142"/>
            <a:ext cx="1691810" cy="369332"/>
          </a:xfrm>
          <a:prstGeom prst="rect">
            <a:avLst/>
          </a:prstGeom>
          <a:noFill/>
        </p:spPr>
        <p:txBody>
          <a:bodyPr wrap="none" rtlCol="0">
            <a:spAutoFit/>
          </a:bodyPr>
          <a:lstStyle/>
          <a:p>
            <a:r>
              <a:rPr lang="en-AU" b="1" dirty="0">
                <a:solidFill>
                  <a:srgbClr val="B01225"/>
                </a:solidFill>
              </a:rPr>
              <a:t>Fatigue Pattern</a:t>
            </a:r>
          </a:p>
        </p:txBody>
      </p:sp>
      <p:sp>
        <p:nvSpPr>
          <p:cNvPr id="9" name="TextBox 8">
            <a:extLst>
              <a:ext uri="{FF2B5EF4-FFF2-40B4-BE49-F238E27FC236}">
                <a16:creationId xmlns:a16="http://schemas.microsoft.com/office/drawing/2014/main" id="{ED9549E8-9927-1666-458F-846B2218C2F5}"/>
              </a:ext>
            </a:extLst>
          </p:cNvPr>
          <p:cNvSpPr txBox="1"/>
          <p:nvPr/>
        </p:nvSpPr>
        <p:spPr>
          <a:xfrm>
            <a:off x="2166315" y="5899736"/>
            <a:ext cx="7838442" cy="646331"/>
          </a:xfrm>
          <a:prstGeom prst="rect">
            <a:avLst/>
          </a:prstGeom>
          <a:noFill/>
        </p:spPr>
        <p:txBody>
          <a:bodyPr wrap="square">
            <a:spAutoFit/>
          </a:bodyPr>
          <a:lstStyle/>
          <a:p>
            <a:r>
              <a:rPr lang="en-AU" b="1" dirty="0"/>
              <a:t>Found: </a:t>
            </a:r>
            <a:r>
              <a:rPr lang="en-AU" dirty="0"/>
              <a:t>Only overuse injuries with a reported pathology rise with a more concentrated week: consistent with fatigue, but exploratory.</a:t>
            </a:r>
          </a:p>
        </p:txBody>
      </p:sp>
      <p:sp>
        <p:nvSpPr>
          <p:cNvPr id="10" name="Rounded Rectangle 9">
            <a:extLst>
              <a:ext uri="{FF2B5EF4-FFF2-40B4-BE49-F238E27FC236}">
                <a16:creationId xmlns:a16="http://schemas.microsoft.com/office/drawing/2014/main" id="{08D52171-8AA3-6EE3-0641-E3898EED4319}"/>
              </a:ext>
            </a:extLst>
          </p:cNvPr>
          <p:cNvSpPr/>
          <p:nvPr/>
        </p:nvSpPr>
        <p:spPr>
          <a:xfrm>
            <a:off x="3079554" y="2875851"/>
            <a:ext cx="578046" cy="1263534"/>
          </a:xfrm>
          <a:prstGeom prst="round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AU"/>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Some players really are more fragile</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Each player is their own risk dial of proneness, and the covariates account for about 70 per cent</a:t>
            </a:r>
          </a:p>
        </p:txBody>
      </p:sp>
      <p:sp>
        <p:nvSpPr>
          <p:cNvPr id="5" name="Rounded Rectangle 4"/>
          <p:cNvSpPr/>
          <p:nvPr/>
        </p:nvSpPr>
        <p:spPr>
          <a:xfrm>
            <a:off x="4267200" y="5070126"/>
            <a:ext cx="3657600" cy="1090565"/>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p:cNvSpPr txBox="1"/>
          <p:nvPr/>
        </p:nvSpPr>
        <p:spPr>
          <a:xfrm>
            <a:off x="4568952" y="5298726"/>
            <a:ext cx="3108960" cy="633315"/>
          </a:xfrm>
          <a:prstGeom prst="rect">
            <a:avLst/>
          </a:prstGeom>
          <a:noFill/>
        </p:spPr>
        <p:txBody>
          <a:bodyPr wrap="square" lIns="0" tIns="0" rIns="0" bIns="0" anchor="t">
            <a:spAutoFit/>
          </a:bodyPr>
          <a:lstStyle/>
          <a:p>
            <a:pPr algn="l">
              <a:lnSpc>
                <a:spcPct val="135000"/>
              </a:lnSpc>
              <a:spcAft>
                <a:spcPts val="600"/>
              </a:spcAft>
            </a:pPr>
            <a:r>
              <a:rPr lang="en-AU" sz="1400" b="0" i="0" dirty="0">
                <a:solidFill>
                  <a:srgbClr val="333D4D"/>
                </a:solidFill>
                <a:latin typeface="Calibri"/>
              </a:rPr>
              <a:t>1 SD of what I cannot measure = </a:t>
            </a:r>
            <a:r>
              <a:rPr lang="en-AU" sz="1400" b="1" i="0" dirty="0">
                <a:solidFill>
                  <a:srgbClr val="333D4D"/>
                </a:solidFill>
                <a:latin typeface="Calibri"/>
              </a:rPr>
              <a:t>1.72x</a:t>
            </a:r>
            <a:endParaRPr lang="en-AU" sz="1400" b="0" i="0" dirty="0">
              <a:solidFill>
                <a:srgbClr val="333D4D"/>
              </a:solidFill>
              <a:latin typeface="Calibri"/>
            </a:endParaRPr>
          </a:p>
          <a:p>
            <a:pPr algn="l">
              <a:lnSpc>
                <a:spcPct val="135000"/>
              </a:lnSpc>
              <a:spcAft>
                <a:spcPts val="600"/>
              </a:spcAft>
            </a:pPr>
            <a:r>
              <a:rPr lang="en-AU" sz="1400" b="0" i="0" dirty="0">
                <a:solidFill>
                  <a:srgbClr val="333D4D"/>
                </a:solidFill>
                <a:latin typeface="Calibri"/>
              </a:rPr>
              <a:t>1 SD of chronic load = </a:t>
            </a:r>
            <a:r>
              <a:rPr lang="en-AU" sz="1400" b="1" i="0" dirty="0">
                <a:solidFill>
                  <a:srgbClr val="333D4D"/>
                </a:solidFill>
                <a:latin typeface="Calibri"/>
              </a:rPr>
              <a:t>2.11x</a:t>
            </a:r>
            <a:endParaRPr lang="en-AU" sz="1400" b="0" i="0" dirty="0">
              <a:solidFill>
                <a:srgbClr val="333D4D"/>
              </a:solidFill>
              <a:latin typeface="Calibri"/>
            </a:endParaRPr>
          </a:p>
        </p:txBody>
      </p:sp>
      <p:sp>
        <p:nvSpPr>
          <p:cNvPr id="7" name="Slide Number Placeholder 6">
            <a:extLst>
              <a:ext uri="{FF2B5EF4-FFF2-40B4-BE49-F238E27FC236}">
                <a16:creationId xmlns:a16="http://schemas.microsoft.com/office/drawing/2014/main" id="{B3954B1C-31DC-EB6B-1EC3-0BC57AA83754}"/>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18</a:t>
            </a:fld>
            <a:endParaRPr lang="en-US"/>
          </a:p>
        </p:txBody>
      </p:sp>
      <p:pic>
        <p:nvPicPr>
          <p:cNvPr id="8" name="Picture 7">
            <a:extLst>
              <a:ext uri="{FF2B5EF4-FFF2-40B4-BE49-F238E27FC236}">
                <a16:creationId xmlns:a16="http://schemas.microsoft.com/office/drawing/2014/main" id="{A816F431-1F42-BC03-8A49-8CC3FF214A7A}"/>
              </a:ext>
            </a:extLst>
          </p:cNvPr>
          <p:cNvPicPr>
            <a:picLocks noChangeAspect="1"/>
          </p:cNvPicPr>
          <p:nvPr/>
        </p:nvPicPr>
        <p:blipFill>
          <a:blip r:embed="rId3"/>
          <a:srcRect t="17786" b="38316"/>
          <a:stretch>
            <a:fillRect/>
          </a:stretch>
        </p:blipFill>
        <p:spPr>
          <a:xfrm>
            <a:off x="2004615" y="1686306"/>
            <a:ext cx="7209172" cy="1783762"/>
          </a:xfrm>
          <a:prstGeom prst="rect">
            <a:avLst/>
          </a:prstGeom>
        </p:spPr>
      </p:pic>
      <p:pic>
        <p:nvPicPr>
          <p:cNvPr id="9" name="Picture 8">
            <a:extLst>
              <a:ext uri="{FF2B5EF4-FFF2-40B4-BE49-F238E27FC236}">
                <a16:creationId xmlns:a16="http://schemas.microsoft.com/office/drawing/2014/main" id="{8ACE6944-A033-2599-9AAD-DC9E53E885AE}"/>
              </a:ext>
            </a:extLst>
          </p:cNvPr>
          <p:cNvPicPr>
            <a:picLocks noChangeAspect="1"/>
          </p:cNvPicPr>
          <p:nvPr/>
        </p:nvPicPr>
        <p:blipFill>
          <a:blip r:embed="rId3"/>
          <a:srcRect t="58480" b="-20164"/>
          <a:stretch>
            <a:fillRect/>
          </a:stretch>
        </p:blipFill>
        <p:spPr>
          <a:xfrm>
            <a:off x="2004615" y="3300340"/>
            <a:ext cx="7209172" cy="2506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Does it survive contact with new data?</a:t>
            </a:r>
          </a:p>
        </p:txBody>
      </p:sp>
      <p:sp>
        <p:nvSpPr>
          <p:cNvPr id="3" name="TextBox 2"/>
          <p:cNvSpPr txBox="1"/>
          <p:nvPr/>
        </p:nvSpPr>
        <p:spPr>
          <a:xfrm>
            <a:off x="777240" y="123880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Two hold-outs that fail in different ways</a:t>
            </a:r>
          </a:p>
        </p:txBody>
      </p:sp>
      <p:sp>
        <p:nvSpPr>
          <p:cNvPr id="4" name="Rounded Rectangle 3"/>
          <p:cNvSpPr/>
          <p:nvPr/>
        </p:nvSpPr>
        <p:spPr>
          <a:xfrm>
            <a:off x="777240" y="2233353"/>
            <a:ext cx="3246120" cy="1572768"/>
          </a:xfrm>
          <a:prstGeom prst="roundRect">
            <a:avLst>
              <a:gd name="adj" fmla="val 6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5" name="TextBox 4"/>
          <p:cNvSpPr txBox="1"/>
          <p:nvPr/>
        </p:nvSpPr>
        <p:spPr>
          <a:xfrm>
            <a:off x="960120" y="2397945"/>
            <a:ext cx="2880360" cy="804672"/>
          </a:xfrm>
          <a:prstGeom prst="rect">
            <a:avLst/>
          </a:prstGeom>
          <a:noFill/>
        </p:spPr>
        <p:txBody>
          <a:bodyPr wrap="square" lIns="0" tIns="0" rIns="0" bIns="0" anchor="t">
            <a:spAutoFit/>
          </a:bodyPr>
          <a:lstStyle/>
          <a:p>
            <a:pPr algn="ctr">
              <a:spcAft>
                <a:spcPts val="600"/>
              </a:spcAft>
            </a:pPr>
            <a:r>
              <a:rPr lang="en-AU" sz="4600" b="1" i="0" dirty="0">
                <a:solidFill>
                  <a:srgbClr val="6B7686"/>
                </a:solidFill>
                <a:latin typeface="Calibri"/>
              </a:rPr>
              <a:t>0.738</a:t>
            </a:r>
          </a:p>
        </p:txBody>
      </p:sp>
      <p:sp>
        <p:nvSpPr>
          <p:cNvPr id="6" name="TextBox 5"/>
          <p:cNvSpPr txBox="1"/>
          <p:nvPr/>
        </p:nvSpPr>
        <p:spPr>
          <a:xfrm>
            <a:off x="960120" y="3239193"/>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apparent</a:t>
            </a:r>
          </a:p>
          <a:p>
            <a:pPr algn="ctr">
              <a:lnSpc>
                <a:spcPct val="110000"/>
              </a:lnSpc>
              <a:spcAft>
                <a:spcPts val="600"/>
              </a:spcAft>
            </a:pPr>
            <a:r>
              <a:rPr lang="en-AU" sz="1300" b="0" i="0" dirty="0">
                <a:solidFill>
                  <a:srgbClr val="6B7686"/>
                </a:solidFill>
                <a:latin typeface="Calibri"/>
              </a:rPr>
              <a:t>(scored on its own data)</a:t>
            </a:r>
          </a:p>
        </p:txBody>
      </p:sp>
      <p:sp>
        <p:nvSpPr>
          <p:cNvPr id="7" name="Rounded Rectangle 6"/>
          <p:cNvSpPr/>
          <p:nvPr/>
        </p:nvSpPr>
        <p:spPr>
          <a:xfrm>
            <a:off x="4251960" y="2233353"/>
            <a:ext cx="3246120" cy="1572768"/>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8" name="TextBox 7"/>
          <p:cNvSpPr txBox="1"/>
          <p:nvPr/>
        </p:nvSpPr>
        <p:spPr>
          <a:xfrm>
            <a:off x="4434840" y="2397945"/>
            <a:ext cx="2880360" cy="707886"/>
          </a:xfrm>
          <a:prstGeom prst="rect">
            <a:avLst/>
          </a:prstGeom>
          <a:noFill/>
        </p:spPr>
        <p:txBody>
          <a:bodyPr wrap="square" lIns="0" tIns="0" rIns="0" bIns="0" anchor="t">
            <a:spAutoFit/>
          </a:bodyPr>
          <a:lstStyle/>
          <a:p>
            <a:pPr algn="ctr">
              <a:spcAft>
                <a:spcPts val="600"/>
              </a:spcAft>
            </a:pPr>
            <a:r>
              <a:rPr lang="en-AU" sz="4600" b="1" i="0" dirty="0">
                <a:solidFill>
                  <a:srgbClr val="00B050"/>
                </a:solidFill>
                <a:latin typeface="Calibri"/>
              </a:rPr>
              <a:t>0.744</a:t>
            </a:r>
          </a:p>
        </p:txBody>
      </p:sp>
      <p:sp>
        <p:nvSpPr>
          <p:cNvPr id="9" name="TextBox 8"/>
          <p:cNvSpPr txBox="1"/>
          <p:nvPr/>
        </p:nvSpPr>
        <p:spPr>
          <a:xfrm>
            <a:off x="4434840" y="3239193"/>
            <a:ext cx="288036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unseen season</a:t>
            </a:r>
          </a:p>
          <a:p>
            <a:pPr algn="ctr">
              <a:lnSpc>
                <a:spcPct val="110000"/>
              </a:lnSpc>
              <a:spcAft>
                <a:spcPts val="600"/>
              </a:spcAft>
            </a:pPr>
            <a:r>
              <a:rPr lang="en-AU" sz="1300" b="0" i="0" dirty="0">
                <a:solidFill>
                  <a:srgbClr val="6B7686"/>
                </a:solidFill>
                <a:latin typeface="Calibri"/>
              </a:rPr>
              <a:t>(2025-26 held out)</a:t>
            </a:r>
          </a:p>
        </p:txBody>
      </p:sp>
      <p:sp>
        <p:nvSpPr>
          <p:cNvPr id="10" name="Rounded Rectangle 9"/>
          <p:cNvSpPr/>
          <p:nvPr/>
        </p:nvSpPr>
        <p:spPr>
          <a:xfrm>
            <a:off x="7726679" y="2233353"/>
            <a:ext cx="3657600" cy="1572768"/>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1" name="TextBox 10"/>
          <p:cNvSpPr txBox="1"/>
          <p:nvPr/>
        </p:nvSpPr>
        <p:spPr>
          <a:xfrm>
            <a:off x="7909559" y="2397945"/>
            <a:ext cx="3291840" cy="707886"/>
          </a:xfrm>
          <a:prstGeom prst="rect">
            <a:avLst/>
          </a:prstGeom>
          <a:noFill/>
        </p:spPr>
        <p:txBody>
          <a:bodyPr wrap="square" lIns="0" tIns="0" rIns="0" bIns="0" anchor="t">
            <a:spAutoFit/>
          </a:bodyPr>
          <a:lstStyle>
            <a:defPPr>
              <a:defRPr lang="en-US"/>
            </a:defPPr>
            <a:lvl1pPr algn="ctr">
              <a:spcAft>
                <a:spcPts val="600"/>
              </a:spcAft>
              <a:defRPr sz="4600" b="1" i="0">
                <a:solidFill>
                  <a:srgbClr val="00B050"/>
                </a:solidFill>
                <a:latin typeface="Calibri"/>
              </a:defRPr>
            </a:lvl1pPr>
          </a:lstStyle>
          <a:p>
            <a:r>
              <a:rPr lang="en-AU" dirty="0"/>
              <a:t>0.735</a:t>
            </a:r>
          </a:p>
        </p:txBody>
      </p:sp>
      <p:sp>
        <p:nvSpPr>
          <p:cNvPr id="12" name="TextBox 11"/>
          <p:cNvSpPr txBox="1"/>
          <p:nvPr/>
        </p:nvSpPr>
        <p:spPr>
          <a:xfrm>
            <a:off x="7909559" y="3239193"/>
            <a:ext cx="3291840" cy="457200"/>
          </a:xfrm>
          <a:prstGeom prst="rect">
            <a:avLst/>
          </a:prstGeom>
          <a:noFill/>
        </p:spPr>
        <p:txBody>
          <a:bodyPr wrap="square" lIns="0" tIns="0" rIns="0" bIns="0" anchor="t">
            <a:spAutoFit/>
          </a:bodyPr>
          <a:lstStyle/>
          <a:p>
            <a:pPr algn="ctr">
              <a:lnSpc>
                <a:spcPct val="110000"/>
              </a:lnSpc>
              <a:spcAft>
                <a:spcPts val="600"/>
              </a:spcAft>
            </a:pPr>
            <a:r>
              <a:rPr lang="en-AU" sz="1300" b="0" i="0" dirty="0">
                <a:solidFill>
                  <a:srgbClr val="6B7686"/>
                </a:solidFill>
                <a:latin typeface="Calibri"/>
              </a:rPr>
              <a:t>unseen players</a:t>
            </a:r>
          </a:p>
          <a:p>
            <a:pPr algn="ctr">
              <a:lnSpc>
                <a:spcPct val="110000"/>
              </a:lnSpc>
              <a:spcAft>
                <a:spcPts val="600"/>
              </a:spcAft>
            </a:pPr>
            <a:r>
              <a:rPr lang="en-AU" sz="1300" b="0" i="0" dirty="0">
                <a:solidFill>
                  <a:srgbClr val="6B7686"/>
                </a:solidFill>
                <a:latin typeface="Calibri"/>
              </a:rPr>
              <a:t>(player-grouped CV)</a:t>
            </a:r>
          </a:p>
        </p:txBody>
      </p:sp>
      <p:sp>
        <p:nvSpPr>
          <p:cNvPr id="13" name="TextBox 12"/>
          <p:cNvSpPr txBox="1"/>
          <p:nvPr/>
        </p:nvSpPr>
        <p:spPr>
          <a:xfrm>
            <a:off x="777240" y="4153593"/>
            <a:ext cx="10607040" cy="1110753"/>
          </a:xfrm>
          <a:prstGeom prst="rect">
            <a:avLst/>
          </a:prstGeom>
          <a:noFill/>
        </p:spPr>
        <p:txBody>
          <a:bodyPr wrap="square" lIns="0" tIns="0" rIns="0" bIns="0">
            <a:spAutoFit/>
          </a:bodyPr>
          <a:lstStyle/>
          <a:p>
            <a:pPr>
              <a:lnSpc>
                <a:spcPct val="125000"/>
              </a:lnSpc>
              <a:spcAft>
                <a:spcPts val="1200"/>
              </a:spcAft>
            </a:pPr>
            <a:r>
              <a:rPr lang="en-AU" sz="1700" b="1" dirty="0">
                <a:solidFill>
                  <a:srgbClr val="1B2A4A"/>
                </a:solidFill>
                <a:latin typeface="Calibri"/>
              </a:rPr>
              <a:t>It does not drop at all. </a:t>
            </a:r>
            <a:r>
              <a:rPr lang="en-AU" sz="1700" dirty="0">
                <a:solidFill>
                  <a:srgbClr val="333D4D"/>
                </a:solidFill>
                <a:latin typeface="Calibri"/>
              </a:rPr>
              <a:t>On the unseen season it scores slightly higher than on its own training data. </a:t>
            </a:r>
          </a:p>
          <a:p>
            <a:pPr>
              <a:lnSpc>
                <a:spcPct val="125000"/>
              </a:lnSpc>
              <a:spcAft>
                <a:spcPts val="1200"/>
              </a:spcAft>
            </a:pPr>
            <a:r>
              <a:rPr lang="en-AU" sz="1700" dirty="0">
                <a:solidFill>
                  <a:srgbClr val="333D4D"/>
                </a:solidFill>
                <a:latin typeface="Calibri"/>
              </a:rPr>
              <a:t>The temporal split would expose a model that only worked in its training seasons; the player split would expose one that memorised individuals. Neither did.</a:t>
            </a:r>
          </a:p>
        </p:txBody>
      </p:sp>
      <p:sp>
        <p:nvSpPr>
          <p:cNvPr id="14" name="Slide Number Placeholder 13">
            <a:extLst>
              <a:ext uri="{FF2B5EF4-FFF2-40B4-BE49-F238E27FC236}">
                <a16:creationId xmlns:a16="http://schemas.microsoft.com/office/drawing/2014/main" id="{6B6D1D16-D599-53BC-0A8B-CC2F29FD9C88}"/>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19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89136"/>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the model produces</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A per-player risk score that moves game by game, against the league</a:t>
            </a:r>
          </a:p>
        </p:txBody>
      </p:sp>
      <p:pic>
        <p:nvPicPr>
          <p:cNvPr id="4" name="Picture 3" descr="P5_rolling_profiles.png"/>
          <p:cNvPicPr>
            <a:picLocks noChangeAspect="1"/>
          </p:cNvPicPr>
          <p:nvPr/>
        </p:nvPicPr>
        <p:blipFill>
          <a:blip r:embed="rId3"/>
          <a:srcRect l="2828" t="15192" b="61890"/>
          <a:stretch>
            <a:fillRect/>
          </a:stretch>
        </p:blipFill>
        <p:spPr>
          <a:xfrm>
            <a:off x="1014757" y="1525916"/>
            <a:ext cx="8721859" cy="1449750"/>
          </a:xfrm>
          <a:prstGeom prst="rect">
            <a:avLst/>
          </a:prstGeom>
        </p:spPr>
      </p:pic>
      <p:sp>
        <p:nvSpPr>
          <p:cNvPr id="7" name="Slide Number Placeholder 6">
            <a:extLst>
              <a:ext uri="{FF2B5EF4-FFF2-40B4-BE49-F238E27FC236}">
                <a16:creationId xmlns:a16="http://schemas.microsoft.com/office/drawing/2014/main" id="{90459D4B-C849-94D7-E7A1-BBF6DD62BCF2}"/>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20</a:t>
            </a:fld>
            <a:endParaRPr lang="en-US" dirty="0"/>
          </a:p>
        </p:txBody>
      </p:sp>
      <p:pic>
        <p:nvPicPr>
          <p:cNvPr id="9" name="Picture 8">
            <a:extLst>
              <a:ext uri="{FF2B5EF4-FFF2-40B4-BE49-F238E27FC236}">
                <a16:creationId xmlns:a16="http://schemas.microsoft.com/office/drawing/2014/main" id="{1E337EEC-5983-AFF1-AB2B-E952D67147B9}"/>
              </a:ext>
            </a:extLst>
          </p:cNvPr>
          <p:cNvPicPr>
            <a:picLocks noChangeAspect="1"/>
          </p:cNvPicPr>
          <p:nvPr/>
        </p:nvPicPr>
        <p:blipFill>
          <a:blip r:embed="rId4"/>
          <a:stretch>
            <a:fillRect/>
          </a:stretch>
        </p:blipFill>
        <p:spPr>
          <a:xfrm>
            <a:off x="9740925" y="3527788"/>
            <a:ext cx="1407967" cy="1028382"/>
          </a:xfrm>
          <a:prstGeom prst="rect">
            <a:avLst/>
          </a:prstGeom>
          <a:ln w="38100">
            <a:solidFill>
              <a:schemeClr val="tx1"/>
            </a:solidFill>
          </a:ln>
        </p:spPr>
      </p:pic>
      <p:pic>
        <p:nvPicPr>
          <p:cNvPr id="11" name="Picture 10">
            <a:extLst>
              <a:ext uri="{FF2B5EF4-FFF2-40B4-BE49-F238E27FC236}">
                <a16:creationId xmlns:a16="http://schemas.microsoft.com/office/drawing/2014/main" id="{4A96E8B7-CBA6-EE63-1AFC-AD89280BE9E7}"/>
              </a:ext>
            </a:extLst>
          </p:cNvPr>
          <p:cNvPicPr>
            <a:picLocks noChangeAspect="1"/>
          </p:cNvPicPr>
          <p:nvPr/>
        </p:nvPicPr>
        <p:blipFill>
          <a:blip r:embed="rId5"/>
          <a:stretch>
            <a:fillRect/>
          </a:stretch>
        </p:blipFill>
        <p:spPr>
          <a:xfrm>
            <a:off x="9740925" y="5216011"/>
            <a:ext cx="1419987" cy="1037161"/>
          </a:xfrm>
          <a:prstGeom prst="rect">
            <a:avLst/>
          </a:prstGeom>
          <a:ln w="38100">
            <a:solidFill>
              <a:schemeClr val="tx1"/>
            </a:solidFill>
          </a:ln>
        </p:spPr>
      </p:pic>
      <p:pic>
        <p:nvPicPr>
          <p:cNvPr id="13" name="Picture 12">
            <a:extLst>
              <a:ext uri="{FF2B5EF4-FFF2-40B4-BE49-F238E27FC236}">
                <a16:creationId xmlns:a16="http://schemas.microsoft.com/office/drawing/2014/main" id="{2000C876-7B68-5C90-3456-DC5BCEEEB7F7}"/>
              </a:ext>
            </a:extLst>
          </p:cNvPr>
          <p:cNvPicPr>
            <a:picLocks noChangeAspect="1"/>
          </p:cNvPicPr>
          <p:nvPr/>
        </p:nvPicPr>
        <p:blipFill>
          <a:blip r:embed="rId6"/>
          <a:stretch>
            <a:fillRect/>
          </a:stretch>
        </p:blipFill>
        <p:spPr>
          <a:xfrm>
            <a:off x="9752946" y="1921225"/>
            <a:ext cx="1407967" cy="1021782"/>
          </a:xfrm>
          <a:prstGeom prst="rect">
            <a:avLst/>
          </a:prstGeom>
          <a:ln w="38100">
            <a:solidFill>
              <a:schemeClr val="tx1"/>
            </a:solidFill>
          </a:ln>
        </p:spPr>
      </p:pic>
      <p:sp>
        <p:nvSpPr>
          <p:cNvPr id="16" name="TextBox 15">
            <a:extLst>
              <a:ext uri="{FF2B5EF4-FFF2-40B4-BE49-F238E27FC236}">
                <a16:creationId xmlns:a16="http://schemas.microsoft.com/office/drawing/2014/main" id="{7880DD52-F5F8-4793-7BEF-90CCBA93A023}"/>
              </a:ext>
            </a:extLst>
          </p:cNvPr>
          <p:cNvSpPr txBox="1"/>
          <p:nvPr/>
        </p:nvSpPr>
        <p:spPr>
          <a:xfrm>
            <a:off x="6851049" y="1156066"/>
            <a:ext cx="4723965" cy="313034"/>
          </a:xfrm>
          <a:prstGeom prst="rect">
            <a:avLst/>
          </a:prstGeom>
          <a:noFill/>
        </p:spPr>
        <p:txBody>
          <a:bodyPr wrap="square">
            <a:spAutoFit/>
          </a:bodyPr>
          <a:lstStyle/>
          <a:p>
            <a:pPr algn="l">
              <a:lnSpc>
                <a:spcPct val="130000"/>
              </a:lnSpc>
              <a:spcAft>
                <a:spcPts val="600"/>
              </a:spcAft>
            </a:pPr>
            <a:r>
              <a:rPr lang="en-AU" sz="1200" b="0" i="1" dirty="0">
                <a:solidFill>
                  <a:schemeClr val="bg1">
                    <a:lumMod val="75000"/>
                  </a:schemeClr>
                </a:solidFill>
                <a:latin typeface="Calibri"/>
              </a:rPr>
              <a:t>Grey band is the league middle 50 per cent </a:t>
            </a:r>
            <a:r>
              <a:rPr lang="en-AU" sz="1200" b="1" i="1" dirty="0">
                <a:solidFill>
                  <a:schemeClr val="bg1">
                    <a:lumMod val="75000"/>
                  </a:schemeClr>
                </a:solidFill>
                <a:latin typeface="Calibri"/>
              </a:rPr>
              <a:t>at that point in the schedule.</a:t>
            </a:r>
            <a:endParaRPr lang="en-AU" sz="1200" b="0" i="1" dirty="0">
              <a:solidFill>
                <a:schemeClr val="bg1">
                  <a:lumMod val="75000"/>
                </a:schemeClr>
              </a:solidFill>
              <a:latin typeface="Calibri"/>
            </a:endParaRPr>
          </a:p>
        </p:txBody>
      </p:sp>
      <p:pic>
        <p:nvPicPr>
          <p:cNvPr id="5" name="Picture 4" descr="P5_rolling_profiles.png">
            <a:extLst>
              <a:ext uri="{FF2B5EF4-FFF2-40B4-BE49-F238E27FC236}">
                <a16:creationId xmlns:a16="http://schemas.microsoft.com/office/drawing/2014/main" id="{D7C3F2C0-CD18-8F02-43AC-364892B3E59F}"/>
              </a:ext>
            </a:extLst>
          </p:cNvPr>
          <p:cNvPicPr>
            <a:picLocks noChangeAspect="1"/>
          </p:cNvPicPr>
          <p:nvPr/>
        </p:nvPicPr>
        <p:blipFill>
          <a:blip r:embed="rId3"/>
          <a:srcRect t="15192" r="95999"/>
          <a:stretch>
            <a:fillRect/>
          </a:stretch>
        </p:blipFill>
        <p:spPr>
          <a:xfrm>
            <a:off x="131386" y="1493257"/>
            <a:ext cx="359129" cy="5364743"/>
          </a:xfrm>
          <a:prstGeom prst="rect">
            <a:avLst/>
          </a:prstGeom>
        </p:spPr>
      </p:pic>
      <p:pic>
        <p:nvPicPr>
          <p:cNvPr id="6" name="Picture 5" descr="P5_rolling_profiles.png">
            <a:extLst>
              <a:ext uri="{FF2B5EF4-FFF2-40B4-BE49-F238E27FC236}">
                <a16:creationId xmlns:a16="http://schemas.microsoft.com/office/drawing/2014/main" id="{A9996923-C26C-E220-D472-3318178A9039}"/>
              </a:ext>
            </a:extLst>
          </p:cNvPr>
          <p:cNvPicPr>
            <a:picLocks noChangeAspect="1"/>
          </p:cNvPicPr>
          <p:nvPr/>
        </p:nvPicPr>
        <p:blipFill>
          <a:blip r:embed="rId3"/>
          <a:srcRect l="3328" t="40757" r="-500" b="34531"/>
          <a:stretch>
            <a:fillRect/>
          </a:stretch>
        </p:blipFill>
        <p:spPr>
          <a:xfrm>
            <a:off x="1019065" y="3071145"/>
            <a:ext cx="8721859" cy="1563288"/>
          </a:xfrm>
          <a:prstGeom prst="rect">
            <a:avLst/>
          </a:prstGeom>
        </p:spPr>
      </p:pic>
      <p:pic>
        <p:nvPicPr>
          <p:cNvPr id="8" name="Picture 7" descr="P5_rolling_profiles.png">
            <a:extLst>
              <a:ext uri="{FF2B5EF4-FFF2-40B4-BE49-F238E27FC236}">
                <a16:creationId xmlns:a16="http://schemas.microsoft.com/office/drawing/2014/main" id="{CEE09BD5-742F-E0D0-D00A-7A7A614736F8}"/>
              </a:ext>
            </a:extLst>
          </p:cNvPr>
          <p:cNvPicPr>
            <a:picLocks noChangeAspect="1"/>
          </p:cNvPicPr>
          <p:nvPr/>
        </p:nvPicPr>
        <p:blipFill>
          <a:blip r:embed="rId3"/>
          <a:srcRect l="3270" t="67280" r="-442" b="5191"/>
          <a:stretch>
            <a:fillRect/>
          </a:stretch>
        </p:blipFill>
        <p:spPr>
          <a:xfrm>
            <a:off x="1019066" y="4750107"/>
            <a:ext cx="8721859" cy="1741539"/>
          </a:xfrm>
          <a:prstGeom prst="rect">
            <a:avLst/>
          </a:prstGeom>
        </p:spPr>
      </p:pic>
      <p:pic>
        <p:nvPicPr>
          <p:cNvPr id="10" name="Picture 9" descr="P5_rolling_profiles.png">
            <a:extLst>
              <a:ext uri="{FF2B5EF4-FFF2-40B4-BE49-F238E27FC236}">
                <a16:creationId xmlns:a16="http://schemas.microsoft.com/office/drawing/2014/main" id="{31784BDB-6087-4A9D-5322-EC91EA77C679}"/>
              </a:ext>
            </a:extLst>
          </p:cNvPr>
          <p:cNvPicPr>
            <a:picLocks noChangeAspect="1"/>
          </p:cNvPicPr>
          <p:nvPr/>
        </p:nvPicPr>
        <p:blipFill>
          <a:blip r:embed="rId3"/>
          <a:srcRect l="3111" t="94489" r="-284" b="-1097"/>
          <a:stretch>
            <a:fillRect/>
          </a:stretch>
        </p:blipFill>
        <p:spPr>
          <a:xfrm>
            <a:off x="1019065" y="6509346"/>
            <a:ext cx="8721859" cy="41803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What this cannot tell you</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Which Limitations bothered me the most</a:t>
            </a:r>
          </a:p>
        </p:txBody>
      </p:sp>
      <p:sp>
        <p:nvSpPr>
          <p:cNvPr id="5" name="TextBox 4"/>
          <p:cNvSpPr txBox="1"/>
          <p:nvPr/>
        </p:nvSpPr>
        <p:spPr>
          <a:xfrm>
            <a:off x="1372252" y="5466304"/>
            <a:ext cx="7578587" cy="1043042"/>
          </a:xfrm>
          <a:prstGeom prst="rect">
            <a:avLst/>
          </a:prstGeom>
          <a:noFill/>
        </p:spPr>
        <p:txBody>
          <a:bodyPr wrap="square" lIns="0" tIns="0" rIns="0" bIns="0">
            <a:spAutoFit/>
          </a:bodyPr>
          <a:lstStyle/>
          <a:p>
            <a:pPr>
              <a:lnSpc>
                <a:spcPct val="125000"/>
              </a:lnSpc>
              <a:spcAft>
                <a:spcPts val="1400"/>
              </a:spcAft>
            </a:pPr>
            <a:endParaRPr lang="en-AU" sz="1500" i="1" dirty="0">
              <a:solidFill>
                <a:schemeClr val="bg1">
                  <a:lumMod val="50000"/>
                </a:schemeClr>
              </a:solidFill>
              <a:latin typeface="Calibri"/>
            </a:endParaRPr>
          </a:p>
          <a:p>
            <a:pPr>
              <a:lnSpc>
                <a:spcPct val="125000"/>
              </a:lnSpc>
              <a:spcAft>
                <a:spcPts val="1400"/>
              </a:spcAft>
            </a:pPr>
            <a:r>
              <a:rPr lang="en-AU" sz="1600" i="1" dirty="0">
                <a:solidFill>
                  <a:schemeClr val="bg1">
                    <a:lumMod val="50000"/>
                  </a:schemeClr>
                </a:solidFill>
              </a:rPr>
              <a:t>Other Valuable Considerations: </a:t>
            </a:r>
            <a:r>
              <a:rPr lang="en-AU" sz="1500" i="1" dirty="0">
                <a:solidFill>
                  <a:schemeClr val="bg1">
                    <a:lumMod val="50000"/>
                  </a:schemeClr>
                </a:solidFill>
                <a:latin typeface="Calibri"/>
              </a:rPr>
              <a:t>0.73 to 0.76 may be near the public-data ceiling. Tier assignment still involves judgement. </a:t>
            </a:r>
            <a:r>
              <a:rPr lang="en-AU" sz="1500" i="1" dirty="0">
                <a:solidFill>
                  <a:schemeClr val="bg1">
                    <a:lumMod val="50000"/>
                  </a:schemeClr>
                </a:solidFill>
              </a:rPr>
              <a:t>Health-gating is not solved. </a:t>
            </a:r>
            <a:endParaRPr lang="en-AU" sz="1500" i="1" dirty="0">
              <a:solidFill>
                <a:schemeClr val="bg1">
                  <a:lumMod val="50000"/>
                </a:schemeClr>
              </a:solidFill>
              <a:latin typeface="Calibri"/>
            </a:endParaRPr>
          </a:p>
        </p:txBody>
      </p:sp>
      <p:sp>
        <p:nvSpPr>
          <p:cNvPr id="6" name="Slide Number Placeholder 5">
            <a:extLst>
              <a:ext uri="{FF2B5EF4-FFF2-40B4-BE49-F238E27FC236}">
                <a16:creationId xmlns:a16="http://schemas.microsoft.com/office/drawing/2014/main" id="{07AEC03C-E4A2-BEA3-9FD3-0630AD059725}"/>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21</a:t>
            </a:fld>
            <a:endParaRPr lang="en-US"/>
          </a:p>
        </p:txBody>
      </p:sp>
      <p:pic>
        <p:nvPicPr>
          <p:cNvPr id="2052" name="Picture 4" descr="Camaraderie And Nervous Energy On The First Day Of Training Camp | Portland  Trail Blazers">
            <a:extLst>
              <a:ext uri="{FF2B5EF4-FFF2-40B4-BE49-F238E27FC236}">
                <a16:creationId xmlns:a16="http://schemas.microsoft.com/office/drawing/2014/main" id="{A94EDDD9-AA48-8407-55AA-FCBF2DC612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682" r="13266"/>
          <a:stretch>
            <a:fillRect/>
          </a:stretch>
        </p:blipFill>
        <p:spPr bwMode="auto">
          <a:xfrm>
            <a:off x="9122571" y="3741340"/>
            <a:ext cx="2559631" cy="1968846"/>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sp>
        <p:nvSpPr>
          <p:cNvPr id="14" name="Rounded Rectangle 13">
            <a:extLst>
              <a:ext uri="{FF2B5EF4-FFF2-40B4-BE49-F238E27FC236}">
                <a16:creationId xmlns:a16="http://schemas.microsoft.com/office/drawing/2014/main" id="{B99ABEE8-CF21-A9F8-2A3D-0EF651D90DB0}"/>
              </a:ext>
            </a:extLst>
          </p:cNvPr>
          <p:cNvSpPr/>
          <p:nvPr/>
        </p:nvSpPr>
        <p:spPr>
          <a:xfrm>
            <a:off x="1040121" y="3968310"/>
            <a:ext cx="7844246" cy="1596374"/>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4" name="TextBox 3"/>
          <p:cNvSpPr txBox="1"/>
          <p:nvPr/>
        </p:nvSpPr>
        <p:spPr>
          <a:xfrm>
            <a:off x="1372252" y="4381761"/>
            <a:ext cx="6837371" cy="666849"/>
          </a:xfrm>
          <a:prstGeom prst="rect">
            <a:avLst/>
          </a:prstGeom>
          <a:noFill/>
        </p:spPr>
        <p:txBody>
          <a:bodyPr wrap="square" lIns="0" tIns="0" rIns="0" bIns="0">
            <a:spAutoFit/>
          </a:bodyPr>
          <a:lstStyle/>
          <a:p>
            <a:pPr>
              <a:lnSpc>
                <a:spcPct val="125000"/>
              </a:lnSpc>
              <a:spcAft>
                <a:spcPts val="1400"/>
              </a:spcAft>
            </a:pPr>
            <a:r>
              <a:rPr lang="en-AU" b="1" dirty="0">
                <a:solidFill>
                  <a:srgbClr val="1B2A4A"/>
                </a:solidFill>
                <a:latin typeface="Calibri"/>
              </a:rPr>
              <a:t>No training load: </a:t>
            </a:r>
            <a:r>
              <a:rPr lang="en-AU" dirty="0">
                <a:solidFill>
                  <a:srgbClr val="333D4D"/>
                </a:solidFill>
                <a:latin typeface="Calibri"/>
              </a:rPr>
              <a:t>Practice and conditioning are not public. Game exposure is only part of what a body absorbs.</a:t>
            </a:r>
          </a:p>
        </p:txBody>
      </p:sp>
      <p:sp>
        <p:nvSpPr>
          <p:cNvPr id="10" name="Rounded Rectangle 9">
            <a:extLst>
              <a:ext uri="{FF2B5EF4-FFF2-40B4-BE49-F238E27FC236}">
                <a16:creationId xmlns:a16="http://schemas.microsoft.com/office/drawing/2014/main" id="{7B198F5D-A2A5-A895-A383-7716727DE98F}"/>
              </a:ext>
            </a:extLst>
          </p:cNvPr>
          <p:cNvSpPr/>
          <p:nvPr/>
        </p:nvSpPr>
        <p:spPr>
          <a:xfrm>
            <a:off x="1040121" y="1681174"/>
            <a:ext cx="7844246" cy="1596374"/>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pic>
        <p:nvPicPr>
          <p:cNvPr id="2050" name="Picture 2" descr="Spurs give update on Kawhi Leonard's recovery">
            <a:extLst>
              <a:ext uri="{FF2B5EF4-FFF2-40B4-BE49-F238E27FC236}">
                <a16:creationId xmlns:a16="http://schemas.microsoft.com/office/drawing/2014/main" id="{C6402B2F-7962-F31A-1D74-FA8AB40E28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22571" y="1516307"/>
            <a:ext cx="2565589" cy="1968846"/>
          </a:xfrm>
          <a:prstGeom prst="rect">
            <a:avLst/>
          </a:prstGeom>
          <a:noFill/>
          <a:ln w="38100">
            <a:solidFill>
              <a:schemeClr val="tx1"/>
            </a:solidFill>
          </a:ln>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50A98CF7-91D0-E845-B77C-2BB57A12F103}"/>
              </a:ext>
            </a:extLst>
          </p:cNvPr>
          <p:cNvSpPr txBox="1"/>
          <p:nvPr/>
        </p:nvSpPr>
        <p:spPr>
          <a:xfrm>
            <a:off x="1372252" y="1886990"/>
            <a:ext cx="7185541" cy="1105431"/>
          </a:xfrm>
          <a:prstGeom prst="rect">
            <a:avLst/>
          </a:prstGeom>
          <a:noFill/>
        </p:spPr>
        <p:txBody>
          <a:bodyPr wrap="square">
            <a:spAutoFit/>
          </a:bodyPr>
          <a:lstStyle/>
          <a:p>
            <a:pPr>
              <a:lnSpc>
                <a:spcPct val="125000"/>
              </a:lnSpc>
              <a:spcAft>
                <a:spcPts val="1400"/>
              </a:spcAft>
            </a:pPr>
            <a:r>
              <a:rPr lang="en-AU" sz="1800" b="1" dirty="0">
                <a:solidFill>
                  <a:srgbClr val="1B2A4A"/>
                </a:solidFill>
                <a:latin typeface="Calibri"/>
              </a:rPr>
              <a:t>The outcome is availability, not diagnosis: </a:t>
            </a:r>
            <a:r>
              <a:rPr lang="en-AU" sz="1800" dirty="0">
                <a:solidFill>
                  <a:srgbClr val="333D4D"/>
                </a:solidFill>
                <a:latin typeface="Calibri"/>
              </a:rPr>
              <a:t>Three quarters of the overuse tier names no pathology at all, and the acute-load pattern is absent in exactly that part.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5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4" grpId="0" animBg="1"/>
      <p:bldP spid="4" grpId="0"/>
      <p:bldP spid="10" grpId="0" animBg="1"/>
      <p:bldP spid="12"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5ED7972-343B-FACA-5A1E-4F524C0A2463}"/>
              </a:ext>
            </a:extLst>
          </p:cNvPr>
          <p:cNvSpPr/>
          <p:nvPr/>
        </p:nvSpPr>
        <p:spPr>
          <a:xfrm>
            <a:off x="777240" y="3248452"/>
            <a:ext cx="10670396" cy="1368412"/>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a:extLst>
              <a:ext uri="{FF2B5EF4-FFF2-40B4-BE49-F238E27FC236}">
                <a16:creationId xmlns:a16="http://schemas.microsoft.com/office/drawing/2014/main" id="{AE5CA26B-1BE0-5090-A2A8-11E28C495BB4}"/>
              </a:ext>
            </a:extLst>
          </p:cNvPr>
          <p:cNvSpPr txBox="1"/>
          <p:nvPr/>
        </p:nvSpPr>
        <p:spPr>
          <a:xfrm>
            <a:off x="1097280" y="3477051"/>
            <a:ext cx="4480560" cy="200055"/>
          </a:xfrm>
          <a:prstGeom prst="rect">
            <a:avLst/>
          </a:prstGeom>
          <a:noFill/>
        </p:spPr>
        <p:txBody>
          <a:bodyPr wrap="square" lIns="0" tIns="0" rIns="0" bIns="0" anchor="t">
            <a:spAutoFit/>
          </a:bodyPr>
          <a:lstStyle/>
          <a:p>
            <a:pPr>
              <a:spcAft>
                <a:spcPts val="600"/>
              </a:spcAft>
            </a:pPr>
            <a:r>
              <a:rPr lang="en-AU" sz="1300" b="1" dirty="0">
                <a:solidFill>
                  <a:srgbClr val="B2182B"/>
                </a:solidFill>
                <a:latin typeface="Calibri"/>
              </a:rPr>
              <a:t>Supports ranking relative risk</a:t>
            </a:r>
          </a:p>
        </p:txBody>
      </p:sp>
      <p:sp>
        <p:nvSpPr>
          <p:cNvPr id="8" name="TextBox 7">
            <a:extLst>
              <a:ext uri="{FF2B5EF4-FFF2-40B4-BE49-F238E27FC236}">
                <a16:creationId xmlns:a16="http://schemas.microsoft.com/office/drawing/2014/main" id="{1741588F-61D5-0C4B-96AC-57E14B80858E}"/>
              </a:ext>
            </a:extLst>
          </p:cNvPr>
          <p:cNvSpPr txBox="1"/>
          <p:nvPr/>
        </p:nvSpPr>
        <p:spPr>
          <a:xfrm>
            <a:off x="1097280" y="3906819"/>
            <a:ext cx="10022476" cy="275845"/>
          </a:xfrm>
          <a:prstGeom prst="rect">
            <a:avLst/>
          </a:prstGeom>
          <a:noFill/>
        </p:spPr>
        <p:txBody>
          <a:bodyPr wrap="square" lIns="0" tIns="0" rIns="0" bIns="0" anchor="t">
            <a:spAutoFit/>
          </a:bodyPr>
          <a:lstStyle/>
          <a:p>
            <a:pPr>
              <a:lnSpc>
                <a:spcPct val="130000"/>
              </a:lnSpc>
              <a:spcAft>
                <a:spcPts val="600"/>
              </a:spcAft>
            </a:pPr>
            <a:r>
              <a:rPr lang="en-AU" sz="1500" dirty="0">
                <a:solidFill>
                  <a:srgbClr val="333D4D"/>
                </a:solidFill>
              </a:rPr>
              <a:t>Exposure is what load management controls. The score ranks relative risk; it gives no individual probability.</a:t>
            </a:r>
            <a:endParaRPr lang="en-AU" sz="1500" b="0" i="0" dirty="0">
              <a:solidFill>
                <a:srgbClr val="333D4D"/>
              </a:solidFill>
              <a:latin typeface="Calibri"/>
            </a:endParaRPr>
          </a:p>
        </p:txBody>
      </p:sp>
      <p:sp>
        <p:nvSpPr>
          <p:cNvPr id="9" name="Rounded Rectangle 8">
            <a:extLst>
              <a:ext uri="{FF2B5EF4-FFF2-40B4-BE49-F238E27FC236}">
                <a16:creationId xmlns:a16="http://schemas.microsoft.com/office/drawing/2014/main" id="{428D8E9C-E053-ADBA-8031-155AD56416A4}"/>
              </a:ext>
            </a:extLst>
          </p:cNvPr>
          <p:cNvSpPr/>
          <p:nvPr/>
        </p:nvSpPr>
        <p:spPr>
          <a:xfrm>
            <a:off x="777239" y="1698832"/>
            <a:ext cx="10670397" cy="1368412"/>
          </a:xfrm>
          <a:prstGeom prst="roundRect">
            <a:avLst>
              <a:gd name="adj" fmla="val 6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0" name="TextBox 9">
            <a:extLst>
              <a:ext uri="{FF2B5EF4-FFF2-40B4-BE49-F238E27FC236}">
                <a16:creationId xmlns:a16="http://schemas.microsoft.com/office/drawing/2014/main" id="{5E4689E4-E84E-EE6C-E5EB-1227F271E54D}"/>
              </a:ext>
            </a:extLst>
          </p:cNvPr>
          <p:cNvSpPr txBox="1"/>
          <p:nvPr/>
        </p:nvSpPr>
        <p:spPr>
          <a:xfrm>
            <a:off x="1097280" y="1927431"/>
            <a:ext cx="4480560" cy="200055"/>
          </a:xfrm>
          <a:prstGeom prst="rect">
            <a:avLst/>
          </a:prstGeom>
          <a:noFill/>
        </p:spPr>
        <p:txBody>
          <a:bodyPr wrap="square" lIns="0" tIns="0" rIns="0" bIns="0" anchor="t">
            <a:spAutoFit/>
          </a:bodyPr>
          <a:lstStyle/>
          <a:p>
            <a:pPr>
              <a:spcAft>
                <a:spcPts val="600"/>
              </a:spcAft>
            </a:pPr>
            <a:r>
              <a:rPr lang="en-AU" sz="1300" b="1" dirty="0">
                <a:solidFill>
                  <a:srgbClr val="00B050"/>
                </a:solidFill>
                <a:latin typeface="Calibri"/>
              </a:rPr>
              <a:t>Workload's link to injury is mostly exposure. </a:t>
            </a:r>
          </a:p>
        </p:txBody>
      </p:sp>
      <p:sp>
        <p:nvSpPr>
          <p:cNvPr id="11" name="TextBox 10">
            <a:extLst>
              <a:ext uri="{FF2B5EF4-FFF2-40B4-BE49-F238E27FC236}">
                <a16:creationId xmlns:a16="http://schemas.microsoft.com/office/drawing/2014/main" id="{08B6B7EB-7F70-18AB-FE84-9C9EDBA3AAC9}"/>
              </a:ext>
            </a:extLst>
          </p:cNvPr>
          <p:cNvSpPr txBox="1"/>
          <p:nvPr/>
        </p:nvSpPr>
        <p:spPr>
          <a:xfrm>
            <a:off x="1097279" y="2357199"/>
            <a:ext cx="10022477" cy="555730"/>
          </a:xfrm>
          <a:prstGeom prst="rect">
            <a:avLst/>
          </a:prstGeom>
          <a:noFill/>
        </p:spPr>
        <p:txBody>
          <a:bodyPr wrap="square" lIns="0" tIns="0" rIns="0" bIns="0" anchor="t">
            <a:spAutoFit/>
          </a:bodyPr>
          <a:lstStyle/>
          <a:p>
            <a:pPr>
              <a:lnSpc>
                <a:spcPct val="125000"/>
              </a:lnSpc>
              <a:spcAft>
                <a:spcPts val="1400"/>
              </a:spcAft>
            </a:pPr>
            <a:r>
              <a:rPr lang="en-AU" sz="1500" dirty="0">
                <a:solidFill>
                  <a:srgbClr val="333D4D"/>
                </a:solidFill>
              </a:rPr>
              <a:t>Chronic load and recent games lead and are as elevated for injuries load is unlikely to cause. Acute load fits a fatigue pattern only where a pathology was reported.</a:t>
            </a:r>
          </a:p>
        </p:txBody>
      </p:sp>
      <p:sp>
        <p:nvSpPr>
          <p:cNvPr id="2" name="TextBox 1"/>
          <p:cNvSpPr txBox="1"/>
          <p:nvPr/>
        </p:nvSpPr>
        <p:spPr>
          <a:xfrm>
            <a:off x="777240" y="566928"/>
            <a:ext cx="10637215" cy="55245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Conclusion</a:t>
            </a:r>
          </a:p>
        </p:txBody>
      </p:sp>
      <p:sp>
        <p:nvSpPr>
          <p:cNvPr id="3" name="TextBox 2"/>
          <p:cNvSpPr txBox="1"/>
          <p:nvPr/>
        </p:nvSpPr>
        <p:spPr>
          <a:xfrm>
            <a:off x="777240" y="1183386"/>
            <a:ext cx="10637215" cy="26161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Hypothesis not confirmed, valuable model for risk rank management </a:t>
            </a:r>
          </a:p>
        </p:txBody>
      </p:sp>
      <p:sp>
        <p:nvSpPr>
          <p:cNvPr id="7" name="Slide Number Placeholder 6">
            <a:extLst>
              <a:ext uri="{FF2B5EF4-FFF2-40B4-BE49-F238E27FC236}">
                <a16:creationId xmlns:a16="http://schemas.microsoft.com/office/drawing/2014/main" id="{A4A61623-D696-92E0-F041-C014D70A0E80}"/>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22</a:t>
            </a:fld>
            <a:endParaRPr lang="en-US"/>
          </a:p>
        </p:txBody>
      </p:sp>
      <p:sp>
        <p:nvSpPr>
          <p:cNvPr id="12" name="Rounded Rectangle 11">
            <a:extLst>
              <a:ext uri="{FF2B5EF4-FFF2-40B4-BE49-F238E27FC236}">
                <a16:creationId xmlns:a16="http://schemas.microsoft.com/office/drawing/2014/main" id="{624DD5A9-9C45-58D3-9F22-DFE6023D8E8C}"/>
              </a:ext>
            </a:extLst>
          </p:cNvPr>
          <p:cNvSpPr/>
          <p:nvPr/>
        </p:nvSpPr>
        <p:spPr>
          <a:xfrm>
            <a:off x="777239" y="4845463"/>
            <a:ext cx="10607040" cy="1368412"/>
          </a:xfrm>
          <a:prstGeom prst="roundRect">
            <a:avLst>
              <a:gd name="adj" fmla="val 60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13" name="TextBox 12">
            <a:extLst>
              <a:ext uri="{FF2B5EF4-FFF2-40B4-BE49-F238E27FC236}">
                <a16:creationId xmlns:a16="http://schemas.microsoft.com/office/drawing/2014/main" id="{088FD590-4D91-A1D8-9B45-97F241459EE7}"/>
              </a:ext>
            </a:extLst>
          </p:cNvPr>
          <p:cNvSpPr txBox="1"/>
          <p:nvPr/>
        </p:nvSpPr>
        <p:spPr>
          <a:xfrm>
            <a:off x="1097279" y="5074062"/>
            <a:ext cx="4480560" cy="200055"/>
          </a:xfrm>
          <a:prstGeom prst="rect">
            <a:avLst/>
          </a:prstGeom>
          <a:noFill/>
        </p:spPr>
        <p:txBody>
          <a:bodyPr wrap="square" lIns="0" tIns="0" rIns="0" bIns="0" anchor="t">
            <a:spAutoFit/>
          </a:bodyPr>
          <a:lstStyle/>
          <a:p>
            <a:pPr>
              <a:spcAft>
                <a:spcPts val="600"/>
              </a:spcAft>
            </a:pPr>
            <a:r>
              <a:rPr lang="en-AU" sz="1300" b="1" dirty="0">
                <a:solidFill>
                  <a:schemeClr val="accent6"/>
                </a:solidFill>
                <a:latin typeface="Calibri"/>
              </a:rPr>
              <a:t>Where it goes next.</a:t>
            </a:r>
          </a:p>
        </p:txBody>
      </p:sp>
      <p:sp>
        <p:nvSpPr>
          <p:cNvPr id="14" name="TextBox 13">
            <a:extLst>
              <a:ext uri="{FF2B5EF4-FFF2-40B4-BE49-F238E27FC236}">
                <a16:creationId xmlns:a16="http://schemas.microsoft.com/office/drawing/2014/main" id="{D52E920D-514C-5570-0881-6CA9D548ED8E}"/>
              </a:ext>
            </a:extLst>
          </p:cNvPr>
          <p:cNvSpPr txBox="1"/>
          <p:nvPr/>
        </p:nvSpPr>
        <p:spPr>
          <a:xfrm>
            <a:off x="1097279" y="5503830"/>
            <a:ext cx="10022476" cy="575927"/>
          </a:xfrm>
          <a:prstGeom prst="rect">
            <a:avLst/>
          </a:prstGeom>
          <a:noFill/>
        </p:spPr>
        <p:txBody>
          <a:bodyPr wrap="square" lIns="0" tIns="0" rIns="0" bIns="0" anchor="t">
            <a:spAutoFit/>
          </a:bodyPr>
          <a:lstStyle/>
          <a:p>
            <a:pPr>
              <a:lnSpc>
                <a:spcPct val="130000"/>
              </a:lnSpc>
              <a:spcAft>
                <a:spcPts val="600"/>
              </a:spcAft>
            </a:pPr>
            <a:r>
              <a:rPr lang="en-AU" sz="1500" dirty="0">
                <a:solidFill>
                  <a:srgbClr val="333D4D"/>
                </a:solidFill>
              </a:rPr>
              <a:t>Training load is the missing exposure, accelerations are the missing granularity, and clinical diagnosis. All of which needs better data, not just more seasons.</a:t>
            </a:r>
            <a:endParaRPr lang="en-AU" sz="1500" b="0" i="0" dirty="0">
              <a:solidFill>
                <a:srgbClr val="333D4D"/>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8" grpId="0"/>
      <p:bldP spid="9" grpId="0" animBg="1"/>
      <p:bldP spid="10" grpId="0"/>
      <p:bldP spid="11" grpId="0"/>
      <p:bldP spid="12" grpId="0" animBg="1"/>
      <p:bldP spid="13" grpId="0"/>
      <p:bldP spid="14"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52238"/>
        </a:solidFill>
        <a:effectLst/>
      </p:bgPr>
    </p:bg>
    <p:spTree>
      <p:nvGrpSpPr>
        <p:cNvPr id="1" name=""/>
        <p:cNvGrpSpPr/>
        <p:nvPr/>
      </p:nvGrpSpPr>
      <p:grpSpPr>
        <a:xfrm>
          <a:off x="0" y="0"/>
          <a:ext cx="0" cy="0"/>
          <a:chOff x="0" y="0"/>
          <a:chExt cx="0" cy="0"/>
        </a:xfrm>
      </p:grpSpPr>
      <p:sp>
        <p:nvSpPr>
          <p:cNvPr id="2" name="TextBox 1"/>
          <p:cNvSpPr txBox="1"/>
          <p:nvPr/>
        </p:nvSpPr>
        <p:spPr>
          <a:xfrm>
            <a:off x="914400" y="2377440"/>
            <a:ext cx="10332720" cy="1005840"/>
          </a:xfrm>
          <a:prstGeom prst="rect">
            <a:avLst/>
          </a:prstGeom>
          <a:noFill/>
        </p:spPr>
        <p:txBody>
          <a:bodyPr wrap="square" lIns="0" tIns="0" rIns="0" bIns="0" anchor="t">
            <a:spAutoFit/>
          </a:bodyPr>
          <a:lstStyle/>
          <a:p>
            <a:pPr algn="l">
              <a:spcAft>
                <a:spcPts val="600"/>
              </a:spcAft>
            </a:pPr>
            <a:r>
              <a:rPr lang="en-AU" sz="4400" b="1" i="0" dirty="0">
                <a:solidFill>
                  <a:srgbClr val="FFFFFF"/>
                </a:solidFill>
                <a:latin typeface="Calibri"/>
              </a:rPr>
              <a:t>Thank you</a:t>
            </a:r>
          </a:p>
        </p:txBody>
      </p:sp>
      <p:sp>
        <p:nvSpPr>
          <p:cNvPr id="3" name="TextBox 2"/>
          <p:cNvSpPr txBox="1"/>
          <p:nvPr/>
        </p:nvSpPr>
        <p:spPr>
          <a:xfrm>
            <a:off x="914400" y="3429000"/>
            <a:ext cx="10332720" cy="400110"/>
          </a:xfrm>
          <a:prstGeom prst="rect">
            <a:avLst/>
          </a:prstGeom>
          <a:noFill/>
        </p:spPr>
        <p:txBody>
          <a:bodyPr wrap="square" lIns="0" tIns="0" rIns="0" bIns="0" anchor="t">
            <a:spAutoFit/>
          </a:bodyPr>
          <a:lstStyle/>
          <a:p>
            <a:pPr algn="l">
              <a:spcAft>
                <a:spcPts val="600"/>
              </a:spcAft>
            </a:pPr>
            <a:r>
              <a:rPr lang="en-AU" sz="2600" b="1" i="0" dirty="0">
                <a:solidFill>
                  <a:schemeClr val="accent6"/>
                </a:solidFill>
                <a:latin typeface="Calibri"/>
              </a:rPr>
              <a:t>Questions?</a:t>
            </a:r>
          </a:p>
        </p:txBody>
      </p:sp>
      <p:sp>
        <p:nvSpPr>
          <p:cNvPr id="4" name="TextBox 3"/>
          <p:cNvSpPr txBox="1"/>
          <p:nvPr/>
        </p:nvSpPr>
        <p:spPr>
          <a:xfrm>
            <a:off x="914400" y="4846320"/>
            <a:ext cx="10332720" cy="822960"/>
          </a:xfrm>
          <a:prstGeom prst="rect">
            <a:avLst/>
          </a:prstGeom>
          <a:noFill/>
        </p:spPr>
        <p:txBody>
          <a:bodyPr wrap="square" lIns="0" tIns="0" rIns="0" bIns="0" anchor="t">
            <a:spAutoFit/>
          </a:bodyPr>
          <a:lstStyle/>
          <a:p>
            <a:pPr algn="l">
              <a:lnSpc>
                <a:spcPct val="135000"/>
              </a:lnSpc>
              <a:spcAft>
                <a:spcPts val="600"/>
              </a:spcAft>
            </a:pPr>
            <a:r>
              <a:rPr lang="en-AU" sz="1400" b="0" i="0" dirty="0">
                <a:solidFill>
                  <a:srgbClr val="C9D4E4"/>
                </a:solidFill>
                <a:latin typeface="Calibri"/>
              </a:rPr>
              <a:t>Alex Martin  ·  Master of Sports Analytics, La Trobe University</a:t>
            </a:r>
          </a:p>
          <a:p>
            <a:pPr algn="l">
              <a:lnSpc>
                <a:spcPct val="135000"/>
              </a:lnSpc>
              <a:spcAft>
                <a:spcPts val="600"/>
              </a:spcAft>
            </a:pPr>
            <a:r>
              <a:rPr lang="en-AU" sz="1400" b="0" i="0" dirty="0">
                <a:solidFill>
                  <a:srgbClr val="C9D4E4"/>
                </a:solidFill>
                <a:latin typeface="Calibri"/>
              </a:rPr>
              <a:t>Code and full report: </a:t>
            </a:r>
            <a:r>
              <a:rPr lang="en-AU" sz="1400" b="0" i="0" dirty="0" err="1">
                <a:solidFill>
                  <a:srgbClr val="C9D4E4"/>
                </a:solidFill>
                <a:latin typeface="Calibri"/>
              </a:rPr>
              <a:t>github.com</a:t>
            </a:r>
            <a:r>
              <a:rPr lang="en-AU" sz="1400" b="0" i="0" dirty="0">
                <a:solidFill>
                  <a:srgbClr val="C9D4E4"/>
                </a:solidFill>
                <a:latin typeface="Calibri"/>
              </a:rPr>
              <a:t>/alexmartin360/Basketball-Workload-Injury-Risk-Profile</a:t>
            </a:r>
          </a:p>
        </p:txBody>
      </p:sp>
      <p:sp>
        <p:nvSpPr>
          <p:cNvPr id="7" name="Slide Number Placeholder 6">
            <a:extLst>
              <a:ext uri="{FF2B5EF4-FFF2-40B4-BE49-F238E27FC236}">
                <a16:creationId xmlns:a16="http://schemas.microsoft.com/office/drawing/2014/main" id="{83F33375-491E-9167-5F97-F1DA411A575D}"/>
              </a:ext>
            </a:extLst>
          </p:cNvPr>
          <p:cNvSpPr>
            <a:spLocks noGrp="1"/>
          </p:cNvSpPr>
          <p:nvPr>
            <p:ph type="sldNum" sz="quarter" idx="12"/>
          </p:nvPr>
        </p:nvSpPr>
        <p:spPr>
          <a:xfrm>
            <a:off x="11447637" y="6160690"/>
            <a:ext cx="744363" cy="697310"/>
          </a:xfrm>
        </p:spPr>
        <p:txBody>
          <a:bodyPr/>
          <a:lstStyle/>
          <a:p>
            <a:fld id="{C1FF6DA9-008F-8B48-92A6-B652298478BF}" type="slidenum">
              <a:rPr lang="en-US" smtClean="0"/>
              <a:p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77240" y="566928"/>
            <a:ext cx="10637215" cy="1059180"/>
          </a:xfrm>
          <a:prstGeom prst="rect">
            <a:avLst/>
          </a:prstGeom>
          <a:noFill/>
        </p:spPr>
        <p:txBody>
          <a:bodyPr wrap="square" lIns="0" tIns="0" rIns="0" bIns="0" anchor="t">
            <a:spAutoFit/>
          </a:bodyPr>
          <a:lstStyle/>
          <a:p>
            <a:pPr algn="l">
              <a:lnSpc>
                <a:spcPct val="105000"/>
              </a:lnSpc>
              <a:spcAft>
                <a:spcPts val="600"/>
              </a:spcAft>
            </a:pPr>
            <a:r>
              <a:rPr lang="en-AU" sz="3800" b="1" i="0" dirty="0">
                <a:solidFill>
                  <a:srgbClr val="1B2A4A"/>
                </a:solidFill>
                <a:latin typeface="Calibri"/>
              </a:rPr>
              <a:t>Risk rises. The workload effect holds steady.</a:t>
            </a:r>
          </a:p>
        </p:txBody>
      </p:sp>
      <p:sp>
        <p:nvSpPr>
          <p:cNvPr id="3" name="TextBox 2"/>
          <p:cNvSpPr txBox="1"/>
          <p:nvPr/>
        </p:nvSpPr>
        <p:spPr>
          <a:xfrm>
            <a:off x="777240" y="1187196"/>
            <a:ext cx="10637215" cy="502920"/>
          </a:xfrm>
          <a:prstGeom prst="rect">
            <a:avLst/>
          </a:prstGeom>
          <a:noFill/>
        </p:spPr>
        <p:txBody>
          <a:bodyPr wrap="square" lIns="0" tIns="0" rIns="0" bIns="0" anchor="t">
            <a:spAutoFit/>
          </a:bodyPr>
          <a:lstStyle/>
          <a:p>
            <a:pPr algn="l">
              <a:spcAft>
                <a:spcPts val="600"/>
              </a:spcAft>
            </a:pPr>
            <a:r>
              <a:rPr lang="en-AU" sz="1700" b="0" i="1" dirty="0">
                <a:solidFill>
                  <a:srgbClr val="6B7686"/>
                </a:solidFill>
                <a:latin typeface="Calibri"/>
              </a:rPr>
              <a:t>Two different claims, which a time-to-event model can report separately</a:t>
            </a:r>
          </a:p>
        </p:txBody>
      </p:sp>
      <p:pic>
        <p:nvPicPr>
          <p:cNvPr id="4" name="Picture 3" descr="P3_baseline_hazard.png"/>
          <p:cNvPicPr>
            <a:picLocks noChangeAspect="1"/>
          </p:cNvPicPr>
          <p:nvPr/>
        </p:nvPicPr>
        <p:blipFill>
          <a:blip r:embed="rId3"/>
          <a:stretch>
            <a:fillRect/>
          </a:stretch>
        </p:blipFill>
        <p:spPr>
          <a:xfrm>
            <a:off x="572865" y="1788090"/>
            <a:ext cx="6786789" cy="4232009"/>
          </a:xfrm>
          <a:prstGeom prst="rect">
            <a:avLst/>
          </a:prstGeom>
        </p:spPr>
      </p:pic>
      <p:sp>
        <p:nvSpPr>
          <p:cNvPr id="5" name="Rounded Rectangle 4"/>
          <p:cNvSpPr/>
          <p:nvPr/>
        </p:nvSpPr>
        <p:spPr>
          <a:xfrm>
            <a:off x="7584335" y="2344350"/>
            <a:ext cx="4205677" cy="3115056"/>
          </a:xfrm>
          <a:prstGeom prst="roundRect">
            <a:avLst>
              <a:gd name="adj" fmla="val 6000"/>
            </a:avLst>
          </a:prstGeom>
          <a:solidFill>
            <a:srgbClr val="FB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AU" dirty="0"/>
          </a:p>
        </p:txBody>
      </p:sp>
      <p:sp>
        <p:nvSpPr>
          <p:cNvPr id="6" name="TextBox 5"/>
          <p:cNvSpPr txBox="1"/>
          <p:nvPr/>
        </p:nvSpPr>
        <p:spPr>
          <a:xfrm>
            <a:off x="7886087" y="2591238"/>
            <a:ext cx="3637506" cy="2609240"/>
          </a:xfrm>
          <a:prstGeom prst="rect">
            <a:avLst/>
          </a:prstGeom>
          <a:noFill/>
        </p:spPr>
        <p:txBody>
          <a:bodyPr wrap="square" lIns="0" tIns="0" rIns="0" bIns="0" anchor="t">
            <a:spAutoFit/>
          </a:bodyPr>
          <a:lstStyle/>
          <a:p>
            <a:pPr algn="l">
              <a:lnSpc>
                <a:spcPct val="135000"/>
              </a:lnSpc>
              <a:spcAft>
                <a:spcPts val="600"/>
              </a:spcAft>
            </a:pPr>
            <a:r>
              <a:rPr lang="en-AU" sz="1400" b="0" i="0" dirty="0">
                <a:solidFill>
                  <a:srgbClr val="333D4D"/>
                </a:solidFill>
                <a:latin typeface="Calibri"/>
              </a:rPr>
              <a:t>Background risk rises </a:t>
            </a:r>
            <a:r>
              <a:rPr lang="en-AU" sz="1400" b="1" i="0" dirty="0">
                <a:solidFill>
                  <a:srgbClr val="333D4D"/>
                </a:solidFill>
                <a:latin typeface="Calibri"/>
              </a:rPr>
              <a:t>~1.5x </a:t>
            </a:r>
            <a:r>
              <a:rPr lang="en-AU" sz="1400" b="0" i="0" dirty="0">
                <a:solidFill>
                  <a:srgbClr val="333D4D"/>
                </a:solidFill>
                <a:latin typeface="Calibri"/>
              </a:rPr>
              <a:t>by games 55-75, with the post-All-Star term carrying part of the rise.</a:t>
            </a:r>
          </a:p>
          <a:p>
            <a:pPr algn="l">
              <a:lnSpc>
                <a:spcPct val="135000"/>
              </a:lnSpc>
              <a:spcAft>
                <a:spcPts val="600"/>
              </a:spcAft>
            </a:pPr>
            <a:endParaRPr lang="en-AU" sz="1400" b="0" i="0" dirty="0">
              <a:solidFill>
                <a:srgbClr val="333D4D"/>
              </a:solidFill>
              <a:latin typeface="Calibri"/>
            </a:endParaRPr>
          </a:p>
          <a:p>
            <a:pPr algn="l">
              <a:lnSpc>
                <a:spcPct val="135000"/>
              </a:lnSpc>
              <a:spcAft>
                <a:spcPts val="600"/>
              </a:spcAft>
            </a:pPr>
            <a:r>
              <a:rPr lang="en-AU" sz="1400" b="0" i="0" dirty="0">
                <a:solidFill>
                  <a:srgbClr val="333D4D"/>
                </a:solidFill>
                <a:latin typeface="Calibri"/>
              </a:rPr>
              <a:t>The workload hazard ratios show no detected change across the season.</a:t>
            </a:r>
          </a:p>
          <a:p>
            <a:pPr algn="l">
              <a:lnSpc>
                <a:spcPct val="135000"/>
              </a:lnSpc>
              <a:spcAft>
                <a:spcPts val="600"/>
              </a:spcAft>
            </a:pPr>
            <a:endParaRPr lang="en-AU" sz="1400" b="0" i="0" dirty="0">
              <a:solidFill>
                <a:srgbClr val="333D4D"/>
              </a:solidFill>
              <a:latin typeface="Calibri"/>
            </a:endParaRPr>
          </a:p>
          <a:p>
            <a:pPr algn="l">
              <a:lnSpc>
                <a:spcPct val="135000"/>
              </a:lnSpc>
              <a:spcAft>
                <a:spcPts val="600"/>
              </a:spcAft>
            </a:pPr>
            <a:r>
              <a:rPr lang="en-AU" sz="1400" b="0" i="0" dirty="0">
                <a:solidFill>
                  <a:srgbClr val="333D4D"/>
                </a:solidFill>
                <a:latin typeface="Calibri"/>
              </a:rPr>
              <a:t>So the baseline rises, not the relative effect of a given workload.</a:t>
            </a:r>
          </a:p>
        </p:txBody>
      </p:sp>
      <p:sp>
        <p:nvSpPr>
          <p:cNvPr id="7" name="Slide Number Placeholder 6">
            <a:extLst>
              <a:ext uri="{FF2B5EF4-FFF2-40B4-BE49-F238E27FC236}">
                <a16:creationId xmlns:a16="http://schemas.microsoft.com/office/drawing/2014/main" id="{194A4F9A-0E3D-1D20-AF9C-4A60D1C8C8E7}"/>
              </a:ext>
            </a:extLst>
          </p:cNvPr>
          <p:cNvSpPr>
            <a:spLocks noGrp="1"/>
          </p:cNvSpPr>
          <p:nvPr>
            <p:ph type="sldNum" sz="quarter" idx="12"/>
          </p:nvPr>
        </p:nvSpPr>
        <p:spPr>
          <a:xfrm>
            <a:off x="11447637" y="6160691"/>
            <a:ext cx="744363" cy="697310"/>
          </a:xfrm>
        </p:spPr>
        <p:txBody>
          <a:bodyPr/>
          <a:lstStyle/>
          <a:p>
            <a:fld id="{C1FF6DA9-008F-8B48-92A6-B652298478BF}" type="slidenum">
              <a:rPr lang="en-US" smtClean="0"/>
              <a:pPr/>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33690</TotalTime>
  <Words>5782</Words>
  <Application>Microsoft Macintosh PowerPoint</Application>
  <PresentationFormat>Widescreen</PresentationFormat>
  <Paragraphs>458</Paragraphs>
  <Slides>24</Slides>
  <Notes>24</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ALEXANDER MARTIN</cp:lastModifiedBy>
  <cp:revision>31</cp:revision>
  <dcterms:created xsi:type="dcterms:W3CDTF">2013-01-27T09:14:16Z</dcterms:created>
  <dcterms:modified xsi:type="dcterms:W3CDTF">2026-10-06T11:40:16Z</dcterms:modified>
  <cp:category/>
</cp:coreProperties>
</file>